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documents the root full-stack Digital Medico website, not the separate frontend-demo package. React + Vite calls the Python stdlib HTTP API. Login checks salted scrypt password hashes and the selected portal role. A random server-side in-memory session is identified by an HttpOnly SameSite cookie; expiry and CSRF checks are enforced. Medical requests verify role, own-patient scope or doctor assignment, and patient consent before patient-scoped SQLite queries. Patient consent changes, questions and doses are stored; doctors add records, prescriptions and replies. Read/update operations create audit events as implemented. The browser refreshes via JSON responses and periodic API requests. Reminders operate while the page is open and Doctoc is scripted, not external AI. Emergency identity verification is a simulated UI confirmation, not biometric authentication; real WebAuthn is planned. SQLite is local and not encrypted at rest. This is a fictional-data prototype, not production security. Sessions are in server memory; medical and account data are in SQLite, not browser localStorage.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74320"/>
            <a:ext cx="10058400" cy="22860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DIGITAL MEDICO  /  COMPLETE WEBSITE WORKFLOW</a:t>
            </a:r>
          </a:p>
        </p:txBody>
      </p:sp>
      <p:sp>
        <p:nvSpPr>
          <p:cNvPr id="3" name="TextBox 2"/>
          <p:cNvSpPr txBox="1"/>
          <p:nvPr/>
        </p:nvSpPr>
        <p:spPr>
          <a:xfrm>
            <a:off x="594360" y="694944"/>
            <a:ext cx="10972800" cy="502920"/>
          </a:xfrm>
          <a:prstGeom prst="rect">
            <a:avLst/>
          </a:prstGeom>
          <a:noFill/>
        </p:spPr>
        <p:txBody>
          <a:bodyPr wrap="square" lIns="0" rIns="0" tIns="0" bIns="0">
            <a:spAutoFit/>
          </a:bodyPr>
          <a:lstStyle/>
          <a:p>
            <a:pPr>
              <a:lnSpc>
                <a:spcPct val="112000"/>
              </a:lnSpc>
              <a:spcAft>
                <a:spcPts val="300"/>
              </a:spcAft>
              <a:defRPr sz="3000" b="1">
                <a:solidFill>
                  <a:srgbClr val="193F35"/>
                </a:solidFill>
                <a:latin typeface="Aptos"/>
              </a:defRPr>
            </a:pPr>
            <a:r>
              <a:t>From sign-in to connected care.</a:t>
            </a:r>
          </a:p>
        </p:txBody>
      </p:sp>
      <p:sp>
        <p:nvSpPr>
          <p:cNvPr id="4" name="TextBox 3"/>
          <p:cNvSpPr txBox="1"/>
          <p:nvPr/>
        </p:nvSpPr>
        <p:spPr>
          <a:xfrm>
            <a:off x="594360" y="1261872"/>
            <a:ext cx="10972800" cy="292608"/>
          </a:xfrm>
          <a:prstGeom prst="rect">
            <a:avLst/>
          </a:prstGeom>
          <a:noFill/>
        </p:spPr>
        <p:txBody>
          <a:bodyPr wrap="square" lIns="0" rIns="0" tIns="0" bIns="0">
            <a:spAutoFit/>
          </a:bodyPr>
          <a:lstStyle/>
          <a:p>
            <a:pPr>
              <a:lnSpc>
                <a:spcPct val="112000"/>
              </a:lnSpc>
              <a:spcAft>
                <a:spcPts val="300"/>
              </a:spcAft>
              <a:defRPr sz="1400" b="0">
                <a:solidFill>
                  <a:srgbClr val="687E72"/>
                </a:solidFill>
                <a:latin typeface="Aptos"/>
              </a:defRPr>
            </a:pPr>
            <a:r>
              <a:t>Full-stack prototype: React interface → Python API → SQLite persistence.</a:t>
            </a:r>
          </a:p>
        </p:txBody>
      </p:sp>
      <p:sp>
        <p:nvSpPr>
          <p:cNvPr id="5" name="Rounded Rectangle 4"/>
          <p:cNvSpPr/>
          <p:nvPr/>
        </p:nvSpPr>
        <p:spPr>
          <a:xfrm>
            <a:off x="594360" y="1828800"/>
            <a:ext cx="2770632" cy="3090672"/>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011680"/>
            <a:ext cx="2377440" cy="18288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01  /  FRONTEND</a:t>
            </a:r>
          </a:p>
        </p:txBody>
      </p:sp>
      <p:sp>
        <p:nvSpPr>
          <p:cNvPr id="7" name="TextBox 6"/>
          <p:cNvSpPr txBox="1"/>
          <p:nvPr/>
        </p:nvSpPr>
        <p:spPr>
          <a:xfrm>
            <a:off x="804672" y="2368296"/>
            <a:ext cx="2377440" cy="301752"/>
          </a:xfrm>
          <a:prstGeom prst="rect">
            <a:avLst/>
          </a:prstGeom>
          <a:noFill/>
        </p:spPr>
        <p:txBody>
          <a:bodyPr wrap="square" lIns="0" rIns="0" tIns="0" bIns="0">
            <a:spAutoFit/>
          </a:bodyPr>
          <a:lstStyle/>
          <a:p>
            <a:pPr>
              <a:lnSpc>
                <a:spcPct val="112000"/>
              </a:lnSpc>
              <a:spcAft>
                <a:spcPts val="300"/>
              </a:spcAft>
              <a:defRPr sz="2000" b="1">
                <a:solidFill>
                  <a:srgbClr val="193F35"/>
                </a:solidFill>
                <a:latin typeface="Aptos"/>
              </a:defRPr>
            </a:pPr>
            <a:r>
              <a:t>React + Vite</a:t>
            </a:r>
          </a:p>
        </p:txBody>
      </p:sp>
      <p:sp>
        <p:nvSpPr>
          <p:cNvPr id="8" name="Rounded Rectangle 7"/>
          <p:cNvSpPr/>
          <p:nvPr/>
        </p:nvSpPr>
        <p:spPr>
          <a:xfrm>
            <a:off x="804672" y="2834640"/>
            <a:ext cx="2340864" cy="667512"/>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962656"/>
            <a:ext cx="2011680" cy="45720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PATIENT PORTAL</a:t>
            </a:r>
          </a:p>
          <a:p>
            <a:pPr>
              <a:lnSpc>
                <a:spcPct val="112000"/>
              </a:lnSpc>
              <a:spcAft>
                <a:spcPts val="300"/>
              </a:spcAft>
              <a:defRPr sz="1100" b="1">
                <a:solidFill>
                  <a:srgbClr val="193F35"/>
                </a:solidFill>
                <a:latin typeface="Aptos"/>
              </a:defRPr>
            </a:pPr>
            <a:r>
              <a:t>History • consent • questions</a:t>
            </a:r>
          </a:p>
        </p:txBody>
      </p:sp>
      <p:sp>
        <p:nvSpPr>
          <p:cNvPr id="10" name="Rounded Rectangle 9"/>
          <p:cNvSpPr/>
          <p:nvPr/>
        </p:nvSpPr>
        <p:spPr>
          <a:xfrm>
            <a:off x="804672" y="3657600"/>
            <a:ext cx="2340864" cy="667512"/>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3785615"/>
            <a:ext cx="2011680" cy="45720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DOCTOR PORTAL</a:t>
            </a:r>
          </a:p>
          <a:p>
            <a:pPr>
              <a:lnSpc>
                <a:spcPct val="112000"/>
              </a:lnSpc>
              <a:spcAft>
                <a:spcPts val="300"/>
              </a:spcAft>
              <a:defRPr sz="1100" b="1">
                <a:solidFill>
                  <a:srgbClr val="193F35"/>
                </a:solidFill>
                <a:latin typeface="Aptos"/>
              </a:defRPr>
            </a:pPr>
            <a:r>
              <a:t>Records • prescriptions • replies</a:t>
            </a:r>
          </a:p>
        </p:txBody>
      </p:sp>
      <p:sp>
        <p:nvSpPr>
          <p:cNvPr id="12" name="TextBox 11"/>
          <p:cNvSpPr txBox="1"/>
          <p:nvPr/>
        </p:nvSpPr>
        <p:spPr>
          <a:xfrm>
            <a:off x="804672" y="4517136"/>
            <a:ext cx="2377440" cy="228600"/>
          </a:xfrm>
          <a:prstGeom prst="rect">
            <a:avLst/>
          </a:prstGeom>
          <a:noFill/>
        </p:spPr>
        <p:txBody>
          <a:bodyPr wrap="square" lIns="0" rIns="0" tIns="0" bIns="0">
            <a:spAutoFit/>
          </a:bodyPr>
          <a:lstStyle/>
          <a:p>
            <a:pPr>
              <a:lnSpc>
                <a:spcPct val="112000"/>
              </a:lnSpc>
              <a:spcAft>
                <a:spcPts val="300"/>
              </a:spcAft>
              <a:defRPr sz="1000" b="0">
                <a:solidFill>
                  <a:srgbClr val="687E72"/>
                </a:solidFill>
                <a:latin typeface="Aptos"/>
              </a:defRPr>
            </a:pPr>
            <a:r>
              <a:t>CSS + icons • browser reminders</a:t>
            </a:r>
          </a:p>
        </p:txBody>
      </p:sp>
      <p:sp>
        <p:nvSpPr>
          <p:cNvPr id="13" name="Rounded Rectangle 12"/>
          <p:cNvSpPr/>
          <p:nvPr/>
        </p:nvSpPr>
        <p:spPr>
          <a:xfrm>
            <a:off x="4078224" y="1828800"/>
            <a:ext cx="3749039" cy="3090672"/>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0248" y="2011680"/>
            <a:ext cx="3383280" cy="18288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02  /  PYTHON HTTP API</a:t>
            </a:r>
          </a:p>
        </p:txBody>
      </p:sp>
      <p:sp>
        <p:nvSpPr>
          <p:cNvPr id="15" name="Rounded Rectangle 14"/>
          <p:cNvSpPr/>
          <p:nvPr/>
        </p:nvSpPr>
        <p:spPr>
          <a:xfrm>
            <a:off x="4270248" y="2395728"/>
            <a:ext cx="3364992" cy="640080"/>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2505456"/>
            <a:ext cx="3063240" cy="45720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LOGIN → SESSION</a:t>
            </a:r>
          </a:p>
          <a:p>
            <a:pPr>
              <a:lnSpc>
                <a:spcPct val="112000"/>
              </a:lnSpc>
              <a:spcAft>
                <a:spcPts val="300"/>
              </a:spcAft>
              <a:defRPr sz="1100" b="1">
                <a:solidFill>
                  <a:srgbClr val="193F35"/>
                </a:solidFill>
                <a:latin typeface="Aptos"/>
              </a:defRPr>
            </a:pPr>
            <a:r>
              <a:t>Salted scrypt passwords • HttpOnly cookie</a:t>
            </a:r>
          </a:p>
        </p:txBody>
      </p:sp>
      <p:cxnSp>
        <p:nvCxnSpPr>
          <p:cNvPr id="17" name="Connector 16"/>
          <p:cNvCxnSpPr/>
          <p:nvPr/>
        </p:nvCxnSpPr>
        <p:spPr>
          <a:xfrm>
            <a:off x="5952744" y="3072384"/>
            <a:ext cx="0" cy="173736"/>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70248" y="3300984"/>
            <a:ext cx="3364992" cy="594360"/>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3401568"/>
            <a:ext cx="3063240" cy="41148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CHECK EACH MEDICAL REQUEST</a:t>
            </a:r>
          </a:p>
          <a:p>
            <a:pPr>
              <a:lnSpc>
                <a:spcPct val="112000"/>
              </a:lnSpc>
              <a:spcAft>
                <a:spcPts val="300"/>
              </a:spcAft>
              <a:defRPr sz="1100" b="1">
                <a:solidFill>
                  <a:srgbClr val="193F35"/>
                </a:solidFill>
                <a:latin typeface="Aptos"/>
              </a:defRPr>
            </a:pPr>
            <a:r>
              <a:t>Session • role • patient scope • consent</a:t>
            </a:r>
          </a:p>
        </p:txBody>
      </p:sp>
      <p:cxnSp>
        <p:nvCxnSpPr>
          <p:cNvPr id="20" name="Connector 19"/>
          <p:cNvCxnSpPr/>
          <p:nvPr/>
        </p:nvCxnSpPr>
        <p:spPr>
          <a:xfrm>
            <a:off x="5952744" y="3931920"/>
            <a:ext cx="0" cy="164592"/>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70248" y="4151376"/>
            <a:ext cx="3364992" cy="566928"/>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6552" y="4242816"/>
            <a:ext cx="3063240" cy="41148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RUN WORKFLOW + RECORD ACTIVITY</a:t>
            </a:r>
          </a:p>
          <a:p>
            <a:pPr>
              <a:lnSpc>
                <a:spcPct val="112000"/>
              </a:lnSpc>
              <a:spcAft>
                <a:spcPts val="300"/>
              </a:spcAft>
              <a:defRPr sz="1100" b="1">
                <a:solidFill>
                  <a:srgbClr val="193F35"/>
                </a:solidFill>
                <a:latin typeface="Aptos"/>
              </a:defRPr>
            </a:pPr>
            <a:r>
              <a:t>Visits • medicines • messages • audit</a:t>
            </a:r>
          </a:p>
        </p:txBody>
      </p:sp>
      <p:sp>
        <p:nvSpPr>
          <p:cNvPr id="23" name="Rounded Rectangle 22"/>
          <p:cNvSpPr/>
          <p:nvPr/>
        </p:nvSpPr>
        <p:spPr>
          <a:xfrm>
            <a:off x="8567928" y="1828800"/>
            <a:ext cx="3017520" cy="3090672"/>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9096" y="2011680"/>
            <a:ext cx="2624328" cy="18288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03  /  DATA STORAGE</a:t>
            </a:r>
          </a:p>
        </p:txBody>
      </p:sp>
      <p:sp>
        <p:nvSpPr>
          <p:cNvPr id="25" name="TextBox 24"/>
          <p:cNvSpPr txBox="1"/>
          <p:nvPr/>
        </p:nvSpPr>
        <p:spPr>
          <a:xfrm>
            <a:off x="8769096" y="2368296"/>
            <a:ext cx="2624328" cy="301752"/>
          </a:xfrm>
          <a:prstGeom prst="rect">
            <a:avLst/>
          </a:prstGeom>
          <a:noFill/>
        </p:spPr>
        <p:txBody>
          <a:bodyPr wrap="square" lIns="0" rIns="0" tIns="0" bIns="0">
            <a:spAutoFit/>
          </a:bodyPr>
          <a:lstStyle/>
          <a:p>
            <a:pPr>
              <a:lnSpc>
                <a:spcPct val="112000"/>
              </a:lnSpc>
              <a:spcAft>
                <a:spcPts val="300"/>
              </a:spcAft>
              <a:defRPr sz="2000" b="1">
                <a:solidFill>
                  <a:srgbClr val="193F35"/>
                </a:solidFill>
                <a:latin typeface="Aptos"/>
              </a:defRPr>
            </a:pPr>
            <a:r>
              <a:t>Local SQLite</a:t>
            </a:r>
          </a:p>
        </p:txBody>
      </p:sp>
      <p:sp>
        <p:nvSpPr>
          <p:cNvPr id="26" name="Rounded Rectangle 25"/>
          <p:cNvSpPr/>
          <p:nvPr/>
        </p:nvSpPr>
        <p:spPr>
          <a:xfrm>
            <a:off x="8778240" y="2843784"/>
            <a:ext cx="2606040" cy="1490472"/>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42832" y="2971800"/>
            <a:ext cx="2331720" cy="1234440"/>
          </a:xfrm>
          <a:prstGeom prst="rect">
            <a:avLst/>
          </a:prstGeom>
          <a:noFill/>
        </p:spPr>
        <p:txBody>
          <a:bodyPr wrap="square" lIns="0" rIns="0" tIns="0" bIns="0">
            <a:spAutoFit/>
          </a:bodyPr>
          <a:lstStyle/>
          <a:p>
            <a:pPr>
              <a:lnSpc>
                <a:spcPct val="112000"/>
              </a:lnSpc>
              <a:spcAft>
                <a:spcPts val="300"/>
              </a:spcAft>
              <a:defRPr sz="1200" b="0">
                <a:solidFill>
                  <a:srgbClr val="193F35"/>
                </a:solidFill>
                <a:latin typeface="Aptos"/>
              </a:defRPr>
            </a:pPr>
            <a:r>
              <a:t>Users + patient profiles</a:t>
            </a:r>
          </a:p>
          <a:p>
            <a:pPr>
              <a:lnSpc>
                <a:spcPct val="112000"/>
              </a:lnSpc>
              <a:spcAft>
                <a:spcPts val="300"/>
              </a:spcAft>
              <a:defRPr sz="1200" b="0">
                <a:solidFill>
                  <a:srgbClr val="193F35"/>
                </a:solidFill>
                <a:latin typeface="Aptos"/>
              </a:defRPr>
            </a:pPr>
            <a:r>
              <a:t>Consent + medical records</a:t>
            </a:r>
          </a:p>
          <a:p>
            <a:pPr>
              <a:lnSpc>
                <a:spcPct val="112000"/>
              </a:lnSpc>
              <a:spcAft>
                <a:spcPts val="300"/>
              </a:spcAft>
              <a:defRPr sz="1200" b="0">
                <a:solidFill>
                  <a:srgbClr val="193F35"/>
                </a:solidFill>
                <a:latin typeface="Aptos"/>
              </a:defRPr>
            </a:pPr>
            <a:r>
              <a:t>Prescriptions + dose logs</a:t>
            </a:r>
          </a:p>
          <a:p>
            <a:pPr>
              <a:lnSpc>
                <a:spcPct val="112000"/>
              </a:lnSpc>
              <a:spcAft>
                <a:spcPts val="300"/>
              </a:spcAft>
              <a:defRPr sz="1200" b="0">
                <a:solidFill>
                  <a:srgbClr val="193F35"/>
                </a:solidFill>
                <a:latin typeface="Aptos"/>
              </a:defRPr>
            </a:pPr>
            <a:r>
              <a:t>Messages + access audit</a:t>
            </a:r>
          </a:p>
        </p:txBody>
      </p:sp>
      <p:sp>
        <p:nvSpPr>
          <p:cNvPr id="28" name="TextBox 27"/>
          <p:cNvSpPr txBox="1"/>
          <p:nvPr/>
        </p:nvSpPr>
        <p:spPr>
          <a:xfrm>
            <a:off x="8769096" y="4544568"/>
            <a:ext cx="2624328" cy="210312"/>
          </a:xfrm>
          <a:prstGeom prst="rect">
            <a:avLst/>
          </a:prstGeom>
          <a:noFill/>
        </p:spPr>
        <p:txBody>
          <a:bodyPr wrap="square" lIns="0" rIns="0" tIns="0" bIns="0">
            <a:spAutoFit/>
          </a:bodyPr>
          <a:lstStyle/>
          <a:p>
            <a:pPr>
              <a:lnSpc>
                <a:spcPct val="112000"/>
              </a:lnSpc>
              <a:spcAft>
                <a:spcPts val="300"/>
              </a:spcAft>
              <a:defRPr sz="1000" b="0">
                <a:solidFill>
                  <a:srgbClr val="687E72"/>
                </a:solidFill>
                <a:latin typeface="Aptos"/>
              </a:defRPr>
            </a:pPr>
            <a:r>
              <a:t>Patient-scoped reads / writes</a:t>
            </a:r>
          </a:p>
        </p:txBody>
      </p:sp>
      <p:cxnSp>
        <p:nvCxnSpPr>
          <p:cNvPr id="29" name="Connector 28"/>
          <p:cNvCxnSpPr/>
          <p:nvPr/>
        </p:nvCxnSpPr>
        <p:spPr>
          <a:xfrm>
            <a:off x="3401568" y="2724912"/>
            <a:ext cx="621792"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438144" y="2377440"/>
            <a:ext cx="548640" cy="182880"/>
          </a:xfrm>
          <a:prstGeom prst="rect">
            <a:avLst/>
          </a:prstGeom>
          <a:noFill/>
        </p:spPr>
        <p:txBody>
          <a:bodyPr wrap="square" lIns="0" rIns="0" tIns="0" bIns="0">
            <a:spAutoFit/>
          </a:bodyPr>
          <a:lstStyle/>
          <a:p>
            <a:pPr>
              <a:lnSpc>
                <a:spcPct val="112000"/>
              </a:lnSpc>
              <a:spcAft>
                <a:spcPts val="300"/>
              </a:spcAft>
              <a:defRPr sz="900" b="1">
                <a:solidFill>
                  <a:srgbClr val="236A54"/>
                </a:solidFill>
                <a:latin typeface="Aptos"/>
              </a:defRPr>
            </a:pPr>
            <a:r>
              <a:t>/api</a:t>
            </a:r>
          </a:p>
        </p:txBody>
      </p:sp>
      <p:cxnSp>
        <p:nvCxnSpPr>
          <p:cNvPr id="31" name="Connector 30"/>
          <p:cNvCxnSpPr/>
          <p:nvPr/>
        </p:nvCxnSpPr>
        <p:spPr>
          <a:xfrm>
            <a:off x="7863840" y="3657600"/>
            <a:ext cx="649224"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946136" y="3355848"/>
            <a:ext cx="548640" cy="182880"/>
          </a:xfrm>
          <a:prstGeom prst="rect">
            <a:avLst/>
          </a:prstGeom>
          <a:noFill/>
        </p:spPr>
        <p:txBody>
          <a:bodyPr wrap="square" lIns="0" rIns="0" tIns="0" bIns="0">
            <a:spAutoFit/>
          </a:bodyPr>
          <a:lstStyle/>
          <a:p>
            <a:pPr>
              <a:lnSpc>
                <a:spcPct val="112000"/>
              </a:lnSpc>
              <a:spcAft>
                <a:spcPts val="300"/>
              </a:spcAft>
              <a:defRPr sz="900" b="1">
                <a:solidFill>
                  <a:srgbClr val="236A54"/>
                </a:solidFill>
                <a:latin typeface="Aptos"/>
              </a:defRPr>
            </a:pPr>
            <a:r>
              <a:t>SQL</a:t>
            </a:r>
          </a:p>
        </p:txBody>
      </p:sp>
      <p:cxnSp>
        <p:nvCxnSpPr>
          <p:cNvPr id="33" name="Connector 32"/>
          <p:cNvCxnSpPr/>
          <p:nvPr/>
        </p:nvCxnSpPr>
        <p:spPr>
          <a:xfrm flipH="1">
            <a:off x="7863840" y="4105656"/>
            <a:ext cx="649224"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52744" y="4956048"/>
            <a:ext cx="0" cy="320040"/>
          </a:xfrm>
          <a:prstGeom prst="line">
            <a:avLst/>
          </a:prstGeom>
          <a:ln w="21590">
            <a:solidFill>
              <a:srgbClr val="236A5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979676" y="5276088"/>
            <a:ext cx="3973068" cy="0"/>
          </a:xfrm>
          <a:prstGeom prst="line">
            <a:avLst/>
          </a:prstGeom>
          <a:ln w="21590">
            <a:solidFill>
              <a:srgbClr val="236A5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979676" y="4956048"/>
            <a:ext cx="0" cy="32004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404872" y="5010912"/>
            <a:ext cx="3200400" cy="18288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JSON response → interface refresh</a:t>
            </a:r>
          </a:p>
        </p:txBody>
      </p:sp>
      <p:sp>
        <p:nvSpPr>
          <p:cNvPr id="38" name="TextBox 37"/>
          <p:cNvSpPr txBox="1"/>
          <p:nvPr/>
        </p:nvSpPr>
        <p:spPr>
          <a:xfrm>
            <a:off x="6428232" y="5038344"/>
            <a:ext cx="5166360" cy="228600"/>
          </a:xfrm>
          <a:prstGeom prst="rect">
            <a:avLst/>
          </a:prstGeom>
          <a:noFill/>
        </p:spPr>
        <p:txBody>
          <a:bodyPr wrap="square" lIns="0" rIns="0" tIns="0" bIns="0">
            <a:spAutoFit/>
          </a:bodyPr>
          <a:lstStyle/>
          <a:p>
            <a:pPr>
              <a:lnSpc>
                <a:spcPct val="112000"/>
              </a:lnSpc>
              <a:spcAft>
                <a:spcPts val="300"/>
              </a:spcAft>
              <a:defRPr sz="1000" b="0">
                <a:solidFill>
                  <a:srgbClr val="687E72"/>
                </a:solidFill>
                <a:latin typeface="Aptos"/>
              </a:defRPr>
            </a:pPr>
            <a:r>
              <a:t>Failed checks → 401 / 403; doctor consent revoked → blocked.</a:t>
            </a:r>
          </a:p>
        </p:txBody>
      </p:sp>
      <p:sp>
        <p:nvSpPr>
          <p:cNvPr id="39" name="TextBox 38"/>
          <p:cNvSpPr txBox="1"/>
          <p:nvPr/>
        </p:nvSpPr>
        <p:spPr>
          <a:xfrm>
            <a:off x="594360" y="5541264"/>
            <a:ext cx="10972800" cy="18288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THE CARE LOOP</a:t>
            </a:r>
          </a:p>
        </p:txBody>
      </p:sp>
      <p:sp>
        <p:nvSpPr>
          <p:cNvPr id="40" name="Rounded Rectangle 39"/>
          <p:cNvSpPr/>
          <p:nvPr/>
        </p:nvSpPr>
        <p:spPr>
          <a:xfrm>
            <a:off x="594360" y="5843016"/>
            <a:ext cx="2386584" cy="557784"/>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925312"/>
            <a:ext cx="2112264" cy="365760"/>
          </a:xfrm>
          <a:prstGeom prst="rect">
            <a:avLst/>
          </a:prstGeom>
          <a:noFill/>
        </p:spPr>
        <p:txBody>
          <a:bodyPr wrap="square" lIns="0" rIns="0" tIns="0" bIns="0">
            <a:spAutoFit/>
          </a:bodyPr>
          <a:lstStyle/>
          <a:p>
            <a:pPr>
              <a:lnSpc>
                <a:spcPct val="112000"/>
              </a:lnSpc>
              <a:spcAft>
                <a:spcPts val="300"/>
              </a:spcAft>
              <a:defRPr sz="1000" b="1">
                <a:solidFill>
                  <a:srgbClr val="193F35"/>
                </a:solidFill>
                <a:latin typeface="Aptos"/>
              </a:defRPr>
            </a:pPr>
            <a:r>
              <a:t>Patient grants consent</a:t>
            </a:r>
          </a:p>
          <a:p>
            <a:pPr>
              <a:lnSpc>
                <a:spcPct val="112000"/>
              </a:lnSpc>
              <a:spcAft>
                <a:spcPts val="300"/>
              </a:spcAft>
              <a:defRPr sz="1000" b="1">
                <a:solidFill>
                  <a:srgbClr val="193F35"/>
                </a:solidFill>
                <a:latin typeface="Aptos"/>
              </a:defRPr>
            </a:pPr>
            <a:r>
              <a:t>Ask a question / log a dose</a:t>
            </a:r>
          </a:p>
        </p:txBody>
      </p:sp>
      <p:sp>
        <p:nvSpPr>
          <p:cNvPr id="42" name="Rounded Rectangle 41"/>
          <p:cNvSpPr/>
          <p:nvPr/>
        </p:nvSpPr>
        <p:spPr>
          <a:xfrm>
            <a:off x="3346704" y="5843016"/>
            <a:ext cx="2386584" cy="557784"/>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83864" y="5925312"/>
            <a:ext cx="2112264" cy="365760"/>
          </a:xfrm>
          <a:prstGeom prst="rect">
            <a:avLst/>
          </a:prstGeom>
          <a:noFill/>
        </p:spPr>
        <p:txBody>
          <a:bodyPr wrap="square" lIns="0" rIns="0" tIns="0" bIns="0">
            <a:spAutoFit/>
          </a:bodyPr>
          <a:lstStyle/>
          <a:p>
            <a:pPr>
              <a:lnSpc>
                <a:spcPct val="112000"/>
              </a:lnSpc>
              <a:spcAft>
                <a:spcPts val="300"/>
              </a:spcAft>
              <a:defRPr sz="1000" b="1">
                <a:solidFill>
                  <a:srgbClr val="193F35"/>
                </a:solidFill>
                <a:latin typeface="Aptos"/>
              </a:defRPr>
            </a:pPr>
            <a:r>
              <a:t>API checks permission</a:t>
            </a:r>
          </a:p>
          <a:p>
            <a:pPr>
              <a:lnSpc>
                <a:spcPct val="112000"/>
              </a:lnSpc>
              <a:spcAft>
                <a:spcPts val="300"/>
              </a:spcAft>
              <a:defRPr sz="1000" b="1">
                <a:solidFill>
                  <a:srgbClr val="193F35"/>
                </a:solidFill>
                <a:latin typeface="Aptos"/>
              </a:defRPr>
            </a:pPr>
            <a:r>
              <a:t>Read / save patient data</a:t>
            </a:r>
          </a:p>
        </p:txBody>
      </p:sp>
      <p:sp>
        <p:nvSpPr>
          <p:cNvPr id="44" name="Rounded Rectangle 43"/>
          <p:cNvSpPr/>
          <p:nvPr/>
        </p:nvSpPr>
        <p:spPr>
          <a:xfrm>
            <a:off x="6108192" y="5843016"/>
            <a:ext cx="2386584" cy="557784"/>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5352" y="5925312"/>
            <a:ext cx="2112264" cy="365760"/>
          </a:xfrm>
          <a:prstGeom prst="rect">
            <a:avLst/>
          </a:prstGeom>
          <a:noFill/>
        </p:spPr>
        <p:txBody>
          <a:bodyPr wrap="square" lIns="0" rIns="0" tIns="0" bIns="0">
            <a:spAutoFit/>
          </a:bodyPr>
          <a:lstStyle/>
          <a:p>
            <a:pPr>
              <a:lnSpc>
                <a:spcPct val="112000"/>
              </a:lnSpc>
              <a:spcAft>
                <a:spcPts val="300"/>
              </a:spcAft>
              <a:defRPr sz="1000" b="1">
                <a:solidFill>
                  <a:srgbClr val="193F35"/>
                </a:solidFill>
                <a:latin typeface="Aptos"/>
              </a:defRPr>
            </a:pPr>
            <a:r>
              <a:t>Doctor provides care</a:t>
            </a:r>
          </a:p>
          <a:p>
            <a:pPr>
              <a:lnSpc>
                <a:spcPct val="112000"/>
              </a:lnSpc>
              <a:spcAft>
                <a:spcPts val="300"/>
              </a:spcAft>
              <a:defRPr sz="1000" b="1">
                <a:solidFill>
                  <a:srgbClr val="193F35"/>
                </a:solidFill>
                <a:latin typeface="Aptos"/>
              </a:defRPr>
            </a:pPr>
            <a:r>
              <a:t>Visit / prescription / reply</a:t>
            </a:r>
          </a:p>
        </p:txBody>
      </p:sp>
      <p:sp>
        <p:nvSpPr>
          <p:cNvPr id="46" name="Rounded Rectangle 45"/>
          <p:cNvSpPr/>
          <p:nvPr/>
        </p:nvSpPr>
        <p:spPr>
          <a:xfrm>
            <a:off x="8869680" y="5843016"/>
            <a:ext cx="2715768" cy="557784"/>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06840" y="5925312"/>
            <a:ext cx="2441448" cy="365760"/>
          </a:xfrm>
          <a:prstGeom prst="rect">
            <a:avLst/>
          </a:prstGeom>
          <a:noFill/>
        </p:spPr>
        <p:txBody>
          <a:bodyPr wrap="square" lIns="0" rIns="0" tIns="0" bIns="0">
            <a:spAutoFit/>
          </a:bodyPr>
          <a:lstStyle/>
          <a:p>
            <a:pPr>
              <a:lnSpc>
                <a:spcPct val="112000"/>
              </a:lnSpc>
              <a:spcAft>
                <a:spcPts val="300"/>
              </a:spcAft>
              <a:defRPr sz="1000" b="1">
                <a:solidFill>
                  <a:srgbClr val="193F35"/>
                </a:solidFill>
                <a:latin typeface="Aptos"/>
              </a:defRPr>
            </a:pPr>
            <a:r>
              <a:t>Patient sees updates</a:t>
            </a:r>
          </a:p>
          <a:p>
            <a:pPr>
              <a:lnSpc>
                <a:spcPct val="112000"/>
              </a:lnSpc>
              <a:spcAft>
                <a:spcPts val="300"/>
              </a:spcAft>
              <a:defRPr sz="1000" b="1">
                <a:solidFill>
                  <a:srgbClr val="193F35"/>
                </a:solidFill>
                <a:latin typeface="Aptos"/>
              </a:defRPr>
            </a:pPr>
            <a:r>
              <a:t>History / reminders / replies</a:t>
            </a:r>
          </a:p>
        </p:txBody>
      </p:sp>
      <p:cxnSp>
        <p:nvCxnSpPr>
          <p:cNvPr id="48" name="Connector 47"/>
          <p:cNvCxnSpPr/>
          <p:nvPr/>
        </p:nvCxnSpPr>
        <p:spPr>
          <a:xfrm>
            <a:off x="3026664" y="6126480"/>
            <a:ext cx="265176"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779008" y="6126480"/>
            <a:ext cx="274320"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40496" y="6126480"/>
            <a:ext cx="274320"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510528"/>
            <a:ext cx="10972800" cy="219456"/>
          </a:xfrm>
          <a:prstGeom prst="rect">
            <a:avLst/>
          </a:prstGeom>
          <a:noFill/>
        </p:spPr>
        <p:txBody>
          <a:bodyPr wrap="square" lIns="0" rIns="0" tIns="0" bIns="0">
            <a:spAutoFit/>
          </a:bodyPr>
          <a:lstStyle/>
          <a:p>
            <a:pPr>
              <a:lnSpc>
                <a:spcPct val="112000"/>
              </a:lnSpc>
              <a:spcAft>
                <a:spcPts val="300"/>
              </a:spcAft>
              <a:defRPr sz="900" b="0">
                <a:solidFill>
                  <a:srgbClr val="687E72"/>
                </a:solidFill>
                <a:latin typeface="Aptos"/>
              </a:defRPr>
            </a:pPr>
            <a:r>
              <a:t>Emergency biometric check is simulated; WebAuthn is planned. Local DB is not encrypted at rest. Fictional data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