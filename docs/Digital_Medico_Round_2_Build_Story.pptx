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three core features from the original project: emergency medical history, Doctoc communication and medical alarms. We built a responsive website with distinct patient and doctor portals. All displayed records are fictional. The aim is to make clinical context accessible with permission, not make independent treatment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workflow in this order. New patients do not inherit another patient’s history. The doctor selects the assigned patient, records a visit and prescription, and can answer escalated questions. Patients see updates and log doses. Emergency access requires matching identity information, permission and a reason. Consent revocation blocks both ordinary and emergency reads.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implemented technologies, not a proposed cloud diagram. Python currently uses its standard-library HTTP server. SQLite avoids needing a separate database server for the hackathon. React provides the interfaces, and Vite builds them. Doctoc is scripted in Python; it does not send records to an external AI. Future FastAPI and MySQL integrations are proposals.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through the implemented architecture. Both portals call the same backend. Authorization checks occur before reading or updating medical rows. Clinical modules and audit events share a local SQLite database in this prototype. Sessions live in backend memory. The proposed production system would move storage and audit protection to hardened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each feature without claiming integrations we have not built. Emergency identity verification is simulated and never overrides revoked consent. Doctoc reads actual patient schedules but provides no diagnosis or autonomous prescription changes. Reminders run in an open website; production needs durable scheduling and must distinguish unconfirmed notifications from confirmed missed medication.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tests cover successful workflows and denial cases, including wrong portal login, patient isolation, role violations, consent revocation and CSRF. Browser checks cover registration, clinical changes, replies, alarms and refresh. Cross-session revocation also clears open forms and cached audit data. We have not performed clinical validation, penetration testing or compliance certification; local storage is not encrypted at rest.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live website to show patient-to-doctor updates and the privacy denial path. The source is available in the project repository and can be opened in VS Code. End with three production priorities: verified clinician identities, encryption for storage and backups, and durable notifications. A mobile app can later reuse the backend API. Do not describe proposed services as already deployed.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372E"/>
        </a:solidFill>
        <a:effectLst/>
      </p:bgPr>
    </p:bg>
    <p:spTree>
      <p:nvGrpSpPr>
        <p:cNvPr id="1" name=""/>
        <p:cNvGrpSpPr/>
        <p:nvPr/>
      </p:nvGrpSpPr>
      <p:grpSpPr/>
      <p:sp>
        <p:nvSpPr>
          <p:cNvPr id="2" name="TextBox 1"/>
          <p:cNvSpPr txBox="1"/>
          <p:nvPr/>
        </p:nvSpPr>
        <p:spPr>
          <a:xfrm>
            <a:off x="594360" y="292608"/>
            <a:ext cx="6400800" cy="274320"/>
          </a:xfrm>
          <a:prstGeom prst="rect">
            <a:avLst/>
          </a:prstGeom>
          <a:noFill/>
        </p:spPr>
        <p:txBody>
          <a:bodyPr wrap="square" lIns="0" rIns="0" tIns="0" bIns="0">
            <a:spAutoFit/>
          </a:bodyPr>
          <a:lstStyle/>
          <a:p>
            <a:pPr>
              <a:lnSpc>
                <a:spcPct val="112000"/>
              </a:lnSpc>
              <a:spcAft>
                <a:spcPts val="700"/>
              </a:spcAft>
              <a:defRPr sz="1000" b="1">
                <a:solidFill>
                  <a:srgbClr val="D6B577"/>
                </a:solidFill>
                <a:latin typeface="Aptos"/>
              </a:defRPr>
            </a:pPr>
            <a:r>
              <a:t>DIGITAL MEDICO  /  ROUND TWO</a:t>
            </a:r>
          </a:p>
        </p:txBody>
      </p:sp>
      <p:sp>
        <p:nvSpPr>
          <p:cNvPr id="3" name="TextBox 2"/>
          <p:cNvSpPr txBox="1"/>
          <p:nvPr/>
        </p:nvSpPr>
        <p:spPr>
          <a:xfrm>
            <a:off x="594360" y="804672"/>
            <a:ext cx="10972800" cy="914400"/>
          </a:xfrm>
          <a:prstGeom prst="rect">
            <a:avLst/>
          </a:prstGeom>
          <a:noFill/>
        </p:spPr>
        <p:txBody>
          <a:bodyPr wrap="square" lIns="0" rIns="0" tIns="0" bIns="0">
            <a:spAutoFit/>
          </a:bodyPr>
          <a:lstStyle/>
          <a:p>
            <a:pPr>
              <a:lnSpc>
                <a:spcPct val="112000"/>
              </a:lnSpc>
              <a:spcAft>
                <a:spcPts val="700"/>
              </a:spcAft>
              <a:defRPr sz="3200" b="1">
                <a:solidFill>
                  <a:srgbClr val="FFFFFF"/>
                </a:solidFill>
                <a:latin typeface="Aptos"/>
              </a:defRPr>
            </a:pPr>
            <a:r>
              <a:t>Digital Medico</a:t>
            </a:r>
          </a:p>
        </p:txBody>
      </p:sp>
      <p:sp>
        <p:nvSpPr>
          <p:cNvPr id="4" name="TextBox 3"/>
          <p:cNvSpPr txBox="1"/>
          <p:nvPr/>
        </p:nvSpPr>
        <p:spPr>
          <a:xfrm>
            <a:off x="612648" y="1709928"/>
            <a:ext cx="10972800" cy="566928"/>
          </a:xfrm>
          <a:prstGeom prst="rect">
            <a:avLst/>
          </a:prstGeom>
          <a:noFill/>
        </p:spPr>
        <p:txBody>
          <a:bodyPr wrap="square" lIns="0" rIns="0" tIns="0" bIns="0">
            <a:spAutoFit/>
          </a:bodyPr>
          <a:lstStyle/>
          <a:p>
            <a:pPr>
              <a:lnSpc>
                <a:spcPct val="112000"/>
              </a:lnSpc>
              <a:spcAft>
                <a:spcPts val="700"/>
              </a:spcAft>
              <a:defRPr sz="1500" b="0">
                <a:solidFill>
                  <a:srgbClr val="B4CCB9"/>
                </a:solidFill>
                <a:latin typeface="Aptos"/>
              </a:defRPr>
            </a:pPr>
            <a:r>
              <a:t>A connected medical history, medication schedule and care team.</a:t>
            </a:r>
          </a:p>
        </p:txBody>
      </p:sp>
      <p:sp>
        <p:nvSpPr>
          <p:cNvPr id="5" name="Rectangle 4"/>
          <p:cNvSpPr/>
          <p:nvPr/>
        </p:nvSpPr>
        <p:spPr>
          <a:xfrm>
            <a:off x="594360" y="6446520"/>
            <a:ext cx="11000232" cy="10972"/>
          </a:xfrm>
          <a:prstGeom prst="rect">
            <a:avLst/>
          </a:prstGeom>
          <a:solidFill>
            <a:srgbClr val="36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7315200" cy="164592"/>
          </a:xfrm>
          <a:prstGeom prst="rect">
            <a:avLst/>
          </a:prstGeom>
          <a:noFill/>
        </p:spPr>
        <p:txBody>
          <a:bodyPr wrap="square" lIns="0" rIns="0" tIns="0" bIns="0">
            <a:spAutoFit/>
          </a:bodyPr>
          <a:lstStyle/>
          <a:p>
            <a:pPr>
              <a:lnSpc>
                <a:spcPct val="112000"/>
              </a:lnSpc>
              <a:spcAft>
                <a:spcPts val="700"/>
              </a:spcAft>
              <a:defRPr sz="800" b="1">
                <a:solidFill>
                  <a:srgbClr val="A6C0AB"/>
                </a:solidFill>
                <a:latin typeface="Aptos"/>
              </a:defRPr>
            </a:pPr>
            <a:r>
              <a:t>DIGITAL MEDICO   •   CARE, CONNECTED.</a:t>
            </a:r>
          </a:p>
        </p:txBody>
      </p:sp>
      <p:sp>
        <p:nvSpPr>
          <p:cNvPr id="7" name="TextBox 6"/>
          <p:cNvSpPr txBox="1"/>
          <p:nvPr/>
        </p:nvSpPr>
        <p:spPr>
          <a:xfrm>
            <a:off x="10881360" y="6510528"/>
            <a:ext cx="731520" cy="228600"/>
          </a:xfrm>
          <a:prstGeom prst="rect">
            <a:avLst/>
          </a:prstGeom>
          <a:noFill/>
        </p:spPr>
        <p:txBody>
          <a:bodyPr wrap="square" lIns="0" rIns="0" tIns="0" bIns="0">
            <a:spAutoFit/>
          </a:bodyPr>
          <a:lstStyle/>
          <a:p>
            <a:pPr algn="r">
              <a:lnSpc>
                <a:spcPct val="112000"/>
              </a:lnSpc>
              <a:spcAft>
                <a:spcPts val="700"/>
              </a:spcAft>
              <a:defRPr sz="900" b="0">
                <a:solidFill>
                  <a:srgbClr val="A6C0AB"/>
                </a:solidFill>
                <a:latin typeface="Aptos"/>
              </a:defRPr>
            </a:pPr>
            <a:r>
              <a:t>01 / 07</a:t>
            </a:r>
          </a:p>
        </p:txBody>
      </p:sp>
      <p:sp>
        <p:nvSpPr>
          <p:cNvPr id="8" name="TextBox 7"/>
          <p:cNvSpPr txBox="1"/>
          <p:nvPr/>
        </p:nvSpPr>
        <p:spPr>
          <a:xfrm>
            <a:off x="640080" y="2606040"/>
            <a:ext cx="4937760" cy="1371600"/>
          </a:xfrm>
          <a:prstGeom prst="rect">
            <a:avLst/>
          </a:prstGeom>
          <a:noFill/>
        </p:spPr>
        <p:txBody>
          <a:bodyPr wrap="square" lIns="0" rIns="0" tIns="0" bIns="0">
            <a:spAutoFit/>
          </a:bodyPr>
          <a:lstStyle/>
          <a:p>
            <a:pPr>
              <a:lnSpc>
                <a:spcPct val="112000"/>
              </a:lnSpc>
              <a:spcAft>
                <a:spcPts val="700"/>
              </a:spcAft>
              <a:defRPr sz="3800" b="1">
                <a:solidFill>
                  <a:srgbClr val="FFFFFF"/>
                </a:solidFill>
                <a:latin typeface="Aptos"/>
              </a:defRPr>
            </a:pPr>
            <a:r>
              <a:t>The right history.</a:t>
            </a:r>
          </a:p>
          <a:p>
            <a:pPr>
              <a:lnSpc>
                <a:spcPct val="112000"/>
              </a:lnSpc>
              <a:spcAft>
                <a:spcPts val="700"/>
              </a:spcAft>
              <a:defRPr sz="3800" b="1">
                <a:solidFill>
                  <a:srgbClr val="FFFFFF"/>
                </a:solidFill>
                <a:latin typeface="Aptos"/>
              </a:defRPr>
            </a:pPr>
            <a:r>
              <a:t>At the right time.</a:t>
            </a:r>
          </a:p>
        </p:txBody>
      </p:sp>
      <p:sp>
        <p:nvSpPr>
          <p:cNvPr id="9" name="TextBox 8"/>
          <p:cNvSpPr txBox="1"/>
          <p:nvPr/>
        </p:nvSpPr>
        <p:spPr>
          <a:xfrm>
            <a:off x="658368" y="4187952"/>
            <a:ext cx="4846320" cy="850392"/>
          </a:xfrm>
          <a:prstGeom prst="rect">
            <a:avLst/>
          </a:prstGeom>
          <a:noFill/>
        </p:spPr>
        <p:txBody>
          <a:bodyPr wrap="square" lIns="0" rIns="0" tIns="0" bIns="0">
            <a:spAutoFit/>
          </a:bodyPr>
          <a:lstStyle/>
          <a:p>
            <a:pPr>
              <a:lnSpc>
                <a:spcPct val="112000"/>
              </a:lnSpc>
              <a:spcAft>
                <a:spcPts val="700"/>
              </a:spcAft>
              <a:defRPr sz="1800" b="0">
                <a:solidFill>
                  <a:srgbClr val="B4CCB9"/>
                </a:solidFill>
                <a:latin typeface="Aptos"/>
              </a:defRPr>
            </a:pPr>
            <a:r>
              <a:t>Two portals connect patients and doctors</a:t>
            </a:r>
          </a:p>
          <a:p>
            <a:pPr>
              <a:lnSpc>
                <a:spcPct val="112000"/>
              </a:lnSpc>
              <a:spcAft>
                <a:spcPts val="700"/>
              </a:spcAft>
              <a:defRPr sz="1800" b="0">
                <a:solidFill>
                  <a:srgbClr val="B4CCB9"/>
                </a:solidFill>
                <a:latin typeface="Aptos"/>
              </a:defRPr>
            </a:pPr>
            <a:r>
              <a:t>through a shared, permission-controlled backend.</a:t>
            </a:r>
          </a:p>
        </p:txBody>
      </p:sp>
      <p:sp>
        <p:nvSpPr>
          <p:cNvPr id="10" name="Rounded Rectangle 9"/>
          <p:cNvSpPr/>
          <p:nvPr/>
        </p:nvSpPr>
        <p:spPr>
          <a:xfrm>
            <a:off x="658368" y="5623560"/>
            <a:ext cx="2240280" cy="338328"/>
          </a:xfrm>
          <a:prstGeom prst="roundRect">
            <a:avLst>
              <a:gd name="adj" fmla="val 12000"/>
            </a:avLst>
          </a:prstGeom>
          <a:solidFill>
            <a:srgbClr val="36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5692140"/>
            <a:ext cx="2093976" cy="201168"/>
          </a:xfrm>
          <a:prstGeom prst="rect">
            <a:avLst/>
          </a:prstGeom>
          <a:noFill/>
        </p:spPr>
        <p:txBody>
          <a:bodyPr wrap="square" lIns="0" rIns="0" tIns="0" bIns="0">
            <a:spAutoFit/>
          </a:bodyPr>
          <a:lstStyle/>
          <a:p>
            <a:pPr algn="ctr">
              <a:lnSpc>
                <a:spcPct val="112000"/>
              </a:lnSpc>
              <a:spcAft>
                <a:spcPts val="700"/>
              </a:spcAft>
              <a:defRPr sz="900" b="1">
                <a:solidFill>
                  <a:srgbClr val="FFFFFF"/>
                </a:solidFill>
                <a:latin typeface="Aptos"/>
              </a:defRPr>
            </a:pPr>
            <a:r>
              <a:t>PATIENT + DOCTOR</a:t>
            </a:r>
          </a:p>
        </p:txBody>
      </p:sp>
      <p:sp>
        <p:nvSpPr>
          <p:cNvPr id="12" name="Rounded Rectangle 11"/>
          <p:cNvSpPr/>
          <p:nvPr/>
        </p:nvSpPr>
        <p:spPr>
          <a:xfrm>
            <a:off x="3063240" y="5623560"/>
            <a:ext cx="2103120" cy="338328"/>
          </a:xfrm>
          <a:prstGeom prst="roundRect">
            <a:avLst>
              <a:gd name="adj" fmla="val 12000"/>
            </a:avLst>
          </a:prstGeom>
          <a:solidFill>
            <a:srgbClr val="36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36392" y="5692140"/>
            <a:ext cx="1956815" cy="201168"/>
          </a:xfrm>
          <a:prstGeom prst="rect">
            <a:avLst/>
          </a:prstGeom>
          <a:noFill/>
        </p:spPr>
        <p:txBody>
          <a:bodyPr wrap="square" lIns="0" rIns="0" tIns="0" bIns="0">
            <a:spAutoFit/>
          </a:bodyPr>
          <a:lstStyle/>
          <a:p>
            <a:pPr algn="ctr">
              <a:lnSpc>
                <a:spcPct val="112000"/>
              </a:lnSpc>
              <a:spcAft>
                <a:spcPts val="700"/>
              </a:spcAft>
              <a:defRPr sz="900" b="1">
                <a:solidFill>
                  <a:srgbClr val="FFFFFF"/>
                </a:solidFill>
                <a:latin typeface="Aptos"/>
              </a:defRPr>
            </a:pPr>
            <a:r>
              <a:t>PRIVACY FIRST</a:t>
            </a:r>
          </a:p>
        </p:txBody>
      </p:sp>
      <p:sp>
        <p:nvSpPr>
          <p:cNvPr id="14" name="Rounded Rectangle 13"/>
          <p:cNvSpPr/>
          <p:nvPr/>
        </p:nvSpPr>
        <p:spPr>
          <a:xfrm>
            <a:off x="6117336" y="2276856"/>
            <a:ext cx="5486400" cy="3877056"/>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atient.png"/>
          <p:cNvPicPr>
            <a:picLocks noChangeAspect="1"/>
          </p:cNvPicPr>
          <p:nvPr/>
        </p:nvPicPr>
        <p:blipFill>
          <a:blip r:embed="rId2"/>
          <a:stretch>
            <a:fillRect/>
          </a:stretch>
        </p:blipFill>
        <p:spPr>
          <a:xfrm>
            <a:off x="6669521" y="2331720"/>
            <a:ext cx="4382029" cy="376732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7F0"/>
        </a:solidFill>
        <a:effectLst/>
      </p:bgPr>
    </p:bg>
    <p:spTree>
      <p:nvGrpSpPr>
        <p:cNvPr id="1" name=""/>
        <p:cNvGrpSpPr/>
        <p:nvPr/>
      </p:nvGrpSpPr>
      <p:grpSpPr/>
      <p:sp>
        <p:nvSpPr>
          <p:cNvPr id="2" name="TextBox 1"/>
          <p:cNvSpPr txBox="1"/>
          <p:nvPr/>
        </p:nvSpPr>
        <p:spPr>
          <a:xfrm>
            <a:off x="594360" y="292608"/>
            <a:ext cx="6400800"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01 / END-TO-END WORKING</a:t>
            </a:r>
          </a:p>
        </p:txBody>
      </p:sp>
      <p:sp>
        <p:nvSpPr>
          <p:cNvPr id="3" name="TextBox 2"/>
          <p:cNvSpPr txBox="1"/>
          <p:nvPr/>
        </p:nvSpPr>
        <p:spPr>
          <a:xfrm>
            <a:off x="594360" y="804672"/>
            <a:ext cx="10972800" cy="914400"/>
          </a:xfrm>
          <a:prstGeom prst="rect">
            <a:avLst/>
          </a:prstGeom>
          <a:noFill/>
        </p:spPr>
        <p:txBody>
          <a:bodyPr wrap="square" lIns="0" rIns="0" tIns="0" bIns="0">
            <a:spAutoFit/>
          </a:bodyPr>
          <a:lstStyle/>
          <a:p>
            <a:pPr>
              <a:lnSpc>
                <a:spcPct val="112000"/>
              </a:lnSpc>
              <a:spcAft>
                <a:spcPts val="700"/>
              </a:spcAft>
              <a:defRPr sz="3200" b="1">
                <a:solidFill>
                  <a:srgbClr val="193F35"/>
                </a:solidFill>
                <a:latin typeface="Aptos"/>
              </a:defRPr>
            </a:pPr>
            <a:r>
              <a:t>How the website works</a:t>
            </a:r>
          </a:p>
        </p:txBody>
      </p:sp>
      <p:sp>
        <p:nvSpPr>
          <p:cNvPr id="4" name="TextBox 3"/>
          <p:cNvSpPr txBox="1"/>
          <p:nvPr/>
        </p:nvSpPr>
        <p:spPr>
          <a:xfrm>
            <a:off x="612648" y="1709928"/>
            <a:ext cx="10972800" cy="566928"/>
          </a:xfrm>
          <a:prstGeom prst="rect">
            <a:avLst/>
          </a:prstGeom>
          <a:noFill/>
        </p:spPr>
        <p:txBody>
          <a:bodyPr wrap="square" lIns="0" rIns="0" tIns="0" bIns="0">
            <a:spAutoFit/>
          </a:bodyPr>
          <a:lstStyle/>
          <a:p>
            <a:pPr>
              <a:lnSpc>
                <a:spcPct val="112000"/>
              </a:lnSpc>
              <a:spcAft>
                <a:spcPts val="700"/>
              </a:spcAft>
              <a:defRPr sz="1500" b="0">
                <a:solidFill>
                  <a:srgbClr val="687E72"/>
                </a:solidFill>
                <a:latin typeface="Aptos"/>
              </a:defRPr>
            </a:pPr>
            <a:r>
              <a:t>One patient account connects every visit, prescription, question and access decision.</a:t>
            </a:r>
          </a:p>
        </p:txBody>
      </p:sp>
      <p:sp>
        <p:nvSpPr>
          <p:cNvPr id="5" name="Rectangle 4"/>
          <p:cNvSpPr/>
          <p:nvPr/>
        </p:nvSpPr>
        <p:spPr>
          <a:xfrm>
            <a:off x="594360" y="6446520"/>
            <a:ext cx="11000232" cy="10972"/>
          </a:xfrm>
          <a:prstGeom prst="rect">
            <a:avLst/>
          </a:prstGeom>
          <a:solidFill>
            <a:srgbClr val="DCE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7315200" cy="164592"/>
          </a:xfrm>
          <a:prstGeom prst="rect">
            <a:avLst/>
          </a:prstGeom>
          <a:noFill/>
        </p:spPr>
        <p:txBody>
          <a:bodyPr wrap="square" lIns="0" rIns="0" tIns="0" bIns="0">
            <a:spAutoFit/>
          </a:bodyPr>
          <a:lstStyle/>
          <a:p>
            <a:pPr>
              <a:lnSpc>
                <a:spcPct val="112000"/>
              </a:lnSpc>
              <a:spcAft>
                <a:spcPts val="700"/>
              </a:spcAft>
              <a:defRPr sz="800" b="1">
                <a:solidFill>
                  <a:srgbClr val="687E72"/>
                </a:solidFill>
                <a:latin typeface="Aptos"/>
              </a:defRPr>
            </a:pPr>
            <a:r>
              <a:t>DIGITAL MEDICO   •   CARE, CONNECTED.</a:t>
            </a:r>
          </a:p>
        </p:txBody>
      </p:sp>
      <p:sp>
        <p:nvSpPr>
          <p:cNvPr id="7" name="TextBox 6"/>
          <p:cNvSpPr txBox="1"/>
          <p:nvPr/>
        </p:nvSpPr>
        <p:spPr>
          <a:xfrm>
            <a:off x="10881360" y="6510528"/>
            <a:ext cx="731520" cy="228600"/>
          </a:xfrm>
          <a:prstGeom prst="rect">
            <a:avLst/>
          </a:prstGeom>
          <a:noFill/>
        </p:spPr>
        <p:txBody>
          <a:bodyPr wrap="square" lIns="0" rIns="0" tIns="0" bIns="0">
            <a:spAutoFit/>
          </a:bodyPr>
          <a:lstStyle/>
          <a:p>
            <a:pPr algn="r">
              <a:lnSpc>
                <a:spcPct val="112000"/>
              </a:lnSpc>
              <a:spcAft>
                <a:spcPts val="700"/>
              </a:spcAft>
              <a:defRPr sz="900" b="0">
                <a:solidFill>
                  <a:srgbClr val="687E72"/>
                </a:solidFill>
                <a:latin typeface="Aptos"/>
              </a:defRPr>
            </a:pPr>
            <a:r>
              <a:t>02 / 07</a:t>
            </a:r>
          </a:p>
        </p:txBody>
      </p:sp>
      <p:sp>
        <p:nvSpPr>
          <p:cNvPr id="8" name="Rounded Rectangle 7"/>
          <p:cNvSpPr/>
          <p:nvPr/>
        </p:nvSpPr>
        <p:spPr>
          <a:xfrm>
            <a:off x="594360" y="2660904"/>
            <a:ext cx="1993392" cy="2660904"/>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852928"/>
            <a:ext cx="1682496"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01</a:t>
            </a:r>
          </a:p>
        </p:txBody>
      </p:sp>
      <p:sp>
        <p:nvSpPr>
          <p:cNvPr id="10" name="TextBox 9"/>
          <p:cNvSpPr txBox="1"/>
          <p:nvPr/>
        </p:nvSpPr>
        <p:spPr>
          <a:xfrm>
            <a:off x="749808" y="3346704"/>
            <a:ext cx="1682496" cy="685800"/>
          </a:xfrm>
          <a:prstGeom prst="rect">
            <a:avLst/>
          </a:prstGeom>
          <a:noFill/>
        </p:spPr>
        <p:txBody>
          <a:bodyPr wrap="square" lIns="0" rIns="0" tIns="0" bIns="0">
            <a:spAutoFit/>
          </a:bodyPr>
          <a:lstStyle/>
          <a:p>
            <a:pPr>
              <a:lnSpc>
                <a:spcPct val="112000"/>
              </a:lnSpc>
              <a:spcAft>
                <a:spcPts val="700"/>
              </a:spcAft>
              <a:defRPr sz="1900" b="1">
                <a:solidFill>
                  <a:srgbClr val="193F35"/>
                </a:solidFill>
                <a:latin typeface="Aptos"/>
              </a:defRPr>
            </a:pPr>
            <a:r>
              <a:t>Patient joins</a:t>
            </a:r>
          </a:p>
        </p:txBody>
      </p:sp>
      <p:sp>
        <p:nvSpPr>
          <p:cNvPr id="11" name="TextBox 10"/>
          <p:cNvSpPr txBox="1"/>
          <p:nvPr/>
        </p:nvSpPr>
        <p:spPr>
          <a:xfrm>
            <a:off x="749808" y="4224528"/>
            <a:ext cx="1682496" cy="932688"/>
          </a:xfrm>
          <a:prstGeom prst="rect">
            <a:avLst/>
          </a:prstGeom>
          <a:noFill/>
        </p:spPr>
        <p:txBody>
          <a:bodyPr wrap="square" lIns="0" rIns="0" tIns="0" bIns="0">
            <a:spAutoFit/>
          </a:bodyPr>
          <a:lstStyle/>
          <a:p>
            <a:pPr>
              <a:lnSpc>
                <a:spcPct val="112000"/>
              </a:lnSpc>
              <a:spcAft>
                <a:spcPts val="700"/>
              </a:spcAft>
              <a:defRPr sz="1400" b="0">
                <a:solidFill>
                  <a:srgbClr val="687E72"/>
                </a:solidFill>
                <a:latin typeface="Aptos"/>
              </a:defRPr>
            </a:pPr>
            <a:r>
              <a:t>Creates an isolated account and chooses doctor access.</a:t>
            </a:r>
          </a:p>
        </p:txBody>
      </p:sp>
      <p:sp>
        <p:nvSpPr>
          <p:cNvPr id="12" name="Chevron 11"/>
          <p:cNvSpPr/>
          <p:nvPr/>
        </p:nvSpPr>
        <p:spPr>
          <a:xfrm>
            <a:off x="2624328" y="3657600"/>
            <a:ext cx="219456" cy="320040"/>
          </a:xfrm>
          <a:prstGeom prst="chevron">
            <a:avLst/>
          </a:prstGeom>
          <a:solidFill>
            <a:srgbClr val="23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25496" y="2660904"/>
            <a:ext cx="1993392" cy="2660904"/>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80944" y="2852928"/>
            <a:ext cx="1682496"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02</a:t>
            </a:r>
          </a:p>
        </p:txBody>
      </p:sp>
      <p:sp>
        <p:nvSpPr>
          <p:cNvPr id="15" name="TextBox 14"/>
          <p:cNvSpPr txBox="1"/>
          <p:nvPr/>
        </p:nvSpPr>
        <p:spPr>
          <a:xfrm>
            <a:off x="2980944" y="3346704"/>
            <a:ext cx="1682496" cy="685800"/>
          </a:xfrm>
          <a:prstGeom prst="rect">
            <a:avLst/>
          </a:prstGeom>
          <a:noFill/>
        </p:spPr>
        <p:txBody>
          <a:bodyPr wrap="square" lIns="0" rIns="0" tIns="0" bIns="0">
            <a:spAutoFit/>
          </a:bodyPr>
          <a:lstStyle/>
          <a:p>
            <a:pPr>
              <a:lnSpc>
                <a:spcPct val="112000"/>
              </a:lnSpc>
              <a:spcAft>
                <a:spcPts val="700"/>
              </a:spcAft>
              <a:defRPr sz="1900" b="1">
                <a:solidFill>
                  <a:srgbClr val="193F35"/>
                </a:solidFill>
                <a:latin typeface="Aptos"/>
              </a:defRPr>
            </a:pPr>
            <a:r>
              <a:t>Doctor signs in</a:t>
            </a:r>
          </a:p>
        </p:txBody>
      </p:sp>
      <p:sp>
        <p:nvSpPr>
          <p:cNvPr id="16" name="TextBox 15"/>
          <p:cNvSpPr txBox="1"/>
          <p:nvPr/>
        </p:nvSpPr>
        <p:spPr>
          <a:xfrm>
            <a:off x="2980944" y="4224528"/>
            <a:ext cx="1682496" cy="932688"/>
          </a:xfrm>
          <a:prstGeom prst="rect">
            <a:avLst/>
          </a:prstGeom>
          <a:noFill/>
        </p:spPr>
        <p:txBody>
          <a:bodyPr wrap="square" lIns="0" rIns="0" tIns="0" bIns="0">
            <a:spAutoFit/>
          </a:bodyPr>
          <a:lstStyle/>
          <a:p>
            <a:pPr>
              <a:lnSpc>
                <a:spcPct val="112000"/>
              </a:lnSpc>
              <a:spcAft>
                <a:spcPts val="700"/>
              </a:spcAft>
              <a:defRPr sz="1400" b="0">
                <a:solidFill>
                  <a:srgbClr val="687E72"/>
                </a:solidFill>
                <a:latin typeface="Aptos"/>
              </a:defRPr>
            </a:pPr>
            <a:r>
              <a:t>Selects an assigned patient with active consent.</a:t>
            </a:r>
          </a:p>
        </p:txBody>
      </p:sp>
      <p:sp>
        <p:nvSpPr>
          <p:cNvPr id="17" name="Chevron 16"/>
          <p:cNvSpPr/>
          <p:nvPr/>
        </p:nvSpPr>
        <p:spPr>
          <a:xfrm>
            <a:off x="4855464" y="3657600"/>
            <a:ext cx="219456" cy="320040"/>
          </a:xfrm>
          <a:prstGeom prst="chevron">
            <a:avLst/>
          </a:prstGeom>
          <a:solidFill>
            <a:srgbClr val="23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56632" y="2660904"/>
            <a:ext cx="1993392" cy="2660904"/>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12080" y="2852928"/>
            <a:ext cx="1682496"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03</a:t>
            </a:r>
          </a:p>
        </p:txBody>
      </p:sp>
      <p:sp>
        <p:nvSpPr>
          <p:cNvPr id="20" name="TextBox 19"/>
          <p:cNvSpPr txBox="1"/>
          <p:nvPr/>
        </p:nvSpPr>
        <p:spPr>
          <a:xfrm>
            <a:off x="5212080" y="3346704"/>
            <a:ext cx="1682496" cy="685800"/>
          </a:xfrm>
          <a:prstGeom prst="rect">
            <a:avLst/>
          </a:prstGeom>
          <a:noFill/>
        </p:spPr>
        <p:txBody>
          <a:bodyPr wrap="square" lIns="0" rIns="0" tIns="0" bIns="0">
            <a:spAutoFit/>
          </a:bodyPr>
          <a:lstStyle/>
          <a:p>
            <a:pPr>
              <a:lnSpc>
                <a:spcPct val="112000"/>
              </a:lnSpc>
              <a:spcAft>
                <a:spcPts val="700"/>
              </a:spcAft>
              <a:defRPr sz="1900" b="1">
                <a:solidFill>
                  <a:srgbClr val="193F35"/>
                </a:solidFill>
                <a:latin typeface="Aptos"/>
              </a:defRPr>
            </a:pPr>
            <a:r>
              <a:t>Care is recorded</a:t>
            </a:r>
          </a:p>
        </p:txBody>
      </p:sp>
      <p:sp>
        <p:nvSpPr>
          <p:cNvPr id="21" name="TextBox 20"/>
          <p:cNvSpPr txBox="1"/>
          <p:nvPr/>
        </p:nvSpPr>
        <p:spPr>
          <a:xfrm>
            <a:off x="5212080" y="4224528"/>
            <a:ext cx="1682496" cy="932688"/>
          </a:xfrm>
          <a:prstGeom prst="rect">
            <a:avLst/>
          </a:prstGeom>
          <a:noFill/>
        </p:spPr>
        <p:txBody>
          <a:bodyPr wrap="square" lIns="0" rIns="0" tIns="0" bIns="0">
            <a:spAutoFit/>
          </a:bodyPr>
          <a:lstStyle/>
          <a:p>
            <a:pPr>
              <a:lnSpc>
                <a:spcPct val="112000"/>
              </a:lnSpc>
              <a:spcAft>
                <a:spcPts val="700"/>
              </a:spcAft>
              <a:defRPr sz="1400" b="0">
                <a:solidFill>
                  <a:srgbClr val="687E72"/>
                </a:solidFill>
                <a:latin typeface="Aptos"/>
              </a:defRPr>
            </a:pPr>
            <a:r>
              <a:t>Saves the clinical history, profile and prescription.</a:t>
            </a:r>
          </a:p>
        </p:txBody>
      </p:sp>
      <p:sp>
        <p:nvSpPr>
          <p:cNvPr id="22" name="Chevron 21"/>
          <p:cNvSpPr/>
          <p:nvPr/>
        </p:nvSpPr>
        <p:spPr>
          <a:xfrm>
            <a:off x="7086600" y="3657600"/>
            <a:ext cx="219456" cy="320040"/>
          </a:xfrm>
          <a:prstGeom prst="chevron">
            <a:avLst/>
          </a:prstGeom>
          <a:solidFill>
            <a:srgbClr val="23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87768" y="2660904"/>
            <a:ext cx="1993392" cy="2660904"/>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43216" y="2852928"/>
            <a:ext cx="1682496"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04</a:t>
            </a:r>
          </a:p>
        </p:txBody>
      </p:sp>
      <p:sp>
        <p:nvSpPr>
          <p:cNvPr id="25" name="TextBox 24"/>
          <p:cNvSpPr txBox="1"/>
          <p:nvPr/>
        </p:nvSpPr>
        <p:spPr>
          <a:xfrm>
            <a:off x="7443216" y="3346704"/>
            <a:ext cx="1682496" cy="685800"/>
          </a:xfrm>
          <a:prstGeom prst="rect">
            <a:avLst/>
          </a:prstGeom>
          <a:noFill/>
        </p:spPr>
        <p:txBody>
          <a:bodyPr wrap="square" lIns="0" rIns="0" tIns="0" bIns="0">
            <a:spAutoFit/>
          </a:bodyPr>
          <a:lstStyle/>
          <a:p>
            <a:pPr>
              <a:lnSpc>
                <a:spcPct val="112000"/>
              </a:lnSpc>
              <a:spcAft>
                <a:spcPts val="700"/>
              </a:spcAft>
              <a:defRPr sz="1900" b="1">
                <a:solidFill>
                  <a:srgbClr val="193F35"/>
                </a:solidFill>
                <a:latin typeface="Aptos"/>
              </a:defRPr>
            </a:pPr>
            <a:r>
              <a:t>Patient follows up</a:t>
            </a:r>
          </a:p>
        </p:txBody>
      </p:sp>
      <p:sp>
        <p:nvSpPr>
          <p:cNvPr id="26" name="TextBox 25"/>
          <p:cNvSpPr txBox="1"/>
          <p:nvPr/>
        </p:nvSpPr>
        <p:spPr>
          <a:xfrm>
            <a:off x="7443216" y="4224528"/>
            <a:ext cx="1682496" cy="932688"/>
          </a:xfrm>
          <a:prstGeom prst="rect">
            <a:avLst/>
          </a:prstGeom>
          <a:noFill/>
        </p:spPr>
        <p:txBody>
          <a:bodyPr wrap="square" lIns="0" rIns="0" tIns="0" bIns="0">
            <a:spAutoFit/>
          </a:bodyPr>
          <a:lstStyle/>
          <a:p>
            <a:pPr>
              <a:lnSpc>
                <a:spcPct val="112000"/>
              </a:lnSpc>
              <a:spcAft>
                <a:spcPts val="700"/>
              </a:spcAft>
              <a:defRPr sz="1400" b="0">
                <a:solidFill>
                  <a:srgbClr val="687E72"/>
                </a:solidFill>
                <a:latin typeface="Aptos"/>
              </a:defRPr>
            </a:pPr>
            <a:r>
              <a:t>Reads updates, confirms doses and asks questions.</a:t>
            </a:r>
          </a:p>
        </p:txBody>
      </p:sp>
      <p:sp>
        <p:nvSpPr>
          <p:cNvPr id="27" name="Chevron 26"/>
          <p:cNvSpPr/>
          <p:nvPr/>
        </p:nvSpPr>
        <p:spPr>
          <a:xfrm>
            <a:off x="9317736" y="3657600"/>
            <a:ext cx="219456" cy="320040"/>
          </a:xfrm>
          <a:prstGeom prst="chevron">
            <a:avLst/>
          </a:prstGeom>
          <a:solidFill>
            <a:srgbClr val="23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518904" y="2660904"/>
            <a:ext cx="1993392" cy="2660904"/>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74352" y="2852928"/>
            <a:ext cx="1682496"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05</a:t>
            </a:r>
          </a:p>
        </p:txBody>
      </p:sp>
      <p:sp>
        <p:nvSpPr>
          <p:cNvPr id="30" name="TextBox 29"/>
          <p:cNvSpPr txBox="1"/>
          <p:nvPr/>
        </p:nvSpPr>
        <p:spPr>
          <a:xfrm>
            <a:off x="9674352" y="3346704"/>
            <a:ext cx="1682496" cy="685800"/>
          </a:xfrm>
          <a:prstGeom prst="rect">
            <a:avLst/>
          </a:prstGeom>
          <a:noFill/>
        </p:spPr>
        <p:txBody>
          <a:bodyPr wrap="square" lIns="0" rIns="0" tIns="0" bIns="0">
            <a:spAutoFit/>
          </a:bodyPr>
          <a:lstStyle/>
          <a:p>
            <a:pPr>
              <a:lnSpc>
                <a:spcPct val="112000"/>
              </a:lnSpc>
              <a:spcAft>
                <a:spcPts val="700"/>
              </a:spcAft>
              <a:defRPr sz="1900" b="1">
                <a:solidFill>
                  <a:srgbClr val="193F35"/>
                </a:solidFill>
                <a:latin typeface="Aptos"/>
              </a:defRPr>
            </a:pPr>
            <a:r>
              <a:t>History is retrieved</a:t>
            </a:r>
          </a:p>
        </p:txBody>
      </p:sp>
      <p:sp>
        <p:nvSpPr>
          <p:cNvPr id="31" name="TextBox 30"/>
          <p:cNvSpPr txBox="1"/>
          <p:nvPr/>
        </p:nvSpPr>
        <p:spPr>
          <a:xfrm>
            <a:off x="9674352" y="4224528"/>
            <a:ext cx="1682496" cy="932688"/>
          </a:xfrm>
          <a:prstGeom prst="rect">
            <a:avLst/>
          </a:prstGeom>
          <a:noFill/>
        </p:spPr>
        <p:txBody>
          <a:bodyPr wrap="square" lIns="0" rIns="0" tIns="0" bIns="0">
            <a:spAutoFit/>
          </a:bodyPr>
          <a:lstStyle/>
          <a:p>
            <a:pPr>
              <a:lnSpc>
                <a:spcPct val="112000"/>
              </a:lnSpc>
              <a:spcAft>
                <a:spcPts val="700"/>
              </a:spcAft>
              <a:defRPr sz="1400" b="0">
                <a:solidFill>
                  <a:srgbClr val="687E72"/>
                </a:solidFill>
                <a:latin typeface="Aptos"/>
              </a:defRPr>
            </a:pPr>
            <a:r>
              <a:t>Authorized emergency access shows the essential context.</a:t>
            </a:r>
          </a:p>
        </p:txBody>
      </p:sp>
      <p:sp>
        <p:nvSpPr>
          <p:cNvPr id="32" name="Rounded Rectangle 31"/>
          <p:cNvSpPr/>
          <p:nvPr/>
        </p:nvSpPr>
        <p:spPr>
          <a:xfrm>
            <a:off x="594360" y="5605272"/>
            <a:ext cx="11000232" cy="530352"/>
          </a:xfrm>
          <a:prstGeom prst="roundRect">
            <a:avLst>
              <a:gd name="adj" fmla="val 12000"/>
            </a:avLst>
          </a:prstGeom>
          <a:solidFill>
            <a:srgbClr val="DA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733288"/>
            <a:ext cx="10570464" cy="283464"/>
          </a:xfrm>
          <a:prstGeom prst="rect">
            <a:avLst/>
          </a:prstGeom>
          <a:noFill/>
        </p:spPr>
        <p:txBody>
          <a:bodyPr wrap="square" lIns="0" rIns="0" tIns="0" bIns="0">
            <a:spAutoFit/>
          </a:bodyPr>
          <a:lstStyle/>
          <a:p>
            <a:pPr>
              <a:lnSpc>
                <a:spcPct val="112000"/>
              </a:lnSpc>
              <a:spcAft>
                <a:spcPts val="700"/>
              </a:spcAft>
              <a:defRPr sz="1500" b="1">
                <a:solidFill>
                  <a:srgbClr val="236A54"/>
                </a:solidFill>
                <a:latin typeface="Aptos"/>
              </a:defRPr>
            </a:pPr>
            <a:r>
              <a:t>Patient consent controls the whole loop. Revoking it blocks doctor access on the server.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7F0"/>
        </a:solidFill>
        <a:effectLst/>
      </p:bgPr>
    </p:bg>
    <p:spTree>
      <p:nvGrpSpPr>
        <p:cNvPr id="1" name=""/>
        <p:cNvGrpSpPr/>
        <p:nvPr/>
      </p:nvGrpSpPr>
      <p:grpSpPr/>
      <p:sp>
        <p:nvSpPr>
          <p:cNvPr id="2" name="TextBox 1"/>
          <p:cNvSpPr txBox="1"/>
          <p:nvPr/>
        </p:nvSpPr>
        <p:spPr>
          <a:xfrm>
            <a:off x="594360" y="292608"/>
            <a:ext cx="6400800"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02 / IMPLEMENTED TECH STACK</a:t>
            </a:r>
          </a:p>
        </p:txBody>
      </p:sp>
      <p:sp>
        <p:nvSpPr>
          <p:cNvPr id="3" name="TextBox 2"/>
          <p:cNvSpPr txBox="1"/>
          <p:nvPr/>
        </p:nvSpPr>
        <p:spPr>
          <a:xfrm>
            <a:off x="594360" y="804672"/>
            <a:ext cx="10972800" cy="914400"/>
          </a:xfrm>
          <a:prstGeom prst="rect">
            <a:avLst/>
          </a:prstGeom>
          <a:noFill/>
        </p:spPr>
        <p:txBody>
          <a:bodyPr wrap="square" lIns="0" rIns="0" tIns="0" bIns="0">
            <a:spAutoFit/>
          </a:bodyPr>
          <a:lstStyle/>
          <a:p>
            <a:pPr>
              <a:lnSpc>
                <a:spcPct val="112000"/>
              </a:lnSpc>
              <a:spcAft>
                <a:spcPts val="700"/>
              </a:spcAft>
              <a:defRPr sz="3200" b="1">
                <a:solidFill>
                  <a:srgbClr val="193F35"/>
                </a:solidFill>
                <a:latin typeface="Aptos"/>
              </a:defRPr>
            </a:pPr>
            <a:r>
              <a:t>Technology stack: what we actually built</a:t>
            </a:r>
          </a:p>
        </p:txBody>
      </p:sp>
      <p:sp>
        <p:nvSpPr>
          <p:cNvPr id="4" name="TextBox 3"/>
          <p:cNvSpPr txBox="1"/>
          <p:nvPr/>
        </p:nvSpPr>
        <p:spPr>
          <a:xfrm>
            <a:off x="612648" y="1709928"/>
            <a:ext cx="10972800" cy="566928"/>
          </a:xfrm>
          <a:prstGeom prst="rect">
            <a:avLst/>
          </a:prstGeom>
          <a:noFill/>
        </p:spPr>
        <p:txBody>
          <a:bodyPr wrap="square" lIns="0" rIns="0" tIns="0" bIns="0">
            <a:spAutoFit/>
          </a:bodyPr>
          <a:lstStyle/>
          <a:p>
            <a:pPr>
              <a:lnSpc>
                <a:spcPct val="112000"/>
              </a:lnSpc>
              <a:spcAft>
                <a:spcPts val="700"/>
              </a:spcAft>
              <a:defRPr sz="1500" b="0">
                <a:solidFill>
                  <a:srgbClr val="687E72"/>
                </a:solidFill>
                <a:latin typeface="Aptos"/>
              </a:defRPr>
            </a:pPr>
            <a:r>
              <a:t>A lightweight, open-source stack keeps the website easy to develop, run and demonstrate.</a:t>
            </a:r>
          </a:p>
        </p:txBody>
      </p:sp>
      <p:sp>
        <p:nvSpPr>
          <p:cNvPr id="5" name="Rectangle 4"/>
          <p:cNvSpPr/>
          <p:nvPr/>
        </p:nvSpPr>
        <p:spPr>
          <a:xfrm>
            <a:off x="594360" y="6446520"/>
            <a:ext cx="11000232" cy="10972"/>
          </a:xfrm>
          <a:prstGeom prst="rect">
            <a:avLst/>
          </a:prstGeom>
          <a:solidFill>
            <a:srgbClr val="DCE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7315200" cy="164592"/>
          </a:xfrm>
          <a:prstGeom prst="rect">
            <a:avLst/>
          </a:prstGeom>
          <a:noFill/>
        </p:spPr>
        <p:txBody>
          <a:bodyPr wrap="square" lIns="0" rIns="0" tIns="0" bIns="0">
            <a:spAutoFit/>
          </a:bodyPr>
          <a:lstStyle/>
          <a:p>
            <a:pPr>
              <a:lnSpc>
                <a:spcPct val="112000"/>
              </a:lnSpc>
              <a:spcAft>
                <a:spcPts val="700"/>
              </a:spcAft>
              <a:defRPr sz="800" b="1">
                <a:solidFill>
                  <a:srgbClr val="687E72"/>
                </a:solidFill>
                <a:latin typeface="Aptos"/>
              </a:defRPr>
            </a:pPr>
            <a:r>
              <a:t>DIGITAL MEDICO   •   CARE, CONNECTED.</a:t>
            </a:r>
          </a:p>
        </p:txBody>
      </p:sp>
      <p:sp>
        <p:nvSpPr>
          <p:cNvPr id="7" name="TextBox 6"/>
          <p:cNvSpPr txBox="1"/>
          <p:nvPr/>
        </p:nvSpPr>
        <p:spPr>
          <a:xfrm>
            <a:off x="10881360" y="6510528"/>
            <a:ext cx="731520" cy="228600"/>
          </a:xfrm>
          <a:prstGeom prst="rect">
            <a:avLst/>
          </a:prstGeom>
          <a:noFill/>
        </p:spPr>
        <p:txBody>
          <a:bodyPr wrap="square" lIns="0" rIns="0" tIns="0" bIns="0">
            <a:spAutoFit/>
          </a:bodyPr>
          <a:lstStyle/>
          <a:p>
            <a:pPr algn="r">
              <a:lnSpc>
                <a:spcPct val="112000"/>
              </a:lnSpc>
              <a:spcAft>
                <a:spcPts val="700"/>
              </a:spcAft>
              <a:defRPr sz="900" b="0">
                <a:solidFill>
                  <a:srgbClr val="687E72"/>
                </a:solidFill>
                <a:latin typeface="Aptos"/>
              </a:defRPr>
            </a:pPr>
            <a:r>
              <a:t>03 / 07</a:t>
            </a:r>
          </a:p>
        </p:txBody>
      </p:sp>
      <p:sp>
        <p:nvSpPr>
          <p:cNvPr id="8" name="Rounded Rectangle 7"/>
          <p:cNvSpPr/>
          <p:nvPr/>
        </p:nvSpPr>
        <p:spPr>
          <a:xfrm>
            <a:off x="594360" y="2441448"/>
            <a:ext cx="11000232" cy="466344"/>
          </a:xfrm>
          <a:prstGeom prst="roundRect">
            <a:avLst>
              <a:gd name="adj" fmla="val 12000"/>
            </a:avLst>
          </a:prstGeom>
          <a:solidFill>
            <a:srgbClr val="23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569464"/>
            <a:ext cx="2286000" cy="219456"/>
          </a:xfrm>
          <a:prstGeom prst="rect">
            <a:avLst/>
          </a:prstGeom>
          <a:noFill/>
        </p:spPr>
        <p:txBody>
          <a:bodyPr wrap="square" lIns="0" rIns="0" tIns="0" bIns="0">
            <a:spAutoFit/>
          </a:bodyPr>
          <a:lstStyle/>
          <a:p>
            <a:pPr>
              <a:lnSpc>
                <a:spcPct val="112000"/>
              </a:lnSpc>
              <a:spcAft>
                <a:spcPts val="700"/>
              </a:spcAft>
              <a:defRPr sz="1100" b="1">
                <a:solidFill>
                  <a:srgbClr val="FFFFFF"/>
                </a:solidFill>
                <a:latin typeface="Aptos"/>
              </a:defRPr>
            </a:pPr>
            <a:r>
              <a:t>LAYER</a:t>
            </a:r>
          </a:p>
        </p:txBody>
      </p:sp>
      <p:sp>
        <p:nvSpPr>
          <p:cNvPr id="10" name="TextBox 9"/>
          <p:cNvSpPr txBox="1"/>
          <p:nvPr/>
        </p:nvSpPr>
        <p:spPr>
          <a:xfrm>
            <a:off x="3255264" y="2569464"/>
            <a:ext cx="2971800" cy="219456"/>
          </a:xfrm>
          <a:prstGeom prst="rect">
            <a:avLst/>
          </a:prstGeom>
          <a:noFill/>
        </p:spPr>
        <p:txBody>
          <a:bodyPr wrap="square" lIns="0" rIns="0" tIns="0" bIns="0">
            <a:spAutoFit/>
          </a:bodyPr>
          <a:lstStyle/>
          <a:p>
            <a:pPr>
              <a:lnSpc>
                <a:spcPct val="112000"/>
              </a:lnSpc>
              <a:spcAft>
                <a:spcPts val="700"/>
              </a:spcAft>
              <a:defRPr sz="1100" b="1">
                <a:solidFill>
                  <a:srgbClr val="FFFFFF"/>
                </a:solidFill>
                <a:latin typeface="Aptos"/>
              </a:defRPr>
            </a:pPr>
            <a:r>
              <a:t>TECHNOLOGY</a:t>
            </a:r>
          </a:p>
        </p:txBody>
      </p:sp>
      <p:sp>
        <p:nvSpPr>
          <p:cNvPr id="11" name="TextBox 10"/>
          <p:cNvSpPr txBox="1"/>
          <p:nvPr/>
        </p:nvSpPr>
        <p:spPr>
          <a:xfrm>
            <a:off x="6537960" y="2569464"/>
            <a:ext cx="4709160" cy="219456"/>
          </a:xfrm>
          <a:prstGeom prst="rect">
            <a:avLst/>
          </a:prstGeom>
          <a:noFill/>
        </p:spPr>
        <p:txBody>
          <a:bodyPr wrap="square" lIns="0" rIns="0" tIns="0" bIns="0">
            <a:spAutoFit/>
          </a:bodyPr>
          <a:lstStyle/>
          <a:p>
            <a:pPr>
              <a:lnSpc>
                <a:spcPct val="112000"/>
              </a:lnSpc>
              <a:spcAft>
                <a:spcPts val="700"/>
              </a:spcAft>
              <a:defRPr sz="1100" b="1">
                <a:solidFill>
                  <a:srgbClr val="FFFFFF"/>
                </a:solidFill>
                <a:latin typeface="Aptos"/>
              </a:defRPr>
            </a:pPr>
            <a:r>
              <a:t>WHAT IT DOES</a:t>
            </a:r>
          </a:p>
        </p:txBody>
      </p:sp>
      <p:sp>
        <p:nvSpPr>
          <p:cNvPr id="12" name="Rectangle 11"/>
          <p:cNvSpPr/>
          <p:nvPr/>
        </p:nvSpPr>
        <p:spPr>
          <a:xfrm>
            <a:off x="594360" y="2907792"/>
            <a:ext cx="11000232" cy="4480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003804"/>
            <a:ext cx="2148840" cy="246888"/>
          </a:xfrm>
          <a:prstGeom prst="rect">
            <a:avLst/>
          </a:prstGeom>
          <a:noFill/>
        </p:spPr>
        <p:txBody>
          <a:bodyPr wrap="square" lIns="0" rIns="0" tIns="0" bIns="0">
            <a:spAutoFit/>
          </a:bodyPr>
          <a:lstStyle/>
          <a:p>
            <a:pPr>
              <a:lnSpc>
                <a:spcPct val="112000"/>
              </a:lnSpc>
              <a:spcAft>
                <a:spcPts val="700"/>
              </a:spcAft>
              <a:defRPr sz="1300" b="1">
                <a:solidFill>
                  <a:srgbClr val="236A54"/>
                </a:solidFill>
                <a:latin typeface="Aptos"/>
              </a:defRPr>
            </a:pPr>
            <a:r>
              <a:t>Frontend</a:t>
            </a:r>
          </a:p>
        </p:txBody>
      </p:sp>
      <p:sp>
        <p:nvSpPr>
          <p:cNvPr id="14" name="TextBox 13"/>
          <p:cNvSpPr txBox="1"/>
          <p:nvPr/>
        </p:nvSpPr>
        <p:spPr>
          <a:xfrm>
            <a:off x="3255264" y="3003804"/>
            <a:ext cx="3090672" cy="265176"/>
          </a:xfrm>
          <a:prstGeom prst="rect">
            <a:avLst/>
          </a:prstGeom>
          <a:noFill/>
        </p:spPr>
        <p:txBody>
          <a:bodyPr wrap="square" lIns="0" rIns="0" tIns="0" bIns="0">
            <a:spAutoFit/>
          </a:bodyPr>
          <a:lstStyle/>
          <a:p>
            <a:pPr>
              <a:lnSpc>
                <a:spcPct val="112000"/>
              </a:lnSpc>
              <a:spcAft>
                <a:spcPts val="700"/>
              </a:spcAft>
              <a:defRPr sz="1300" b="1">
                <a:solidFill>
                  <a:srgbClr val="193F35"/>
                </a:solidFill>
                <a:latin typeface="Aptos"/>
              </a:defRPr>
            </a:pPr>
            <a:r>
              <a:t>React + Vite</a:t>
            </a:r>
          </a:p>
        </p:txBody>
      </p:sp>
      <p:sp>
        <p:nvSpPr>
          <p:cNvPr id="15" name="TextBox 14"/>
          <p:cNvSpPr txBox="1"/>
          <p:nvPr/>
        </p:nvSpPr>
        <p:spPr>
          <a:xfrm>
            <a:off x="6537960" y="3003804"/>
            <a:ext cx="4791456" cy="274320"/>
          </a:xfrm>
          <a:prstGeom prst="rect">
            <a:avLst/>
          </a:prstGeom>
          <a:noFill/>
        </p:spPr>
        <p:txBody>
          <a:bodyPr wrap="square" lIns="0" rIns="0" tIns="0" bIns="0">
            <a:spAutoFit/>
          </a:bodyPr>
          <a:lstStyle/>
          <a:p>
            <a:pPr>
              <a:lnSpc>
                <a:spcPct val="112000"/>
              </a:lnSpc>
              <a:spcAft>
                <a:spcPts val="700"/>
              </a:spcAft>
              <a:defRPr sz="1300" b="0">
                <a:solidFill>
                  <a:srgbClr val="687E72"/>
                </a:solidFill>
                <a:latin typeface="Aptos"/>
              </a:defRPr>
            </a:pPr>
            <a:r>
              <a:t>Responsive patient and doctor portals.</a:t>
            </a:r>
          </a:p>
        </p:txBody>
      </p:sp>
      <p:sp>
        <p:nvSpPr>
          <p:cNvPr id="16" name="Rectangle 15"/>
          <p:cNvSpPr/>
          <p:nvPr/>
        </p:nvSpPr>
        <p:spPr>
          <a:xfrm>
            <a:off x="594360" y="3355848"/>
            <a:ext cx="11000232" cy="448056"/>
          </a:xfrm>
          <a:prstGeom prst="rect">
            <a:avLst/>
          </a:prstGeom>
          <a:solidFill>
            <a:srgbClr val="EDF2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3451860"/>
            <a:ext cx="2148840" cy="246888"/>
          </a:xfrm>
          <a:prstGeom prst="rect">
            <a:avLst/>
          </a:prstGeom>
          <a:noFill/>
        </p:spPr>
        <p:txBody>
          <a:bodyPr wrap="square" lIns="0" rIns="0" tIns="0" bIns="0">
            <a:spAutoFit/>
          </a:bodyPr>
          <a:lstStyle/>
          <a:p>
            <a:pPr>
              <a:lnSpc>
                <a:spcPct val="112000"/>
              </a:lnSpc>
              <a:spcAft>
                <a:spcPts val="700"/>
              </a:spcAft>
              <a:defRPr sz="1300" b="1">
                <a:solidFill>
                  <a:srgbClr val="236A54"/>
                </a:solidFill>
                <a:latin typeface="Aptos"/>
              </a:defRPr>
            </a:pPr>
            <a:r>
              <a:t>Backend</a:t>
            </a:r>
          </a:p>
        </p:txBody>
      </p:sp>
      <p:sp>
        <p:nvSpPr>
          <p:cNvPr id="18" name="TextBox 17"/>
          <p:cNvSpPr txBox="1"/>
          <p:nvPr/>
        </p:nvSpPr>
        <p:spPr>
          <a:xfrm>
            <a:off x="3255264" y="3451860"/>
            <a:ext cx="3090672" cy="265176"/>
          </a:xfrm>
          <a:prstGeom prst="rect">
            <a:avLst/>
          </a:prstGeom>
          <a:noFill/>
        </p:spPr>
        <p:txBody>
          <a:bodyPr wrap="square" lIns="0" rIns="0" tIns="0" bIns="0">
            <a:spAutoFit/>
          </a:bodyPr>
          <a:lstStyle/>
          <a:p>
            <a:pPr>
              <a:lnSpc>
                <a:spcPct val="112000"/>
              </a:lnSpc>
              <a:spcAft>
                <a:spcPts val="700"/>
              </a:spcAft>
              <a:defRPr sz="1300" b="1">
                <a:solidFill>
                  <a:srgbClr val="193F35"/>
                </a:solidFill>
                <a:latin typeface="Aptos"/>
              </a:defRPr>
            </a:pPr>
            <a:r>
              <a:t>Python HTTP API</a:t>
            </a:r>
          </a:p>
        </p:txBody>
      </p:sp>
      <p:sp>
        <p:nvSpPr>
          <p:cNvPr id="19" name="TextBox 18"/>
          <p:cNvSpPr txBox="1"/>
          <p:nvPr/>
        </p:nvSpPr>
        <p:spPr>
          <a:xfrm>
            <a:off x="6537960" y="3451860"/>
            <a:ext cx="4791456" cy="274320"/>
          </a:xfrm>
          <a:prstGeom prst="rect">
            <a:avLst/>
          </a:prstGeom>
          <a:noFill/>
        </p:spPr>
        <p:txBody>
          <a:bodyPr wrap="square" lIns="0" rIns="0" tIns="0" bIns="0">
            <a:spAutoFit/>
          </a:bodyPr>
          <a:lstStyle/>
          <a:p>
            <a:pPr>
              <a:lnSpc>
                <a:spcPct val="112000"/>
              </a:lnSpc>
              <a:spcAft>
                <a:spcPts val="700"/>
              </a:spcAft>
              <a:defRPr sz="1300" b="0">
                <a:solidFill>
                  <a:srgbClr val="687E72"/>
                </a:solidFill>
                <a:latin typeface="Aptos"/>
              </a:defRPr>
            </a:pPr>
            <a:r>
              <a:t>Authentication, clinical workflows and access checks.</a:t>
            </a:r>
          </a:p>
        </p:txBody>
      </p:sp>
      <p:sp>
        <p:nvSpPr>
          <p:cNvPr id="20" name="Rectangle 19"/>
          <p:cNvSpPr/>
          <p:nvPr/>
        </p:nvSpPr>
        <p:spPr>
          <a:xfrm>
            <a:off x="594360" y="3803904"/>
            <a:ext cx="11000232" cy="4480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8" y="3899916"/>
            <a:ext cx="2148840" cy="246888"/>
          </a:xfrm>
          <a:prstGeom prst="rect">
            <a:avLst/>
          </a:prstGeom>
          <a:noFill/>
        </p:spPr>
        <p:txBody>
          <a:bodyPr wrap="square" lIns="0" rIns="0" tIns="0" bIns="0">
            <a:spAutoFit/>
          </a:bodyPr>
          <a:lstStyle/>
          <a:p>
            <a:pPr>
              <a:lnSpc>
                <a:spcPct val="112000"/>
              </a:lnSpc>
              <a:spcAft>
                <a:spcPts val="700"/>
              </a:spcAft>
              <a:defRPr sz="1300" b="1">
                <a:solidFill>
                  <a:srgbClr val="236A54"/>
                </a:solidFill>
                <a:latin typeface="Aptos"/>
              </a:defRPr>
            </a:pPr>
            <a:r>
              <a:t>Database</a:t>
            </a:r>
          </a:p>
        </p:txBody>
      </p:sp>
      <p:sp>
        <p:nvSpPr>
          <p:cNvPr id="22" name="TextBox 21"/>
          <p:cNvSpPr txBox="1"/>
          <p:nvPr/>
        </p:nvSpPr>
        <p:spPr>
          <a:xfrm>
            <a:off x="3255264" y="3899916"/>
            <a:ext cx="3090672" cy="265176"/>
          </a:xfrm>
          <a:prstGeom prst="rect">
            <a:avLst/>
          </a:prstGeom>
          <a:noFill/>
        </p:spPr>
        <p:txBody>
          <a:bodyPr wrap="square" lIns="0" rIns="0" tIns="0" bIns="0">
            <a:spAutoFit/>
          </a:bodyPr>
          <a:lstStyle/>
          <a:p>
            <a:pPr>
              <a:lnSpc>
                <a:spcPct val="112000"/>
              </a:lnSpc>
              <a:spcAft>
                <a:spcPts val="700"/>
              </a:spcAft>
              <a:defRPr sz="1300" b="1">
                <a:solidFill>
                  <a:srgbClr val="193F35"/>
                </a:solidFill>
                <a:latin typeface="Aptos"/>
              </a:defRPr>
            </a:pPr>
            <a:r>
              <a:t>SQLite</a:t>
            </a:r>
          </a:p>
        </p:txBody>
      </p:sp>
      <p:sp>
        <p:nvSpPr>
          <p:cNvPr id="23" name="TextBox 22"/>
          <p:cNvSpPr txBox="1"/>
          <p:nvPr/>
        </p:nvSpPr>
        <p:spPr>
          <a:xfrm>
            <a:off x="6537960" y="3899916"/>
            <a:ext cx="4791456" cy="274320"/>
          </a:xfrm>
          <a:prstGeom prst="rect">
            <a:avLst/>
          </a:prstGeom>
          <a:noFill/>
        </p:spPr>
        <p:txBody>
          <a:bodyPr wrap="square" lIns="0" rIns="0" tIns="0" bIns="0">
            <a:spAutoFit/>
          </a:bodyPr>
          <a:lstStyle/>
          <a:p>
            <a:pPr>
              <a:lnSpc>
                <a:spcPct val="112000"/>
              </a:lnSpc>
              <a:spcAft>
                <a:spcPts val="700"/>
              </a:spcAft>
              <a:defRPr sz="1300" b="0">
                <a:solidFill>
                  <a:srgbClr val="687E72"/>
                </a:solidFill>
                <a:latin typeface="Aptos"/>
              </a:defRPr>
            </a:pPr>
            <a:r>
              <a:t>Stores records, consent, prescriptions and messages.</a:t>
            </a:r>
          </a:p>
        </p:txBody>
      </p:sp>
      <p:sp>
        <p:nvSpPr>
          <p:cNvPr id="24" name="Rectangle 23"/>
          <p:cNvSpPr/>
          <p:nvPr/>
        </p:nvSpPr>
        <p:spPr>
          <a:xfrm>
            <a:off x="594360" y="4251960"/>
            <a:ext cx="11000232" cy="448056"/>
          </a:xfrm>
          <a:prstGeom prst="rect">
            <a:avLst/>
          </a:prstGeom>
          <a:solidFill>
            <a:srgbClr val="EDF2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4347972"/>
            <a:ext cx="2148840" cy="246888"/>
          </a:xfrm>
          <a:prstGeom prst="rect">
            <a:avLst/>
          </a:prstGeom>
          <a:noFill/>
        </p:spPr>
        <p:txBody>
          <a:bodyPr wrap="square" lIns="0" rIns="0" tIns="0" bIns="0">
            <a:spAutoFit/>
          </a:bodyPr>
          <a:lstStyle/>
          <a:p>
            <a:pPr>
              <a:lnSpc>
                <a:spcPct val="112000"/>
              </a:lnSpc>
              <a:spcAft>
                <a:spcPts val="700"/>
              </a:spcAft>
              <a:defRPr sz="1300" b="1">
                <a:solidFill>
                  <a:srgbClr val="236A54"/>
                </a:solidFill>
                <a:latin typeface="Aptos"/>
              </a:defRPr>
            </a:pPr>
            <a:r>
              <a:t>Reminders</a:t>
            </a:r>
          </a:p>
        </p:txBody>
      </p:sp>
      <p:sp>
        <p:nvSpPr>
          <p:cNvPr id="26" name="TextBox 25"/>
          <p:cNvSpPr txBox="1"/>
          <p:nvPr/>
        </p:nvSpPr>
        <p:spPr>
          <a:xfrm>
            <a:off x="3255264" y="4347972"/>
            <a:ext cx="3090672" cy="265176"/>
          </a:xfrm>
          <a:prstGeom prst="rect">
            <a:avLst/>
          </a:prstGeom>
          <a:noFill/>
        </p:spPr>
        <p:txBody>
          <a:bodyPr wrap="square" lIns="0" rIns="0" tIns="0" bIns="0">
            <a:spAutoFit/>
          </a:bodyPr>
          <a:lstStyle/>
          <a:p>
            <a:pPr>
              <a:lnSpc>
                <a:spcPct val="112000"/>
              </a:lnSpc>
              <a:spcAft>
                <a:spcPts val="700"/>
              </a:spcAft>
              <a:defRPr sz="1300" b="1">
                <a:solidFill>
                  <a:srgbClr val="193F35"/>
                </a:solidFill>
                <a:latin typeface="Aptos"/>
              </a:defRPr>
            </a:pPr>
            <a:r>
              <a:t>Browser timers + notifications</a:t>
            </a:r>
          </a:p>
        </p:txBody>
      </p:sp>
      <p:sp>
        <p:nvSpPr>
          <p:cNvPr id="27" name="TextBox 26"/>
          <p:cNvSpPr txBox="1"/>
          <p:nvPr/>
        </p:nvSpPr>
        <p:spPr>
          <a:xfrm>
            <a:off x="6537960" y="4347972"/>
            <a:ext cx="4791456" cy="274320"/>
          </a:xfrm>
          <a:prstGeom prst="rect">
            <a:avLst/>
          </a:prstGeom>
          <a:noFill/>
        </p:spPr>
        <p:txBody>
          <a:bodyPr wrap="square" lIns="0" rIns="0" tIns="0" bIns="0">
            <a:spAutoFit/>
          </a:bodyPr>
          <a:lstStyle/>
          <a:p>
            <a:pPr>
              <a:lnSpc>
                <a:spcPct val="112000"/>
              </a:lnSpc>
              <a:spcAft>
                <a:spcPts val="700"/>
              </a:spcAft>
              <a:defRPr sz="1300" b="0">
                <a:solidFill>
                  <a:srgbClr val="687E72"/>
                </a:solidFill>
                <a:latin typeface="Aptos"/>
              </a:defRPr>
            </a:pPr>
            <a:r>
              <a:t>Shows due-dose alerts while the website is open.</a:t>
            </a:r>
          </a:p>
        </p:txBody>
      </p:sp>
      <p:sp>
        <p:nvSpPr>
          <p:cNvPr id="28" name="Rectangle 27"/>
          <p:cNvSpPr/>
          <p:nvPr/>
        </p:nvSpPr>
        <p:spPr>
          <a:xfrm>
            <a:off x="594360" y="4700016"/>
            <a:ext cx="11000232" cy="4480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5528" y="4796028"/>
            <a:ext cx="2148840" cy="246888"/>
          </a:xfrm>
          <a:prstGeom prst="rect">
            <a:avLst/>
          </a:prstGeom>
          <a:noFill/>
        </p:spPr>
        <p:txBody>
          <a:bodyPr wrap="square" lIns="0" rIns="0" tIns="0" bIns="0">
            <a:spAutoFit/>
          </a:bodyPr>
          <a:lstStyle/>
          <a:p>
            <a:pPr>
              <a:lnSpc>
                <a:spcPct val="112000"/>
              </a:lnSpc>
              <a:spcAft>
                <a:spcPts val="700"/>
              </a:spcAft>
              <a:defRPr sz="1300" b="1">
                <a:solidFill>
                  <a:srgbClr val="236A54"/>
                </a:solidFill>
                <a:latin typeface="Aptos"/>
              </a:defRPr>
            </a:pPr>
            <a:r>
              <a:t>Security</a:t>
            </a:r>
          </a:p>
        </p:txBody>
      </p:sp>
      <p:sp>
        <p:nvSpPr>
          <p:cNvPr id="30" name="TextBox 29"/>
          <p:cNvSpPr txBox="1"/>
          <p:nvPr/>
        </p:nvSpPr>
        <p:spPr>
          <a:xfrm>
            <a:off x="3255264" y="4796028"/>
            <a:ext cx="3090672" cy="265176"/>
          </a:xfrm>
          <a:prstGeom prst="rect">
            <a:avLst/>
          </a:prstGeom>
          <a:noFill/>
        </p:spPr>
        <p:txBody>
          <a:bodyPr wrap="square" lIns="0" rIns="0" tIns="0" bIns="0">
            <a:spAutoFit/>
          </a:bodyPr>
          <a:lstStyle/>
          <a:p>
            <a:pPr>
              <a:lnSpc>
                <a:spcPct val="112000"/>
              </a:lnSpc>
              <a:spcAft>
                <a:spcPts val="700"/>
              </a:spcAft>
              <a:defRPr sz="1300" b="1">
                <a:solidFill>
                  <a:srgbClr val="193F35"/>
                </a:solidFill>
                <a:latin typeface="Aptos"/>
              </a:defRPr>
            </a:pPr>
            <a:r>
              <a:t>scrypt + secure session controls</a:t>
            </a:r>
          </a:p>
        </p:txBody>
      </p:sp>
      <p:sp>
        <p:nvSpPr>
          <p:cNvPr id="31" name="TextBox 30"/>
          <p:cNvSpPr txBox="1"/>
          <p:nvPr/>
        </p:nvSpPr>
        <p:spPr>
          <a:xfrm>
            <a:off x="6537960" y="4796028"/>
            <a:ext cx="4791456" cy="274320"/>
          </a:xfrm>
          <a:prstGeom prst="rect">
            <a:avLst/>
          </a:prstGeom>
          <a:noFill/>
        </p:spPr>
        <p:txBody>
          <a:bodyPr wrap="square" lIns="0" rIns="0" tIns="0" bIns="0">
            <a:spAutoFit/>
          </a:bodyPr>
          <a:lstStyle/>
          <a:p>
            <a:pPr>
              <a:lnSpc>
                <a:spcPct val="112000"/>
              </a:lnSpc>
              <a:spcAft>
                <a:spcPts val="700"/>
              </a:spcAft>
              <a:defRPr sz="1300" b="0">
                <a:solidFill>
                  <a:srgbClr val="687E72"/>
                </a:solidFill>
                <a:latin typeface="Aptos"/>
              </a:defRPr>
            </a:pPr>
            <a:r>
              <a:t>Password hashing, HTTP-only cookies and CSRF checks.</a:t>
            </a:r>
          </a:p>
        </p:txBody>
      </p:sp>
      <p:sp>
        <p:nvSpPr>
          <p:cNvPr id="32" name="Rectangle 31"/>
          <p:cNvSpPr/>
          <p:nvPr/>
        </p:nvSpPr>
        <p:spPr>
          <a:xfrm>
            <a:off x="594360" y="5148072"/>
            <a:ext cx="11000232" cy="448056"/>
          </a:xfrm>
          <a:prstGeom prst="rect">
            <a:avLst/>
          </a:prstGeom>
          <a:solidFill>
            <a:srgbClr val="EDF2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8" y="5244084"/>
            <a:ext cx="2148840" cy="246888"/>
          </a:xfrm>
          <a:prstGeom prst="rect">
            <a:avLst/>
          </a:prstGeom>
          <a:noFill/>
        </p:spPr>
        <p:txBody>
          <a:bodyPr wrap="square" lIns="0" rIns="0" tIns="0" bIns="0">
            <a:spAutoFit/>
          </a:bodyPr>
          <a:lstStyle/>
          <a:p>
            <a:pPr>
              <a:lnSpc>
                <a:spcPct val="112000"/>
              </a:lnSpc>
              <a:spcAft>
                <a:spcPts val="700"/>
              </a:spcAft>
              <a:defRPr sz="1300" b="1">
                <a:solidFill>
                  <a:srgbClr val="236A54"/>
                </a:solidFill>
                <a:latin typeface="Aptos"/>
              </a:defRPr>
            </a:pPr>
            <a:r>
              <a:t>Development</a:t>
            </a:r>
          </a:p>
        </p:txBody>
      </p:sp>
      <p:sp>
        <p:nvSpPr>
          <p:cNvPr id="34" name="TextBox 33"/>
          <p:cNvSpPr txBox="1"/>
          <p:nvPr/>
        </p:nvSpPr>
        <p:spPr>
          <a:xfrm>
            <a:off x="3255264" y="5244084"/>
            <a:ext cx="3090672" cy="265176"/>
          </a:xfrm>
          <a:prstGeom prst="rect">
            <a:avLst/>
          </a:prstGeom>
          <a:noFill/>
        </p:spPr>
        <p:txBody>
          <a:bodyPr wrap="square" lIns="0" rIns="0" tIns="0" bIns="0">
            <a:spAutoFit/>
          </a:bodyPr>
          <a:lstStyle/>
          <a:p>
            <a:pPr>
              <a:lnSpc>
                <a:spcPct val="112000"/>
              </a:lnSpc>
              <a:spcAft>
                <a:spcPts val="700"/>
              </a:spcAft>
              <a:defRPr sz="1300" b="1">
                <a:solidFill>
                  <a:srgbClr val="193F35"/>
                </a:solidFill>
                <a:latin typeface="Aptos"/>
              </a:defRPr>
            </a:pPr>
            <a:r>
              <a:t>VS Code + GitHub + automated tests</a:t>
            </a:r>
          </a:p>
        </p:txBody>
      </p:sp>
      <p:sp>
        <p:nvSpPr>
          <p:cNvPr id="35" name="TextBox 34"/>
          <p:cNvSpPr txBox="1"/>
          <p:nvPr/>
        </p:nvSpPr>
        <p:spPr>
          <a:xfrm>
            <a:off x="6537960" y="5244084"/>
            <a:ext cx="4791456" cy="274320"/>
          </a:xfrm>
          <a:prstGeom prst="rect">
            <a:avLst/>
          </a:prstGeom>
          <a:noFill/>
        </p:spPr>
        <p:txBody>
          <a:bodyPr wrap="square" lIns="0" rIns="0" tIns="0" bIns="0">
            <a:spAutoFit/>
          </a:bodyPr>
          <a:lstStyle/>
          <a:p>
            <a:pPr>
              <a:lnSpc>
                <a:spcPct val="112000"/>
              </a:lnSpc>
              <a:spcAft>
                <a:spcPts val="700"/>
              </a:spcAft>
              <a:defRPr sz="1300" b="0">
                <a:solidFill>
                  <a:srgbClr val="687E72"/>
                </a:solidFill>
                <a:latin typeface="Aptos"/>
              </a:defRPr>
            </a:pPr>
            <a:r>
              <a:t>Local setup, source delivery and workflow validation.</a:t>
            </a:r>
          </a:p>
        </p:txBody>
      </p:sp>
      <p:sp>
        <p:nvSpPr>
          <p:cNvPr id="36" name="TextBox 35"/>
          <p:cNvSpPr txBox="1"/>
          <p:nvPr/>
        </p:nvSpPr>
        <p:spPr>
          <a:xfrm>
            <a:off x="777240" y="5815584"/>
            <a:ext cx="10735056" cy="374904"/>
          </a:xfrm>
          <a:prstGeom prst="rect">
            <a:avLst/>
          </a:prstGeom>
          <a:noFill/>
        </p:spPr>
        <p:txBody>
          <a:bodyPr wrap="square" lIns="0" rIns="0" tIns="0" bIns="0">
            <a:spAutoFit/>
          </a:bodyPr>
          <a:lstStyle/>
          <a:p>
            <a:pPr>
              <a:lnSpc>
                <a:spcPct val="112000"/>
              </a:lnSpc>
              <a:spcAft>
                <a:spcPts val="700"/>
              </a:spcAft>
              <a:defRPr sz="1300" b="1">
                <a:solidFill>
                  <a:srgbClr val="BD7C66"/>
                </a:solidFill>
                <a:latin typeface="Aptos"/>
              </a:defRPr>
            </a:pPr>
            <a:r>
              <a:t>Production upgrades proposed: FastAPI, MySQL, encrypted storage and durable reminder workers.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7F0"/>
        </a:solidFill>
        <a:effectLst/>
      </p:bgPr>
    </p:bg>
    <p:spTree>
      <p:nvGrpSpPr>
        <p:cNvPr id="1" name=""/>
        <p:cNvGrpSpPr/>
        <p:nvPr/>
      </p:nvGrpSpPr>
      <p:grpSpPr/>
      <p:sp>
        <p:nvSpPr>
          <p:cNvPr id="2" name="TextBox 1"/>
          <p:cNvSpPr txBox="1"/>
          <p:nvPr/>
        </p:nvSpPr>
        <p:spPr>
          <a:xfrm>
            <a:off x="594360" y="292608"/>
            <a:ext cx="6400800"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03 / WEBSITE ARCHITECTURE</a:t>
            </a:r>
          </a:p>
        </p:txBody>
      </p:sp>
      <p:sp>
        <p:nvSpPr>
          <p:cNvPr id="3" name="TextBox 2"/>
          <p:cNvSpPr txBox="1"/>
          <p:nvPr/>
        </p:nvSpPr>
        <p:spPr>
          <a:xfrm>
            <a:off x="594360" y="804672"/>
            <a:ext cx="10972800" cy="914400"/>
          </a:xfrm>
          <a:prstGeom prst="rect">
            <a:avLst/>
          </a:prstGeom>
          <a:noFill/>
        </p:spPr>
        <p:txBody>
          <a:bodyPr wrap="square" lIns="0" rIns="0" tIns="0" bIns="0">
            <a:spAutoFit/>
          </a:bodyPr>
          <a:lstStyle/>
          <a:p>
            <a:pPr>
              <a:lnSpc>
                <a:spcPct val="112000"/>
              </a:lnSpc>
              <a:spcAft>
                <a:spcPts val="700"/>
              </a:spcAft>
              <a:defRPr sz="3200" b="1">
                <a:solidFill>
                  <a:srgbClr val="193F35"/>
                </a:solidFill>
                <a:latin typeface="Aptos"/>
              </a:defRPr>
            </a:pPr>
            <a:r>
              <a:t>Architecture: one backend, strict data boundaries</a:t>
            </a:r>
          </a:p>
        </p:txBody>
      </p:sp>
      <p:sp>
        <p:nvSpPr>
          <p:cNvPr id="4" name="TextBox 3"/>
          <p:cNvSpPr txBox="1"/>
          <p:nvPr/>
        </p:nvSpPr>
        <p:spPr>
          <a:xfrm>
            <a:off x="612648" y="1709928"/>
            <a:ext cx="10972800" cy="566928"/>
          </a:xfrm>
          <a:prstGeom prst="rect">
            <a:avLst/>
          </a:prstGeom>
          <a:noFill/>
        </p:spPr>
        <p:txBody>
          <a:bodyPr wrap="square" lIns="0" rIns="0" tIns="0" bIns="0">
            <a:spAutoFit/>
          </a:bodyPr>
          <a:lstStyle/>
          <a:p>
            <a:pPr>
              <a:lnSpc>
                <a:spcPct val="112000"/>
              </a:lnSpc>
              <a:spcAft>
                <a:spcPts val="700"/>
              </a:spcAft>
              <a:defRPr sz="1500" b="0">
                <a:solidFill>
                  <a:srgbClr val="687E72"/>
                </a:solidFill>
                <a:latin typeface="Aptos"/>
              </a:defRPr>
            </a:pPr>
            <a:r>
              <a:t>Every medical request passes authorization before a patient-scoped database query.</a:t>
            </a:r>
          </a:p>
        </p:txBody>
      </p:sp>
      <p:sp>
        <p:nvSpPr>
          <p:cNvPr id="5" name="Rectangle 4"/>
          <p:cNvSpPr/>
          <p:nvPr/>
        </p:nvSpPr>
        <p:spPr>
          <a:xfrm>
            <a:off x="594360" y="6446520"/>
            <a:ext cx="11000232" cy="10972"/>
          </a:xfrm>
          <a:prstGeom prst="rect">
            <a:avLst/>
          </a:prstGeom>
          <a:solidFill>
            <a:srgbClr val="DCE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7315200" cy="164592"/>
          </a:xfrm>
          <a:prstGeom prst="rect">
            <a:avLst/>
          </a:prstGeom>
          <a:noFill/>
        </p:spPr>
        <p:txBody>
          <a:bodyPr wrap="square" lIns="0" rIns="0" tIns="0" bIns="0">
            <a:spAutoFit/>
          </a:bodyPr>
          <a:lstStyle/>
          <a:p>
            <a:pPr>
              <a:lnSpc>
                <a:spcPct val="112000"/>
              </a:lnSpc>
              <a:spcAft>
                <a:spcPts val="700"/>
              </a:spcAft>
              <a:defRPr sz="800" b="1">
                <a:solidFill>
                  <a:srgbClr val="687E72"/>
                </a:solidFill>
                <a:latin typeface="Aptos"/>
              </a:defRPr>
            </a:pPr>
            <a:r>
              <a:t>DIGITAL MEDICO   •   CARE, CONNECTED.</a:t>
            </a:r>
          </a:p>
        </p:txBody>
      </p:sp>
      <p:sp>
        <p:nvSpPr>
          <p:cNvPr id="7" name="TextBox 6"/>
          <p:cNvSpPr txBox="1"/>
          <p:nvPr/>
        </p:nvSpPr>
        <p:spPr>
          <a:xfrm>
            <a:off x="10881360" y="6510528"/>
            <a:ext cx="731520" cy="228600"/>
          </a:xfrm>
          <a:prstGeom prst="rect">
            <a:avLst/>
          </a:prstGeom>
          <a:noFill/>
        </p:spPr>
        <p:txBody>
          <a:bodyPr wrap="square" lIns="0" rIns="0" tIns="0" bIns="0">
            <a:spAutoFit/>
          </a:bodyPr>
          <a:lstStyle/>
          <a:p>
            <a:pPr algn="r">
              <a:lnSpc>
                <a:spcPct val="112000"/>
              </a:lnSpc>
              <a:spcAft>
                <a:spcPts val="700"/>
              </a:spcAft>
              <a:defRPr sz="900" b="0">
                <a:solidFill>
                  <a:srgbClr val="687E72"/>
                </a:solidFill>
                <a:latin typeface="Aptos"/>
              </a:defRPr>
            </a:pPr>
            <a:r>
              <a:t>04 / 07</a:t>
            </a:r>
          </a:p>
        </p:txBody>
      </p:sp>
      <p:sp>
        <p:nvSpPr>
          <p:cNvPr id="8" name="Rounded Rectangle 7"/>
          <p:cNvSpPr/>
          <p:nvPr/>
        </p:nvSpPr>
        <p:spPr>
          <a:xfrm>
            <a:off x="594360" y="2487168"/>
            <a:ext cx="2404872" cy="2907792"/>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2697480"/>
            <a:ext cx="1975104"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REACT WEBSITE</a:t>
            </a:r>
          </a:p>
        </p:txBody>
      </p:sp>
      <p:sp>
        <p:nvSpPr>
          <p:cNvPr id="10" name="TextBox 9"/>
          <p:cNvSpPr txBox="1"/>
          <p:nvPr/>
        </p:nvSpPr>
        <p:spPr>
          <a:xfrm>
            <a:off x="795528" y="3209544"/>
            <a:ext cx="1984248" cy="566928"/>
          </a:xfrm>
          <a:prstGeom prst="rect">
            <a:avLst/>
          </a:prstGeom>
          <a:noFill/>
        </p:spPr>
        <p:txBody>
          <a:bodyPr wrap="square" lIns="0" rIns="0" tIns="0" bIns="0">
            <a:spAutoFit/>
          </a:bodyPr>
          <a:lstStyle/>
          <a:p>
            <a:pPr>
              <a:lnSpc>
                <a:spcPct val="112000"/>
              </a:lnSpc>
              <a:spcAft>
                <a:spcPts val="700"/>
              </a:spcAft>
              <a:defRPr sz="2100" b="1">
                <a:solidFill>
                  <a:srgbClr val="193F35"/>
                </a:solidFill>
                <a:latin typeface="Aptos"/>
              </a:defRPr>
            </a:pPr>
            <a:r>
              <a:t>Patient portal</a:t>
            </a:r>
          </a:p>
          <a:p>
            <a:pPr>
              <a:lnSpc>
                <a:spcPct val="112000"/>
              </a:lnSpc>
              <a:spcAft>
                <a:spcPts val="700"/>
              </a:spcAft>
              <a:defRPr sz="2100" b="1">
                <a:solidFill>
                  <a:srgbClr val="193F35"/>
                </a:solidFill>
                <a:latin typeface="Aptos"/>
              </a:defRPr>
            </a:pPr>
            <a:r>
              <a:t>Doctor portal</a:t>
            </a:r>
          </a:p>
        </p:txBody>
      </p:sp>
      <p:sp>
        <p:nvSpPr>
          <p:cNvPr id="11" name="TextBox 10"/>
          <p:cNvSpPr txBox="1"/>
          <p:nvPr/>
        </p:nvSpPr>
        <p:spPr>
          <a:xfrm>
            <a:off x="795528" y="4425696"/>
            <a:ext cx="1993392" cy="566928"/>
          </a:xfrm>
          <a:prstGeom prst="rect">
            <a:avLst/>
          </a:prstGeom>
          <a:noFill/>
        </p:spPr>
        <p:txBody>
          <a:bodyPr wrap="square" lIns="0" rIns="0" tIns="0" bIns="0">
            <a:spAutoFit/>
          </a:bodyPr>
          <a:lstStyle/>
          <a:p>
            <a:pPr>
              <a:lnSpc>
                <a:spcPct val="112000"/>
              </a:lnSpc>
              <a:spcAft>
                <a:spcPts val="700"/>
              </a:spcAft>
              <a:defRPr sz="1400" b="0">
                <a:solidFill>
                  <a:srgbClr val="687E72"/>
                </a:solidFill>
                <a:latin typeface="Aptos"/>
              </a:defRPr>
            </a:pPr>
            <a:r>
              <a:t>Same-origin requests</a:t>
            </a:r>
          </a:p>
          <a:p>
            <a:pPr>
              <a:lnSpc>
                <a:spcPct val="112000"/>
              </a:lnSpc>
              <a:spcAft>
                <a:spcPts val="700"/>
              </a:spcAft>
              <a:defRPr sz="1400" b="0">
                <a:solidFill>
                  <a:srgbClr val="687E72"/>
                </a:solidFill>
                <a:latin typeface="Aptos"/>
              </a:defRPr>
            </a:pPr>
            <a:r>
              <a:t>to the Python API.</a:t>
            </a:r>
          </a:p>
        </p:txBody>
      </p:sp>
      <p:sp>
        <p:nvSpPr>
          <p:cNvPr id="12" name="Chevron 11"/>
          <p:cNvSpPr/>
          <p:nvPr/>
        </p:nvSpPr>
        <p:spPr>
          <a:xfrm>
            <a:off x="3191256" y="3739896"/>
            <a:ext cx="219456" cy="320040"/>
          </a:xfrm>
          <a:prstGeom prst="chevron">
            <a:avLst/>
          </a:prstGeom>
          <a:solidFill>
            <a:srgbClr val="23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21024" y="2487168"/>
            <a:ext cx="4745736" cy="2907792"/>
          </a:xfrm>
          <a:prstGeom prst="roundRect">
            <a:avLst>
              <a:gd name="adj" fmla="val 12000"/>
            </a:avLst>
          </a:prstGeom>
          <a:solidFill>
            <a:srgbClr val="DA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0" y="2697480"/>
            <a:ext cx="4306824"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PYTHON BACKEND API</a:t>
            </a:r>
          </a:p>
        </p:txBody>
      </p:sp>
      <p:sp>
        <p:nvSpPr>
          <p:cNvPr id="15" name="TextBox 14"/>
          <p:cNvSpPr txBox="1"/>
          <p:nvPr/>
        </p:nvSpPr>
        <p:spPr>
          <a:xfrm>
            <a:off x="3840480" y="3163824"/>
            <a:ext cx="4315968" cy="384048"/>
          </a:xfrm>
          <a:prstGeom prst="rect">
            <a:avLst/>
          </a:prstGeom>
          <a:noFill/>
        </p:spPr>
        <p:txBody>
          <a:bodyPr wrap="square" lIns="0" rIns="0" tIns="0" bIns="0">
            <a:spAutoFit/>
          </a:bodyPr>
          <a:lstStyle/>
          <a:p>
            <a:pPr>
              <a:lnSpc>
                <a:spcPct val="112000"/>
              </a:lnSpc>
              <a:spcAft>
                <a:spcPts val="700"/>
              </a:spcAft>
              <a:defRPr sz="2100" b="1">
                <a:solidFill>
                  <a:srgbClr val="236A54"/>
                </a:solidFill>
                <a:latin typeface="Aptos"/>
              </a:defRPr>
            </a:pPr>
            <a:r>
              <a:t>Authentication + authorization</a:t>
            </a:r>
          </a:p>
        </p:txBody>
      </p:sp>
      <p:sp>
        <p:nvSpPr>
          <p:cNvPr id="16" name="TextBox 15"/>
          <p:cNvSpPr txBox="1"/>
          <p:nvPr/>
        </p:nvSpPr>
        <p:spPr>
          <a:xfrm>
            <a:off x="3840480" y="3685032"/>
            <a:ext cx="4315968" cy="475488"/>
          </a:xfrm>
          <a:prstGeom prst="rect">
            <a:avLst/>
          </a:prstGeom>
          <a:noFill/>
        </p:spPr>
        <p:txBody>
          <a:bodyPr wrap="square" lIns="0" rIns="0" tIns="0" bIns="0">
            <a:spAutoFit/>
          </a:bodyPr>
          <a:lstStyle/>
          <a:p>
            <a:pPr>
              <a:lnSpc>
                <a:spcPct val="112000"/>
              </a:lnSpc>
              <a:spcAft>
                <a:spcPts val="700"/>
              </a:spcAft>
              <a:defRPr sz="1500" b="0">
                <a:solidFill>
                  <a:srgbClr val="236A54"/>
                </a:solidFill>
                <a:latin typeface="Aptos"/>
              </a:defRPr>
            </a:pPr>
            <a:r>
              <a:t>Session → role → assignment → consent</a:t>
            </a:r>
          </a:p>
        </p:txBody>
      </p:sp>
      <p:sp>
        <p:nvSpPr>
          <p:cNvPr id="17" name="Rounded Rectangle 16"/>
          <p:cNvSpPr/>
          <p:nvPr/>
        </p:nvSpPr>
        <p:spPr>
          <a:xfrm>
            <a:off x="3840480" y="4425696"/>
            <a:ext cx="1938528" cy="33832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31920" y="4498848"/>
            <a:ext cx="1746504" cy="182880"/>
          </a:xfrm>
          <a:prstGeom prst="rect">
            <a:avLst/>
          </a:prstGeom>
          <a:noFill/>
        </p:spPr>
        <p:txBody>
          <a:bodyPr wrap="square" lIns="0" rIns="0" tIns="0" bIns="0">
            <a:spAutoFit/>
          </a:bodyPr>
          <a:lstStyle/>
          <a:p>
            <a:pPr>
              <a:lnSpc>
                <a:spcPct val="112000"/>
              </a:lnSpc>
              <a:spcAft>
                <a:spcPts val="700"/>
              </a:spcAft>
              <a:defRPr sz="1100" b="1">
                <a:solidFill>
                  <a:srgbClr val="236A54"/>
                </a:solidFill>
                <a:latin typeface="Aptos"/>
              </a:defRPr>
            </a:pPr>
            <a:r>
              <a:t>Medical records</a:t>
            </a:r>
          </a:p>
        </p:txBody>
      </p:sp>
      <p:sp>
        <p:nvSpPr>
          <p:cNvPr id="19" name="Rounded Rectangle 18"/>
          <p:cNvSpPr/>
          <p:nvPr/>
        </p:nvSpPr>
        <p:spPr>
          <a:xfrm>
            <a:off x="6007608" y="4425696"/>
            <a:ext cx="1938528" cy="33832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9048" y="4498848"/>
            <a:ext cx="1746504" cy="182880"/>
          </a:xfrm>
          <a:prstGeom prst="rect">
            <a:avLst/>
          </a:prstGeom>
          <a:noFill/>
        </p:spPr>
        <p:txBody>
          <a:bodyPr wrap="square" lIns="0" rIns="0" tIns="0" bIns="0">
            <a:spAutoFit/>
          </a:bodyPr>
          <a:lstStyle/>
          <a:p>
            <a:pPr>
              <a:lnSpc>
                <a:spcPct val="112000"/>
              </a:lnSpc>
              <a:spcAft>
                <a:spcPts val="700"/>
              </a:spcAft>
              <a:defRPr sz="1100" b="1">
                <a:solidFill>
                  <a:srgbClr val="236A54"/>
                </a:solidFill>
                <a:latin typeface="Aptos"/>
              </a:defRPr>
            </a:pPr>
            <a:r>
              <a:t>Emergency profile</a:t>
            </a:r>
          </a:p>
        </p:txBody>
      </p:sp>
      <p:sp>
        <p:nvSpPr>
          <p:cNvPr id="21" name="Rounded Rectangle 20"/>
          <p:cNvSpPr/>
          <p:nvPr/>
        </p:nvSpPr>
        <p:spPr>
          <a:xfrm>
            <a:off x="3840480" y="4846320"/>
            <a:ext cx="1938528" cy="33832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4919472"/>
            <a:ext cx="1746504" cy="182880"/>
          </a:xfrm>
          <a:prstGeom prst="rect">
            <a:avLst/>
          </a:prstGeom>
          <a:noFill/>
        </p:spPr>
        <p:txBody>
          <a:bodyPr wrap="square" lIns="0" rIns="0" tIns="0" bIns="0">
            <a:spAutoFit/>
          </a:bodyPr>
          <a:lstStyle/>
          <a:p>
            <a:pPr>
              <a:lnSpc>
                <a:spcPct val="112000"/>
              </a:lnSpc>
              <a:spcAft>
                <a:spcPts val="700"/>
              </a:spcAft>
              <a:defRPr sz="1100" b="1">
                <a:solidFill>
                  <a:srgbClr val="236A54"/>
                </a:solidFill>
                <a:latin typeface="Aptos"/>
              </a:defRPr>
            </a:pPr>
            <a:r>
              <a:t>Prescriptions</a:t>
            </a:r>
          </a:p>
        </p:txBody>
      </p:sp>
      <p:sp>
        <p:nvSpPr>
          <p:cNvPr id="23" name="Rounded Rectangle 22"/>
          <p:cNvSpPr/>
          <p:nvPr/>
        </p:nvSpPr>
        <p:spPr>
          <a:xfrm>
            <a:off x="6007608" y="4846320"/>
            <a:ext cx="1938528" cy="33832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9048" y="4919472"/>
            <a:ext cx="1746504" cy="182880"/>
          </a:xfrm>
          <a:prstGeom prst="rect">
            <a:avLst/>
          </a:prstGeom>
          <a:noFill/>
        </p:spPr>
        <p:txBody>
          <a:bodyPr wrap="square" lIns="0" rIns="0" tIns="0" bIns="0">
            <a:spAutoFit/>
          </a:bodyPr>
          <a:lstStyle/>
          <a:p>
            <a:pPr>
              <a:lnSpc>
                <a:spcPct val="112000"/>
              </a:lnSpc>
              <a:spcAft>
                <a:spcPts val="700"/>
              </a:spcAft>
              <a:defRPr sz="1100" b="1">
                <a:solidFill>
                  <a:srgbClr val="236A54"/>
                </a:solidFill>
                <a:latin typeface="Aptos"/>
              </a:defRPr>
            </a:pPr>
            <a:r>
              <a:t>Doctoc / replies</a:t>
            </a:r>
          </a:p>
        </p:txBody>
      </p:sp>
      <p:sp>
        <p:nvSpPr>
          <p:cNvPr id="25" name="Chevron 24"/>
          <p:cNvSpPr/>
          <p:nvPr/>
        </p:nvSpPr>
        <p:spPr>
          <a:xfrm>
            <a:off x="8586216" y="3739896"/>
            <a:ext cx="219456" cy="320040"/>
          </a:xfrm>
          <a:prstGeom prst="chevron">
            <a:avLst/>
          </a:prstGeom>
          <a:solidFill>
            <a:srgbClr val="236A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006840" y="2487168"/>
            <a:ext cx="2587752" cy="2907792"/>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98864" y="2697480"/>
            <a:ext cx="2194560"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SQLITE DATABASE</a:t>
            </a:r>
          </a:p>
        </p:txBody>
      </p:sp>
      <p:sp>
        <p:nvSpPr>
          <p:cNvPr id="28" name="TextBox 27"/>
          <p:cNvSpPr txBox="1"/>
          <p:nvPr/>
        </p:nvSpPr>
        <p:spPr>
          <a:xfrm>
            <a:off x="9198864" y="3209544"/>
            <a:ext cx="2194560" cy="502920"/>
          </a:xfrm>
          <a:prstGeom prst="rect">
            <a:avLst/>
          </a:prstGeom>
          <a:noFill/>
        </p:spPr>
        <p:txBody>
          <a:bodyPr wrap="square" lIns="0" rIns="0" tIns="0" bIns="0">
            <a:spAutoFit/>
          </a:bodyPr>
          <a:lstStyle/>
          <a:p>
            <a:pPr>
              <a:lnSpc>
                <a:spcPct val="112000"/>
              </a:lnSpc>
              <a:spcAft>
                <a:spcPts val="700"/>
              </a:spcAft>
              <a:defRPr sz="2000" b="1">
                <a:solidFill>
                  <a:srgbClr val="193F35"/>
                </a:solidFill>
                <a:latin typeface="Aptos"/>
              </a:defRPr>
            </a:pPr>
            <a:r>
              <a:t>Patient-owned</a:t>
            </a:r>
          </a:p>
          <a:p>
            <a:pPr>
              <a:lnSpc>
                <a:spcPct val="112000"/>
              </a:lnSpc>
              <a:spcAft>
                <a:spcPts val="700"/>
              </a:spcAft>
              <a:defRPr sz="2000" b="1">
                <a:solidFill>
                  <a:srgbClr val="193F35"/>
                </a:solidFill>
                <a:latin typeface="Aptos"/>
              </a:defRPr>
            </a:pPr>
            <a:r>
              <a:t>medical data</a:t>
            </a:r>
          </a:p>
        </p:txBody>
      </p:sp>
      <p:sp>
        <p:nvSpPr>
          <p:cNvPr id="29" name="TextBox 28"/>
          <p:cNvSpPr txBox="1"/>
          <p:nvPr/>
        </p:nvSpPr>
        <p:spPr>
          <a:xfrm>
            <a:off x="9198864" y="4407408"/>
            <a:ext cx="2194560" cy="621792"/>
          </a:xfrm>
          <a:prstGeom prst="rect">
            <a:avLst/>
          </a:prstGeom>
          <a:noFill/>
        </p:spPr>
        <p:txBody>
          <a:bodyPr wrap="square" lIns="0" rIns="0" tIns="0" bIns="0">
            <a:spAutoFit/>
          </a:bodyPr>
          <a:lstStyle/>
          <a:p>
            <a:pPr>
              <a:lnSpc>
                <a:spcPct val="112000"/>
              </a:lnSpc>
              <a:spcAft>
                <a:spcPts val="700"/>
              </a:spcAft>
              <a:defRPr sz="1400" b="0">
                <a:solidFill>
                  <a:srgbClr val="687E72"/>
                </a:solidFill>
                <a:latin typeface="Aptos"/>
              </a:defRPr>
            </a:pPr>
            <a:r>
              <a:t>Clinical records, dose logs, consent and audit events.</a:t>
            </a:r>
          </a:p>
        </p:txBody>
      </p:sp>
      <p:sp>
        <p:nvSpPr>
          <p:cNvPr id="30" name="Rounded Rectangle 29"/>
          <p:cNvSpPr/>
          <p:nvPr/>
        </p:nvSpPr>
        <p:spPr>
          <a:xfrm>
            <a:off x="594360" y="5614416"/>
            <a:ext cx="11000232" cy="493776"/>
          </a:xfrm>
          <a:prstGeom prst="roundRect">
            <a:avLst>
              <a:gd name="adj" fmla="val 12000"/>
            </a:avLst>
          </a:prstGeom>
          <a:solidFill>
            <a:srgbClr val="123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733288"/>
            <a:ext cx="10570464" cy="274320"/>
          </a:xfrm>
          <a:prstGeom prst="rect">
            <a:avLst/>
          </a:prstGeom>
          <a:noFill/>
        </p:spPr>
        <p:txBody>
          <a:bodyPr wrap="square" lIns="0" rIns="0" tIns="0" bIns="0">
            <a:spAutoFit/>
          </a:bodyPr>
          <a:lstStyle/>
          <a:p>
            <a:pPr>
              <a:lnSpc>
                <a:spcPct val="112000"/>
              </a:lnSpc>
              <a:spcAft>
                <a:spcPts val="700"/>
              </a:spcAft>
              <a:defRPr sz="1400" b="1">
                <a:solidFill>
                  <a:srgbClr val="FFFFFF"/>
                </a:solidFill>
                <a:latin typeface="Aptos"/>
              </a:defRPr>
            </a:pPr>
            <a:r>
              <a:t>The UI cannot grant access. Unauthorized API requests are rejected, even with a known patient 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7F0"/>
        </a:solidFill>
        <a:effectLst/>
      </p:bgPr>
    </p:bg>
    <p:spTree>
      <p:nvGrpSpPr>
        <p:cNvPr id="1" name=""/>
        <p:cNvGrpSpPr/>
        <p:nvPr/>
      </p:nvGrpSpPr>
      <p:grpSpPr/>
      <p:sp>
        <p:nvSpPr>
          <p:cNvPr id="2" name="TextBox 1"/>
          <p:cNvSpPr txBox="1"/>
          <p:nvPr/>
        </p:nvSpPr>
        <p:spPr>
          <a:xfrm>
            <a:off x="594360" y="292608"/>
            <a:ext cx="6400800"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04 / CORE FEATURE WORKING</a:t>
            </a:r>
          </a:p>
        </p:txBody>
      </p:sp>
      <p:sp>
        <p:nvSpPr>
          <p:cNvPr id="3" name="TextBox 2"/>
          <p:cNvSpPr txBox="1"/>
          <p:nvPr/>
        </p:nvSpPr>
        <p:spPr>
          <a:xfrm>
            <a:off x="594360" y="804672"/>
            <a:ext cx="10972800" cy="914400"/>
          </a:xfrm>
          <a:prstGeom prst="rect">
            <a:avLst/>
          </a:prstGeom>
          <a:noFill/>
        </p:spPr>
        <p:txBody>
          <a:bodyPr wrap="square" lIns="0" rIns="0" tIns="0" bIns="0">
            <a:spAutoFit/>
          </a:bodyPr>
          <a:lstStyle/>
          <a:p>
            <a:pPr>
              <a:lnSpc>
                <a:spcPct val="112000"/>
              </a:lnSpc>
              <a:spcAft>
                <a:spcPts val="700"/>
              </a:spcAft>
              <a:defRPr sz="3200" b="1">
                <a:solidFill>
                  <a:srgbClr val="193F35"/>
                </a:solidFill>
                <a:latin typeface="Aptos"/>
              </a:defRPr>
            </a:pPr>
            <a:r>
              <a:t>Three features, explained clearly</a:t>
            </a:r>
          </a:p>
        </p:txBody>
      </p:sp>
      <p:sp>
        <p:nvSpPr>
          <p:cNvPr id="4" name="TextBox 3"/>
          <p:cNvSpPr txBox="1"/>
          <p:nvPr/>
        </p:nvSpPr>
        <p:spPr>
          <a:xfrm>
            <a:off x="612648" y="1709928"/>
            <a:ext cx="10972800" cy="566928"/>
          </a:xfrm>
          <a:prstGeom prst="rect">
            <a:avLst/>
          </a:prstGeom>
          <a:noFill/>
        </p:spPr>
        <p:txBody>
          <a:bodyPr wrap="square" lIns="0" rIns="0" tIns="0" bIns="0">
            <a:spAutoFit/>
          </a:bodyPr>
          <a:lstStyle/>
          <a:p>
            <a:pPr>
              <a:lnSpc>
                <a:spcPct val="112000"/>
              </a:lnSpc>
              <a:spcAft>
                <a:spcPts val="700"/>
              </a:spcAft>
              <a:defRPr sz="1500" b="0">
                <a:solidFill>
                  <a:srgbClr val="687E72"/>
                </a:solidFill>
                <a:latin typeface="Aptos"/>
              </a:defRPr>
            </a:pPr>
            <a:r>
              <a:t>Connected history, safe communication and medication adherence.</a:t>
            </a:r>
          </a:p>
        </p:txBody>
      </p:sp>
      <p:sp>
        <p:nvSpPr>
          <p:cNvPr id="5" name="Rectangle 4"/>
          <p:cNvSpPr/>
          <p:nvPr/>
        </p:nvSpPr>
        <p:spPr>
          <a:xfrm>
            <a:off x="594360" y="6446520"/>
            <a:ext cx="11000232" cy="10972"/>
          </a:xfrm>
          <a:prstGeom prst="rect">
            <a:avLst/>
          </a:prstGeom>
          <a:solidFill>
            <a:srgbClr val="DCE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7315200" cy="164592"/>
          </a:xfrm>
          <a:prstGeom prst="rect">
            <a:avLst/>
          </a:prstGeom>
          <a:noFill/>
        </p:spPr>
        <p:txBody>
          <a:bodyPr wrap="square" lIns="0" rIns="0" tIns="0" bIns="0">
            <a:spAutoFit/>
          </a:bodyPr>
          <a:lstStyle/>
          <a:p>
            <a:pPr>
              <a:lnSpc>
                <a:spcPct val="112000"/>
              </a:lnSpc>
              <a:spcAft>
                <a:spcPts val="700"/>
              </a:spcAft>
              <a:defRPr sz="800" b="1">
                <a:solidFill>
                  <a:srgbClr val="687E72"/>
                </a:solidFill>
                <a:latin typeface="Aptos"/>
              </a:defRPr>
            </a:pPr>
            <a:r>
              <a:t>DIGITAL MEDICO   •   CARE, CONNECTED.</a:t>
            </a:r>
          </a:p>
        </p:txBody>
      </p:sp>
      <p:sp>
        <p:nvSpPr>
          <p:cNvPr id="7" name="TextBox 6"/>
          <p:cNvSpPr txBox="1"/>
          <p:nvPr/>
        </p:nvSpPr>
        <p:spPr>
          <a:xfrm>
            <a:off x="10881360" y="6510528"/>
            <a:ext cx="731520" cy="228600"/>
          </a:xfrm>
          <a:prstGeom prst="rect">
            <a:avLst/>
          </a:prstGeom>
          <a:noFill/>
        </p:spPr>
        <p:txBody>
          <a:bodyPr wrap="square" lIns="0" rIns="0" tIns="0" bIns="0">
            <a:spAutoFit/>
          </a:bodyPr>
          <a:lstStyle/>
          <a:p>
            <a:pPr algn="r">
              <a:lnSpc>
                <a:spcPct val="112000"/>
              </a:lnSpc>
              <a:spcAft>
                <a:spcPts val="700"/>
              </a:spcAft>
              <a:defRPr sz="900" b="0">
                <a:solidFill>
                  <a:srgbClr val="687E72"/>
                </a:solidFill>
                <a:latin typeface="Aptos"/>
              </a:defRPr>
            </a:pPr>
            <a:r>
              <a:t>05 / 07</a:t>
            </a:r>
          </a:p>
        </p:txBody>
      </p:sp>
      <p:sp>
        <p:nvSpPr>
          <p:cNvPr id="8" name="Rounded Rectangle 7"/>
          <p:cNvSpPr/>
          <p:nvPr/>
        </p:nvSpPr>
        <p:spPr>
          <a:xfrm>
            <a:off x="594360" y="2578608"/>
            <a:ext cx="3529584" cy="3154680"/>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 y="2798063"/>
            <a:ext cx="3090672"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EMERGENCY HISTORY</a:t>
            </a:r>
          </a:p>
        </p:txBody>
      </p:sp>
      <p:sp>
        <p:nvSpPr>
          <p:cNvPr id="10" name="TextBox 9"/>
          <p:cNvSpPr txBox="1"/>
          <p:nvPr/>
        </p:nvSpPr>
        <p:spPr>
          <a:xfrm>
            <a:off x="813816" y="3328415"/>
            <a:ext cx="3090672" cy="777240"/>
          </a:xfrm>
          <a:prstGeom prst="rect">
            <a:avLst/>
          </a:prstGeom>
          <a:noFill/>
        </p:spPr>
        <p:txBody>
          <a:bodyPr wrap="square" lIns="0" rIns="0" tIns="0" bIns="0">
            <a:spAutoFit/>
          </a:bodyPr>
          <a:lstStyle/>
          <a:p>
            <a:pPr>
              <a:lnSpc>
                <a:spcPct val="112000"/>
              </a:lnSpc>
              <a:spcAft>
                <a:spcPts val="700"/>
              </a:spcAft>
              <a:defRPr sz="2200" b="1">
                <a:solidFill>
                  <a:srgbClr val="193F35"/>
                </a:solidFill>
                <a:latin typeface="Aptos"/>
              </a:defRPr>
            </a:pPr>
            <a:r>
              <a:t>Find the right context</a:t>
            </a:r>
          </a:p>
        </p:txBody>
      </p:sp>
      <p:sp>
        <p:nvSpPr>
          <p:cNvPr id="11" name="TextBox 10"/>
          <p:cNvSpPr txBox="1"/>
          <p:nvPr/>
        </p:nvSpPr>
        <p:spPr>
          <a:xfrm>
            <a:off x="813816" y="4041648"/>
            <a:ext cx="3090672" cy="1508760"/>
          </a:xfrm>
          <a:prstGeom prst="rect">
            <a:avLst/>
          </a:prstGeom>
          <a:noFill/>
        </p:spPr>
        <p:txBody>
          <a:bodyPr wrap="square" lIns="0" rIns="0" tIns="0" bIns="0">
            <a:spAutoFit/>
          </a:bodyPr>
          <a:lstStyle/>
          <a:p>
            <a:pPr>
              <a:lnSpc>
                <a:spcPct val="112000"/>
              </a:lnSpc>
              <a:spcAft>
                <a:spcPts val="700"/>
              </a:spcAft>
              <a:defRPr sz="1500" b="0">
                <a:solidFill>
                  <a:srgbClr val="687E72"/>
                </a:solidFill>
                <a:latin typeface="Aptos"/>
              </a:defRPr>
            </a:pPr>
            <a:r>
              <a:t>Patient ID → demo identity check → consent check → essential medical history → audited access.</a:t>
            </a:r>
          </a:p>
        </p:txBody>
      </p:sp>
      <p:sp>
        <p:nvSpPr>
          <p:cNvPr id="12" name="Rounded Rectangle 11"/>
          <p:cNvSpPr/>
          <p:nvPr/>
        </p:nvSpPr>
        <p:spPr>
          <a:xfrm>
            <a:off x="4334256" y="2578608"/>
            <a:ext cx="3529584" cy="3154680"/>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2798063"/>
            <a:ext cx="3090672"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DOCTOC</a:t>
            </a:r>
          </a:p>
        </p:txBody>
      </p:sp>
      <p:sp>
        <p:nvSpPr>
          <p:cNvPr id="14" name="TextBox 13"/>
          <p:cNvSpPr txBox="1"/>
          <p:nvPr/>
        </p:nvSpPr>
        <p:spPr>
          <a:xfrm>
            <a:off x="4553712" y="3328415"/>
            <a:ext cx="3090672" cy="777240"/>
          </a:xfrm>
          <a:prstGeom prst="rect">
            <a:avLst/>
          </a:prstGeom>
          <a:noFill/>
        </p:spPr>
        <p:txBody>
          <a:bodyPr wrap="square" lIns="0" rIns="0" tIns="0" bIns="0">
            <a:spAutoFit/>
          </a:bodyPr>
          <a:lstStyle/>
          <a:p>
            <a:pPr>
              <a:lnSpc>
                <a:spcPct val="112000"/>
              </a:lnSpc>
              <a:spcAft>
                <a:spcPts val="700"/>
              </a:spcAft>
              <a:defRPr sz="2200" b="1">
                <a:solidFill>
                  <a:srgbClr val="193F35"/>
                </a:solidFill>
                <a:latin typeface="Aptos"/>
              </a:defRPr>
            </a:pPr>
            <a:r>
              <a:t>Doctor-led guidance</a:t>
            </a:r>
          </a:p>
        </p:txBody>
      </p:sp>
      <p:sp>
        <p:nvSpPr>
          <p:cNvPr id="15" name="TextBox 14"/>
          <p:cNvSpPr txBox="1"/>
          <p:nvPr/>
        </p:nvSpPr>
        <p:spPr>
          <a:xfrm>
            <a:off x="4553712" y="4041648"/>
            <a:ext cx="3090672" cy="1508760"/>
          </a:xfrm>
          <a:prstGeom prst="rect">
            <a:avLst/>
          </a:prstGeom>
          <a:noFill/>
        </p:spPr>
        <p:txBody>
          <a:bodyPr wrap="square" lIns="0" rIns="0" tIns="0" bIns="0">
            <a:spAutoFit/>
          </a:bodyPr>
          <a:lstStyle/>
          <a:p>
            <a:pPr>
              <a:lnSpc>
                <a:spcPct val="112000"/>
              </a:lnSpc>
              <a:spcAft>
                <a:spcPts val="700"/>
              </a:spcAft>
              <a:defRPr sz="1500" b="0">
                <a:solidFill>
                  <a:srgbClr val="687E72"/>
                </a:solidFill>
                <a:latin typeface="Aptos"/>
              </a:defRPr>
            </a:pPr>
            <a:r>
              <a:t>Schedule questions read recorded prescriptions. Clinical questions go to the doctor. Urgent symptoms receive emergency-care guidance.</a:t>
            </a:r>
          </a:p>
        </p:txBody>
      </p:sp>
      <p:sp>
        <p:nvSpPr>
          <p:cNvPr id="16" name="Rounded Rectangle 15"/>
          <p:cNvSpPr/>
          <p:nvPr/>
        </p:nvSpPr>
        <p:spPr>
          <a:xfrm>
            <a:off x="8074152" y="2578608"/>
            <a:ext cx="3529584" cy="3154680"/>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2798063"/>
            <a:ext cx="3090672"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MEDICATION REMINDERS</a:t>
            </a:r>
          </a:p>
        </p:txBody>
      </p:sp>
      <p:sp>
        <p:nvSpPr>
          <p:cNvPr id="18" name="TextBox 17"/>
          <p:cNvSpPr txBox="1"/>
          <p:nvPr/>
        </p:nvSpPr>
        <p:spPr>
          <a:xfrm>
            <a:off x="8293608" y="3328415"/>
            <a:ext cx="3090672" cy="777240"/>
          </a:xfrm>
          <a:prstGeom prst="rect">
            <a:avLst/>
          </a:prstGeom>
          <a:noFill/>
        </p:spPr>
        <p:txBody>
          <a:bodyPr wrap="square" lIns="0" rIns="0" tIns="0" bIns="0">
            <a:spAutoFit/>
          </a:bodyPr>
          <a:lstStyle/>
          <a:p>
            <a:pPr>
              <a:lnSpc>
                <a:spcPct val="112000"/>
              </a:lnSpc>
              <a:spcAft>
                <a:spcPts val="700"/>
              </a:spcAft>
              <a:defRPr sz="2200" b="1">
                <a:solidFill>
                  <a:srgbClr val="193F35"/>
                </a:solidFill>
                <a:latin typeface="Aptos"/>
              </a:defRPr>
            </a:pPr>
            <a:r>
              <a:t>Follow the schedule</a:t>
            </a:r>
          </a:p>
        </p:txBody>
      </p:sp>
      <p:sp>
        <p:nvSpPr>
          <p:cNvPr id="19" name="TextBox 18"/>
          <p:cNvSpPr txBox="1"/>
          <p:nvPr/>
        </p:nvSpPr>
        <p:spPr>
          <a:xfrm>
            <a:off x="8293608" y="4041648"/>
            <a:ext cx="3090672" cy="1508760"/>
          </a:xfrm>
          <a:prstGeom prst="rect">
            <a:avLst/>
          </a:prstGeom>
          <a:noFill/>
        </p:spPr>
        <p:txBody>
          <a:bodyPr wrap="square" lIns="0" rIns="0" tIns="0" bIns="0">
            <a:spAutoFit/>
          </a:bodyPr>
          <a:lstStyle/>
          <a:p>
            <a:pPr>
              <a:lnSpc>
                <a:spcPct val="112000"/>
              </a:lnSpc>
              <a:spcAft>
                <a:spcPts val="700"/>
              </a:spcAft>
              <a:defRPr sz="1500" b="0">
                <a:solidFill>
                  <a:srgbClr val="687E72"/>
                </a:solidFill>
                <a:latin typeface="Aptos"/>
              </a:defRPr>
            </a:pPr>
            <a:r>
              <a:t>Doctor sets dose and IST time → website reminder → taken / snooze / missed status → dose activity visible to the doctor.</a:t>
            </a:r>
          </a:p>
        </p:txBody>
      </p:sp>
      <p:sp>
        <p:nvSpPr>
          <p:cNvPr id="20" name="TextBox 19"/>
          <p:cNvSpPr txBox="1"/>
          <p:nvPr/>
        </p:nvSpPr>
        <p:spPr>
          <a:xfrm>
            <a:off x="777240" y="5971032"/>
            <a:ext cx="10789920" cy="310896"/>
          </a:xfrm>
          <a:prstGeom prst="rect">
            <a:avLst/>
          </a:prstGeom>
          <a:noFill/>
        </p:spPr>
        <p:txBody>
          <a:bodyPr wrap="square" lIns="0" rIns="0" tIns="0" bIns="0">
            <a:spAutoFit/>
          </a:bodyPr>
          <a:lstStyle/>
          <a:p>
            <a:pPr>
              <a:lnSpc>
                <a:spcPct val="112000"/>
              </a:lnSpc>
              <a:spcAft>
                <a:spcPts val="700"/>
              </a:spcAft>
              <a:defRPr sz="1300" b="1">
                <a:solidFill>
                  <a:srgbClr val="BD7C66"/>
                </a:solidFill>
                <a:latin typeface="Aptos"/>
              </a:defRPr>
            </a:pPr>
            <a:r>
              <a:t>Prototype limits: simulated biometrics, scripted Doctoc and reminders that require an open website.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372E"/>
        </a:solidFill>
        <a:effectLst/>
      </p:bgPr>
    </p:bg>
    <p:spTree>
      <p:nvGrpSpPr>
        <p:cNvPr id="1" name=""/>
        <p:cNvGrpSpPr/>
        <p:nvPr/>
      </p:nvGrpSpPr>
      <p:grpSpPr/>
      <p:sp>
        <p:nvSpPr>
          <p:cNvPr id="2" name="TextBox 1"/>
          <p:cNvSpPr txBox="1"/>
          <p:nvPr/>
        </p:nvSpPr>
        <p:spPr>
          <a:xfrm>
            <a:off x="594360" y="292608"/>
            <a:ext cx="6400800" cy="274320"/>
          </a:xfrm>
          <a:prstGeom prst="rect">
            <a:avLst/>
          </a:prstGeom>
          <a:noFill/>
        </p:spPr>
        <p:txBody>
          <a:bodyPr wrap="square" lIns="0" rIns="0" tIns="0" bIns="0">
            <a:spAutoFit/>
          </a:bodyPr>
          <a:lstStyle/>
          <a:p>
            <a:pPr>
              <a:lnSpc>
                <a:spcPct val="112000"/>
              </a:lnSpc>
              <a:spcAft>
                <a:spcPts val="700"/>
              </a:spcAft>
              <a:defRPr sz="1000" b="1">
                <a:solidFill>
                  <a:srgbClr val="D6B577"/>
                </a:solidFill>
                <a:latin typeface="Aptos"/>
              </a:defRPr>
            </a:pPr>
            <a:r>
              <a:t>05 / PRIVACY + VALIDATION</a:t>
            </a:r>
          </a:p>
        </p:txBody>
      </p:sp>
      <p:sp>
        <p:nvSpPr>
          <p:cNvPr id="3" name="TextBox 2"/>
          <p:cNvSpPr txBox="1"/>
          <p:nvPr/>
        </p:nvSpPr>
        <p:spPr>
          <a:xfrm>
            <a:off x="594360" y="804672"/>
            <a:ext cx="10972800" cy="914400"/>
          </a:xfrm>
          <a:prstGeom prst="rect">
            <a:avLst/>
          </a:prstGeom>
          <a:noFill/>
        </p:spPr>
        <p:txBody>
          <a:bodyPr wrap="square" lIns="0" rIns="0" tIns="0" bIns="0">
            <a:spAutoFit/>
          </a:bodyPr>
          <a:lstStyle/>
          <a:p>
            <a:pPr>
              <a:lnSpc>
                <a:spcPct val="112000"/>
              </a:lnSpc>
              <a:spcAft>
                <a:spcPts val="700"/>
              </a:spcAft>
              <a:defRPr sz="3200" b="1">
                <a:solidFill>
                  <a:srgbClr val="FFFFFF"/>
                </a:solidFill>
                <a:latin typeface="Aptos"/>
              </a:defRPr>
            </a:pPr>
            <a:r>
              <a:t>Privacy is enforced—and tested</a:t>
            </a:r>
          </a:p>
        </p:txBody>
      </p:sp>
      <p:sp>
        <p:nvSpPr>
          <p:cNvPr id="4" name="TextBox 3"/>
          <p:cNvSpPr txBox="1"/>
          <p:nvPr/>
        </p:nvSpPr>
        <p:spPr>
          <a:xfrm>
            <a:off x="612648" y="1709928"/>
            <a:ext cx="10972800" cy="566928"/>
          </a:xfrm>
          <a:prstGeom prst="rect">
            <a:avLst/>
          </a:prstGeom>
          <a:noFill/>
        </p:spPr>
        <p:txBody>
          <a:bodyPr wrap="square" lIns="0" rIns="0" tIns="0" bIns="0">
            <a:spAutoFit/>
          </a:bodyPr>
          <a:lstStyle/>
          <a:p>
            <a:pPr>
              <a:lnSpc>
                <a:spcPct val="112000"/>
              </a:lnSpc>
              <a:spcAft>
                <a:spcPts val="700"/>
              </a:spcAft>
              <a:defRPr sz="1500" b="0">
                <a:solidFill>
                  <a:srgbClr val="B4CCB9"/>
                </a:solidFill>
                <a:latin typeface="Aptos"/>
              </a:defRPr>
            </a:pPr>
            <a:r>
              <a:t>Patient control is backed by server checks, not just interface settings.</a:t>
            </a:r>
          </a:p>
        </p:txBody>
      </p:sp>
      <p:sp>
        <p:nvSpPr>
          <p:cNvPr id="5" name="Rectangle 4"/>
          <p:cNvSpPr/>
          <p:nvPr/>
        </p:nvSpPr>
        <p:spPr>
          <a:xfrm>
            <a:off x="594360" y="6446520"/>
            <a:ext cx="11000232" cy="10972"/>
          </a:xfrm>
          <a:prstGeom prst="rect">
            <a:avLst/>
          </a:prstGeom>
          <a:solidFill>
            <a:srgbClr val="36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7315200" cy="164592"/>
          </a:xfrm>
          <a:prstGeom prst="rect">
            <a:avLst/>
          </a:prstGeom>
          <a:noFill/>
        </p:spPr>
        <p:txBody>
          <a:bodyPr wrap="square" lIns="0" rIns="0" tIns="0" bIns="0">
            <a:spAutoFit/>
          </a:bodyPr>
          <a:lstStyle/>
          <a:p>
            <a:pPr>
              <a:lnSpc>
                <a:spcPct val="112000"/>
              </a:lnSpc>
              <a:spcAft>
                <a:spcPts val="700"/>
              </a:spcAft>
              <a:defRPr sz="800" b="1">
                <a:solidFill>
                  <a:srgbClr val="A6C0AB"/>
                </a:solidFill>
                <a:latin typeface="Aptos"/>
              </a:defRPr>
            </a:pPr>
            <a:r>
              <a:t>DIGITAL MEDICO   •   CARE, CONNECTED.</a:t>
            </a:r>
          </a:p>
        </p:txBody>
      </p:sp>
      <p:sp>
        <p:nvSpPr>
          <p:cNvPr id="7" name="TextBox 6"/>
          <p:cNvSpPr txBox="1"/>
          <p:nvPr/>
        </p:nvSpPr>
        <p:spPr>
          <a:xfrm>
            <a:off x="10881360" y="6510528"/>
            <a:ext cx="731520" cy="228600"/>
          </a:xfrm>
          <a:prstGeom prst="rect">
            <a:avLst/>
          </a:prstGeom>
          <a:noFill/>
        </p:spPr>
        <p:txBody>
          <a:bodyPr wrap="square" lIns="0" rIns="0" tIns="0" bIns="0">
            <a:spAutoFit/>
          </a:bodyPr>
          <a:lstStyle/>
          <a:p>
            <a:pPr algn="r">
              <a:lnSpc>
                <a:spcPct val="112000"/>
              </a:lnSpc>
              <a:spcAft>
                <a:spcPts val="700"/>
              </a:spcAft>
              <a:defRPr sz="900" b="0">
                <a:solidFill>
                  <a:srgbClr val="A6C0AB"/>
                </a:solidFill>
                <a:latin typeface="Aptos"/>
              </a:defRPr>
            </a:pPr>
            <a:r>
              <a:t>06 / 07</a:t>
            </a:r>
          </a:p>
        </p:txBody>
      </p:sp>
      <p:sp>
        <p:nvSpPr>
          <p:cNvPr id="8" name="Rounded Rectangle 7"/>
          <p:cNvSpPr/>
          <p:nvPr/>
        </p:nvSpPr>
        <p:spPr>
          <a:xfrm>
            <a:off x="594360" y="2532888"/>
            <a:ext cx="5385816" cy="1033271"/>
          </a:xfrm>
          <a:prstGeom prst="roundRect">
            <a:avLst>
              <a:gd name="adj" fmla="val 12000"/>
            </a:avLst>
          </a:prstGeom>
          <a:solidFill>
            <a:srgbClr val="224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706624"/>
            <a:ext cx="5001768" cy="365760"/>
          </a:xfrm>
          <a:prstGeom prst="rect">
            <a:avLst/>
          </a:prstGeom>
          <a:noFill/>
        </p:spPr>
        <p:txBody>
          <a:bodyPr wrap="square" lIns="0" rIns="0" tIns="0" bIns="0">
            <a:spAutoFit/>
          </a:bodyPr>
          <a:lstStyle/>
          <a:p>
            <a:pPr>
              <a:lnSpc>
                <a:spcPct val="112000"/>
              </a:lnSpc>
              <a:spcAft>
                <a:spcPts val="700"/>
              </a:spcAft>
              <a:defRPr sz="1900" b="1">
                <a:solidFill>
                  <a:srgbClr val="FFFFFF"/>
                </a:solidFill>
                <a:latin typeface="Aptos"/>
              </a:defRPr>
            </a:pPr>
            <a:r>
              <a:t>Isolated patient accounts</a:t>
            </a:r>
          </a:p>
        </p:txBody>
      </p:sp>
      <p:sp>
        <p:nvSpPr>
          <p:cNvPr id="10" name="TextBox 9"/>
          <p:cNvSpPr txBox="1"/>
          <p:nvPr/>
        </p:nvSpPr>
        <p:spPr>
          <a:xfrm>
            <a:off x="777240" y="3172968"/>
            <a:ext cx="5001768" cy="301752"/>
          </a:xfrm>
          <a:prstGeom prst="rect">
            <a:avLst/>
          </a:prstGeom>
          <a:noFill/>
        </p:spPr>
        <p:txBody>
          <a:bodyPr wrap="square" lIns="0" rIns="0" tIns="0" bIns="0">
            <a:spAutoFit/>
          </a:bodyPr>
          <a:lstStyle/>
          <a:p>
            <a:pPr>
              <a:lnSpc>
                <a:spcPct val="112000"/>
              </a:lnSpc>
              <a:spcAft>
                <a:spcPts val="700"/>
              </a:spcAft>
              <a:defRPr sz="1200" b="0">
                <a:solidFill>
                  <a:srgbClr val="B4CCB9"/>
                </a:solidFill>
                <a:latin typeface="Aptos"/>
              </a:defRPr>
            </a:pPr>
            <a:r>
              <a:t>One patient cannot read or update another patient’s records.</a:t>
            </a:r>
          </a:p>
        </p:txBody>
      </p:sp>
      <p:sp>
        <p:nvSpPr>
          <p:cNvPr id="11" name="Rounded Rectangle 10"/>
          <p:cNvSpPr/>
          <p:nvPr/>
        </p:nvSpPr>
        <p:spPr>
          <a:xfrm>
            <a:off x="6208776" y="2532888"/>
            <a:ext cx="5385816" cy="1033271"/>
          </a:xfrm>
          <a:prstGeom prst="roundRect">
            <a:avLst>
              <a:gd name="adj" fmla="val 12000"/>
            </a:avLst>
          </a:prstGeom>
          <a:solidFill>
            <a:srgbClr val="224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1656" y="2706624"/>
            <a:ext cx="5001768" cy="365760"/>
          </a:xfrm>
          <a:prstGeom prst="rect">
            <a:avLst/>
          </a:prstGeom>
          <a:noFill/>
        </p:spPr>
        <p:txBody>
          <a:bodyPr wrap="square" lIns="0" rIns="0" tIns="0" bIns="0">
            <a:spAutoFit/>
          </a:bodyPr>
          <a:lstStyle/>
          <a:p>
            <a:pPr>
              <a:lnSpc>
                <a:spcPct val="112000"/>
              </a:lnSpc>
              <a:spcAft>
                <a:spcPts val="700"/>
              </a:spcAft>
              <a:defRPr sz="1900" b="1">
                <a:solidFill>
                  <a:srgbClr val="FFFFFF"/>
                </a:solidFill>
                <a:latin typeface="Aptos"/>
              </a:defRPr>
            </a:pPr>
            <a:r>
              <a:t>Consent-controlled care</a:t>
            </a:r>
          </a:p>
        </p:txBody>
      </p:sp>
      <p:sp>
        <p:nvSpPr>
          <p:cNvPr id="13" name="TextBox 12"/>
          <p:cNvSpPr txBox="1"/>
          <p:nvPr/>
        </p:nvSpPr>
        <p:spPr>
          <a:xfrm>
            <a:off x="6391656" y="3172968"/>
            <a:ext cx="5001768" cy="301752"/>
          </a:xfrm>
          <a:prstGeom prst="rect">
            <a:avLst/>
          </a:prstGeom>
          <a:noFill/>
        </p:spPr>
        <p:txBody>
          <a:bodyPr wrap="square" lIns="0" rIns="0" tIns="0" bIns="0">
            <a:spAutoFit/>
          </a:bodyPr>
          <a:lstStyle/>
          <a:p>
            <a:pPr>
              <a:lnSpc>
                <a:spcPct val="112000"/>
              </a:lnSpc>
              <a:spcAft>
                <a:spcPts val="700"/>
              </a:spcAft>
              <a:defRPr sz="1200" b="0">
                <a:solidFill>
                  <a:srgbClr val="B4CCB9"/>
                </a:solidFill>
                <a:latin typeface="Aptos"/>
              </a:defRPr>
            </a:pPr>
            <a:r>
              <a:t>Revocation blocks doctor reads, edits and emergency access.</a:t>
            </a:r>
          </a:p>
        </p:txBody>
      </p:sp>
      <p:sp>
        <p:nvSpPr>
          <p:cNvPr id="14" name="Rounded Rectangle 13"/>
          <p:cNvSpPr/>
          <p:nvPr/>
        </p:nvSpPr>
        <p:spPr>
          <a:xfrm>
            <a:off x="594360" y="3785616"/>
            <a:ext cx="5385816" cy="1033271"/>
          </a:xfrm>
          <a:prstGeom prst="roundRect">
            <a:avLst>
              <a:gd name="adj" fmla="val 12000"/>
            </a:avLst>
          </a:prstGeom>
          <a:solidFill>
            <a:srgbClr val="224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959352"/>
            <a:ext cx="5001768" cy="365760"/>
          </a:xfrm>
          <a:prstGeom prst="rect">
            <a:avLst/>
          </a:prstGeom>
          <a:noFill/>
        </p:spPr>
        <p:txBody>
          <a:bodyPr wrap="square" lIns="0" rIns="0" tIns="0" bIns="0">
            <a:spAutoFit/>
          </a:bodyPr>
          <a:lstStyle/>
          <a:p>
            <a:pPr>
              <a:lnSpc>
                <a:spcPct val="112000"/>
              </a:lnSpc>
              <a:spcAft>
                <a:spcPts val="700"/>
              </a:spcAft>
              <a:defRPr sz="1900" b="1">
                <a:solidFill>
                  <a:srgbClr val="FFFFFF"/>
                </a:solidFill>
                <a:latin typeface="Aptos"/>
              </a:defRPr>
            </a:pPr>
            <a:r>
              <a:t>Protected sign-in</a:t>
            </a:r>
          </a:p>
        </p:txBody>
      </p:sp>
      <p:sp>
        <p:nvSpPr>
          <p:cNvPr id="16" name="TextBox 15"/>
          <p:cNvSpPr txBox="1"/>
          <p:nvPr/>
        </p:nvSpPr>
        <p:spPr>
          <a:xfrm>
            <a:off x="777240" y="4425696"/>
            <a:ext cx="5001768" cy="301752"/>
          </a:xfrm>
          <a:prstGeom prst="rect">
            <a:avLst/>
          </a:prstGeom>
          <a:noFill/>
        </p:spPr>
        <p:txBody>
          <a:bodyPr wrap="square" lIns="0" rIns="0" tIns="0" bIns="0">
            <a:spAutoFit/>
          </a:bodyPr>
          <a:lstStyle/>
          <a:p>
            <a:pPr>
              <a:lnSpc>
                <a:spcPct val="112000"/>
              </a:lnSpc>
              <a:spcAft>
                <a:spcPts val="700"/>
              </a:spcAft>
              <a:defRPr sz="1200" b="0">
                <a:solidFill>
                  <a:srgbClr val="B4CCB9"/>
                </a:solidFill>
                <a:latin typeface="Aptos"/>
              </a:defRPr>
            </a:pPr>
            <a:r>
              <a:t>Hashed passwords, HTTP-only sessions and CSRF-protected writes.</a:t>
            </a:r>
          </a:p>
        </p:txBody>
      </p:sp>
      <p:sp>
        <p:nvSpPr>
          <p:cNvPr id="17" name="Rounded Rectangle 16"/>
          <p:cNvSpPr/>
          <p:nvPr/>
        </p:nvSpPr>
        <p:spPr>
          <a:xfrm>
            <a:off x="6208776" y="3785616"/>
            <a:ext cx="5385816" cy="1033271"/>
          </a:xfrm>
          <a:prstGeom prst="roundRect">
            <a:avLst>
              <a:gd name="adj" fmla="val 12000"/>
            </a:avLst>
          </a:prstGeom>
          <a:solidFill>
            <a:srgbClr val="224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6" y="3959352"/>
            <a:ext cx="5001768" cy="365760"/>
          </a:xfrm>
          <a:prstGeom prst="rect">
            <a:avLst/>
          </a:prstGeom>
          <a:noFill/>
        </p:spPr>
        <p:txBody>
          <a:bodyPr wrap="square" lIns="0" rIns="0" tIns="0" bIns="0">
            <a:spAutoFit/>
          </a:bodyPr>
          <a:lstStyle/>
          <a:p>
            <a:pPr>
              <a:lnSpc>
                <a:spcPct val="112000"/>
              </a:lnSpc>
              <a:spcAft>
                <a:spcPts val="700"/>
              </a:spcAft>
              <a:defRPr sz="1900" b="1">
                <a:solidFill>
                  <a:srgbClr val="FFFFFF"/>
                </a:solidFill>
                <a:latin typeface="Aptos"/>
              </a:defRPr>
            </a:pPr>
            <a:r>
              <a:t>Transparent access</a:t>
            </a:r>
          </a:p>
        </p:txBody>
      </p:sp>
      <p:sp>
        <p:nvSpPr>
          <p:cNvPr id="19" name="TextBox 18"/>
          <p:cNvSpPr txBox="1"/>
          <p:nvPr/>
        </p:nvSpPr>
        <p:spPr>
          <a:xfrm>
            <a:off x="6391656" y="4425696"/>
            <a:ext cx="5001768" cy="301752"/>
          </a:xfrm>
          <a:prstGeom prst="rect">
            <a:avLst/>
          </a:prstGeom>
          <a:noFill/>
        </p:spPr>
        <p:txBody>
          <a:bodyPr wrap="square" lIns="0" rIns="0" tIns="0" bIns="0">
            <a:spAutoFit/>
          </a:bodyPr>
          <a:lstStyle/>
          <a:p>
            <a:pPr>
              <a:lnSpc>
                <a:spcPct val="112000"/>
              </a:lnSpc>
              <a:spcAft>
                <a:spcPts val="700"/>
              </a:spcAft>
              <a:defRPr sz="1200" b="0">
                <a:solidFill>
                  <a:srgbClr val="B4CCB9"/>
                </a:solidFill>
                <a:latin typeface="Aptos"/>
              </a:defRPr>
            </a:pPr>
            <a:r>
              <a:t>Medical views and updates leave an audit trail.</a:t>
            </a:r>
          </a:p>
        </p:txBody>
      </p:sp>
      <p:sp>
        <p:nvSpPr>
          <p:cNvPr id="20" name="TextBox 19"/>
          <p:cNvSpPr txBox="1"/>
          <p:nvPr/>
        </p:nvSpPr>
        <p:spPr>
          <a:xfrm>
            <a:off x="795528" y="5394960"/>
            <a:ext cx="10561320" cy="420624"/>
          </a:xfrm>
          <a:prstGeom prst="rect">
            <a:avLst/>
          </a:prstGeom>
          <a:noFill/>
        </p:spPr>
        <p:txBody>
          <a:bodyPr wrap="square" lIns="0" rIns="0" tIns="0" bIns="0">
            <a:spAutoFit/>
          </a:bodyPr>
          <a:lstStyle/>
          <a:p>
            <a:pPr>
              <a:lnSpc>
                <a:spcPct val="112000"/>
              </a:lnSpc>
              <a:spcAft>
                <a:spcPts val="700"/>
              </a:spcAft>
              <a:defRPr sz="1700" b="1">
                <a:solidFill>
                  <a:srgbClr val="D6B577"/>
                </a:solidFill>
                <a:latin typeface="Aptos"/>
              </a:defRPr>
            </a:pPr>
            <a:r>
              <a:t>VERIFIED: 13 API tests • both portal logins • full browser workflows • production build</a:t>
            </a:r>
          </a:p>
        </p:txBody>
      </p:sp>
      <p:sp>
        <p:nvSpPr>
          <p:cNvPr id="21" name="TextBox 20"/>
          <p:cNvSpPr txBox="1"/>
          <p:nvPr/>
        </p:nvSpPr>
        <p:spPr>
          <a:xfrm>
            <a:off x="795528" y="5934456"/>
            <a:ext cx="10561320" cy="256032"/>
          </a:xfrm>
          <a:prstGeom prst="rect">
            <a:avLst/>
          </a:prstGeom>
          <a:noFill/>
        </p:spPr>
        <p:txBody>
          <a:bodyPr wrap="square" lIns="0" rIns="0" tIns="0" bIns="0">
            <a:spAutoFit/>
          </a:bodyPr>
          <a:lstStyle/>
          <a:p>
            <a:pPr>
              <a:lnSpc>
                <a:spcPct val="112000"/>
              </a:lnSpc>
              <a:spcAft>
                <a:spcPts val="700"/>
              </a:spcAft>
              <a:defRPr sz="1100" b="0">
                <a:solidFill>
                  <a:srgbClr val="B4CCB9"/>
                </a:solidFill>
                <a:latin typeface="Aptos"/>
              </a:defRPr>
            </a:pPr>
            <a:r>
              <a:t>Synthetic data only. Local storage is not encrypted at rest; this is not a production medical system.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7F0"/>
        </a:solidFill>
        <a:effectLst/>
      </p:bgPr>
    </p:bg>
    <p:spTree>
      <p:nvGrpSpPr>
        <p:cNvPr id="1" name=""/>
        <p:cNvGrpSpPr/>
        <p:nvPr/>
      </p:nvGrpSpPr>
      <p:grpSpPr/>
      <p:sp>
        <p:nvSpPr>
          <p:cNvPr id="2" name="TextBox 1"/>
          <p:cNvSpPr txBox="1"/>
          <p:nvPr/>
        </p:nvSpPr>
        <p:spPr>
          <a:xfrm>
            <a:off x="594360" y="292608"/>
            <a:ext cx="6400800" cy="274320"/>
          </a:xfrm>
          <a:prstGeom prst="rect">
            <a:avLst/>
          </a:prstGeom>
          <a:noFill/>
        </p:spPr>
        <p:txBody>
          <a:bodyPr wrap="square" lIns="0" rIns="0" tIns="0" bIns="0">
            <a:spAutoFit/>
          </a:bodyPr>
          <a:lstStyle/>
          <a:p>
            <a:pPr>
              <a:lnSpc>
                <a:spcPct val="112000"/>
              </a:lnSpc>
              <a:spcAft>
                <a:spcPts val="700"/>
              </a:spcAft>
              <a:defRPr sz="1000" b="1">
                <a:solidFill>
                  <a:srgbClr val="236A54"/>
                </a:solidFill>
                <a:latin typeface="Aptos"/>
              </a:defRPr>
            </a:pPr>
            <a:r>
              <a:t>06 / LIVE DEMO + NEXT STEPS</a:t>
            </a:r>
          </a:p>
        </p:txBody>
      </p:sp>
      <p:sp>
        <p:nvSpPr>
          <p:cNvPr id="3" name="TextBox 2"/>
          <p:cNvSpPr txBox="1"/>
          <p:nvPr/>
        </p:nvSpPr>
        <p:spPr>
          <a:xfrm>
            <a:off x="594360" y="804672"/>
            <a:ext cx="10972800" cy="914400"/>
          </a:xfrm>
          <a:prstGeom prst="rect">
            <a:avLst/>
          </a:prstGeom>
          <a:noFill/>
        </p:spPr>
        <p:txBody>
          <a:bodyPr wrap="square" lIns="0" rIns="0" tIns="0" bIns="0">
            <a:spAutoFit/>
          </a:bodyPr>
          <a:lstStyle/>
          <a:p>
            <a:pPr>
              <a:lnSpc>
                <a:spcPct val="112000"/>
              </a:lnSpc>
              <a:spcAft>
                <a:spcPts val="700"/>
              </a:spcAft>
              <a:defRPr sz="3200" b="1">
                <a:solidFill>
                  <a:srgbClr val="193F35"/>
                </a:solidFill>
                <a:latin typeface="Aptos"/>
              </a:defRPr>
            </a:pPr>
            <a:r>
              <a:t>A working website. A clear next step.</a:t>
            </a:r>
          </a:p>
        </p:txBody>
      </p:sp>
      <p:sp>
        <p:nvSpPr>
          <p:cNvPr id="4" name="TextBox 3"/>
          <p:cNvSpPr txBox="1"/>
          <p:nvPr/>
        </p:nvSpPr>
        <p:spPr>
          <a:xfrm>
            <a:off x="612648" y="1709928"/>
            <a:ext cx="10972800" cy="566928"/>
          </a:xfrm>
          <a:prstGeom prst="rect">
            <a:avLst/>
          </a:prstGeom>
          <a:noFill/>
        </p:spPr>
        <p:txBody>
          <a:bodyPr wrap="square" lIns="0" rIns="0" tIns="0" bIns="0">
            <a:spAutoFit/>
          </a:bodyPr>
          <a:lstStyle/>
          <a:p>
            <a:pPr>
              <a:lnSpc>
                <a:spcPct val="112000"/>
              </a:lnSpc>
              <a:spcAft>
                <a:spcPts val="700"/>
              </a:spcAft>
              <a:defRPr sz="1500" b="0">
                <a:solidFill>
                  <a:srgbClr val="687E72"/>
                </a:solidFill>
                <a:latin typeface="Aptos"/>
              </a:defRPr>
            </a:pPr>
            <a:r>
              <a:t>Demonstrate the connected care loop, then explain how it becomes production-ready.</a:t>
            </a:r>
          </a:p>
        </p:txBody>
      </p:sp>
      <p:sp>
        <p:nvSpPr>
          <p:cNvPr id="5" name="Rectangle 4"/>
          <p:cNvSpPr/>
          <p:nvPr/>
        </p:nvSpPr>
        <p:spPr>
          <a:xfrm>
            <a:off x="594360" y="6446520"/>
            <a:ext cx="11000232" cy="10972"/>
          </a:xfrm>
          <a:prstGeom prst="rect">
            <a:avLst/>
          </a:prstGeom>
          <a:solidFill>
            <a:srgbClr val="DCE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56248"/>
            <a:ext cx="7315200" cy="164592"/>
          </a:xfrm>
          <a:prstGeom prst="rect">
            <a:avLst/>
          </a:prstGeom>
          <a:noFill/>
        </p:spPr>
        <p:txBody>
          <a:bodyPr wrap="square" lIns="0" rIns="0" tIns="0" bIns="0">
            <a:spAutoFit/>
          </a:bodyPr>
          <a:lstStyle/>
          <a:p>
            <a:pPr>
              <a:lnSpc>
                <a:spcPct val="112000"/>
              </a:lnSpc>
              <a:spcAft>
                <a:spcPts val="700"/>
              </a:spcAft>
              <a:defRPr sz="800" b="1">
                <a:solidFill>
                  <a:srgbClr val="687E72"/>
                </a:solidFill>
                <a:latin typeface="Aptos"/>
              </a:defRPr>
            </a:pPr>
            <a:r>
              <a:t>DIGITAL MEDICO   •   CARE, CONNECTED.</a:t>
            </a:r>
          </a:p>
        </p:txBody>
      </p:sp>
      <p:sp>
        <p:nvSpPr>
          <p:cNvPr id="7" name="TextBox 6"/>
          <p:cNvSpPr txBox="1"/>
          <p:nvPr/>
        </p:nvSpPr>
        <p:spPr>
          <a:xfrm>
            <a:off x="10881360" y="6510528"/>
            <a:ext cx="731520" cy="228600"/>
          </a:xfrm>
          <a:prstGeom prst="rect">
            <a:avLst/>
          </a:prstGeom>
          <a:noFill/>
        </p:spPr>
        <p:txBody>
          <a:bodyPr wrap="square" lIns="0" rIns="0" tIns="0" bIns="0">
            <a:spAutoFit/>
          </a:bodyPr>
          <a:lstStyle/>
          <a:p>
            <a:pPr algn="r">
              <a:lnSpc>
                <a:spcPct val="112000"/>
              </a:lnSpc>
              <a:spcAft>
                <a:spcPts val="700"/>
              </a:spcAft>
              <a:defRPr sz="900" b="0">
                <a:solidFill>
                  <a:srgbClr val="687E72"/>
                </a:solidFill>
                <a:latin typeface="Aptos"/>
              </a:defRPr>
            </a:pPr>
            <a:r>
              <a:t>07 / 07</a:t>
            </a:r>
          </a:p>
        </p:txBody>
      </p:sp>
      <p:sp>
        <p:nvSpPr>
          <p:cNvPr id="8" name="Rounded Rectangle 7"/>
          <p:cNvSpPr/>
          <p:nvPr/>
        </p:nvSpPr>
        <p:spPr>
          <a:xfrm>
            <a:off x="539496" y="2368296"/>
            <a:ext cx="6620256" cy="3785615"/>
          </a:xfrm>
          <a:prstGeom prst="roundRect">
            <a:avLst>
              <a:gd name="adj" fmla="val 12000"/>
            </a:avLst>
          </a:prstGeom>
          <a:solidFill>
            <a:srgbClr val="FFFFFF"/>
          </a:solidFill>
          <a:ln w="12700">
            <a:solidFill>
              <a:srgbClr val="DCE5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tor.png"/>
          <p:cNvPicPr>
            <a:picLocks noChangeAspect="1"/>
          </p:cNvPicPr>
          <p:nvPr/>
        </p:nvPicPr>
        <p:blipFill>
          <a:blip r:embed="rId2"/>
          <a:stretch>
            <a:fillRect/>
          </a:stretch>
        </p:blipFill>
        <p:spPr>
          <a:xfrm>
            <a:off x="1329015" y="2423160"/>
            <a:ext cx="5041217" cy="3675887"/>
          </a:xfrm>
          <a:prstGeom prst="rect">
            <a:avLst/>
          </a:prstGeom>
        </p:spPr>
      </p:pic>
      <p:sp>
        <p:nvSpPr>
          <p:cNvPr id="10" name="TextBox 9"/>
          <p:cNvSpPr txBox="1"/>
          <p:nvPr/>
        </p:nvSpPr>
        <p:spPr>
          <a:xfrm>
            <a:off x="7443216" y="2615184"/>
            <a:ext cx="3950208" cy="420624"/>
          </a:xfrm>
          <a:prstGeom prst="rect">
            <a:avLst/>
          </a:prstGeom>
          <a:noFill/>
        </p:spPr>
        <p:txBody>
          <a:bodyPr wrap="square" lIns="0" rIns="0" tIns="0" bIns="0">
            <a:spAutoFit/>
          </a:bodyPr>
          <a:lstStyle/>
          <a:p>
            <a:pPr>
              <a:lnSpc>
                <a:spcPct val="112000"/>
              </a:lnSpc>
              <a:spcAft>
                <a:spcPts val="700"/>
              </a:spcAft>
              <a:defRPr sz="2300" b="1">
                <a:solidFill>
                  <a:srgbClr val="193F35"/>
                </a:solidFill>
                <a:latin typeface="Aptos"/>
              </a:defRPr>
            </a:pPr>
            <a:r>
              <a:t>Show the judges</a:t>
            </a:r>
          </a:p>
        </p:txBody>
      </p:sp>
      <p:sp>
        <p:nvSpPr>
          <p:cNvPr id="11" name="TextBox 10"/>
          <p:cNvSpPr txBox="1"/>
          <p:nvPr/>
        </p:nvSpPr>
        <p:spPr>
          <a:xfrm>
            <a:off x="7443216" y="3282696"/>
            <a:ext cx="365760" cy="256032"/>
          </a:xfrm>
          <a:prstGeom prst="rect">
            <a:avLst/>
          </a:prstGeom>
          <a:noFill/>
        </p:spPr>
        <p:txBody>
          <a:bodyPr wrap="square" lIns="0" rIns="0" tIns="0" bIns="0">
            <a:spAutoFit/>
          </a:bodyPr>
          <a:lstStyle/>
          <a:p>
            <a:pPr>
              <a:lnSpc>
                <a:spcPct val="112000"/>
              </a:lnSpc>
              <a:spcAft>
                <a:spcPts val="700"/>
              </a:spcAft>
              <a:defRPr sz="1200" b="1">
                <a:solidFill>
                  <a:srgbClr val="236A54"/>
                </a:solidFill>
                <a:latin typeface="Aptos"/>
              </a:defRPr>
            </a:pPr>
            <a:r>
              <a:t>01</a:t>
            </a:r>
          </a:p>
        </p:txBody>
      </p:sp>
      <p:sp>
        <p:nvSpPr>
          <p:cNvPr id="12" name="TextBox 11"/>
          <p:cNvSpPr txBox="1"/>
          <p:nvPr/>
        </p:nvSpPr>
        <p:spPr>
          <a:xfrm>
            <a:off x="7936992" y="3282696"/>
            <a:ext cx="3383280" cy="347472"/>
          </a:xfrm>
          <a:prstGeom prst="rect">
            <a:avLst/>
          </a:prstGeom>
          <a:noFill/>
        </p:spPr>
        <p:txBody>
          <a:bodyPr wrap="square" lIns="0" rIns="0" tIns="0" bIns="0">
            <a:spAutoFit/>
          </a:bodyPr>
          <a:lstStyle/>
          <a:p>
            <a:pPr>
              <a:lnSpc>
                <a:spcPct val="112000"/>
              </a:lnSpc>
              <a:spcAft>
                <a:spcPts val="700"/>
              </a:spcAft>
              <a:defRPr sz="1300" b="0">
                <a:solidFill>
                  <a:srgbClr val="687E72"/>
                </a:solidFill>
                <a:latin typeface="Aptos"/>
              </a:defRPr>
            </a:pPr>
            <a:r>
              <a:t>Patient: question + dose confirmation</a:t>
            </a:r>
          </a:p>
        </p:txBody>
      </p:sp>
      <p:sp>
        <p:nvSpPr>
          <p:cNvPr id="13" name="TextBox 12"/>
          <p:cNvSpPr txBox="1"/>
          <p:nvPr/>
        </p:nvSpPr>
        <p:spPr>
          <a:xfrm>
            <a:off x="7443216" y="3749039"/>
            <a:ext cx="365760" cy="256032"/>
          </a:xfrm>
          <a:prstGeom prst="rect">
            <a:avLst/>
          </a:prstGeom>
          <a:noFill/>
        </p:spPr>
        <p:txBody>
          <a:bodyPr wrap="square" lIns="0" rIns="0" tIns="0" bIns="0">
            <a:spAutoFit/>
          </a:bodyPr>
          <a:lstStyle/>
          <a:p>
            <a:pPr>
              <a:lnSpc>
                <a:spcPct val="112000"/>
              </a:lnSpc>
              <a:spcAft>
                <a:spcPts val="700"/>
              </a:spcAft>
              <a:defRPr sz="1200" b="1">
                <a:solidFill>
                  <a:srgbClr val="236A54"/>
                </a:solidFill>
                <a:latin typeface="Aptos"/>
              </a:defRPr>
            </a:pPr>
            <a:r>
              <a:t>02</a:t>
            </a:r>
          </a:p>
        </p:txBody>
      </p:sp>
      <p:sp>
        <p:nvSpPr>
          <p:cNvPr id="14" name="TextBox 13"/>
          <p:cNvSpPr txBox="1"/>
          <p:nvPr/>
        </p:nvSpPr>
        <p:spPr>
          <a:xfrm>
            <a:off x="7936992" y="3749039"/>
            <a:ext cx="3383280" cy="347472"/>
          </a:xfrm>
          <a:prstGeom prst="rect">
            <a:avLst/>
          </a:prstGeom>
          <a:noFill/>
        </p:spPr>
        <p:txBody>
          <a:bodyPr wrap="square" lIns="0" rIns="0" tIns="0" bIns="0">
            <a:spAutoFit/>
          </a:bodyPr>
          <a:lstStyle/>
          <a:p>
            <a:pPr>
              <a:lnSpc>
                <a:spcPct val="112000"/>
              </a:lnSpc>
              <a:spcAft>
                <a:spcPts val="700"/>
              </a:spcAft>
              <a:defRPr sz="1300" b="0">
                <a:solidFill>
                  <a:srgbClr val="687E72"/>
                </a:solidFill>
                <a:latin typeface="Aptos"/>
              </a:defRPr>
            </a:pPr>
            <a:r>
              <a:t>Doctor: record + prescription + reply</a:t>
            </a:r>
          </a:p>
        </p:txBody>
      </p:sp>
      <p:sp>
        <p:nvSpPr>
          <p:cNvPr id="15" name="TextBox 14"/>
          <p:cNvSpPr txBox="1"/>
          <p:nvPr/>
        </p:nvSpPr>
        <p:spPr>
          <a:xfrm>
            <a:off x="7443216" y="4215383"/>
            <a:ext cx="365760" cy="256032"/>
          </a:xfrm>
          <a:prstGeom prst="rect">
            <a:avLst/>
          </a:prstGeom>
          <a:noFill/>
        </p:spPr>
        <p:txBody>
          <a:bodyPr wrap="square" lIns="0" rIns="0" tIns="0" bIns="0">
            <a:spAutoFit/>
          </a:bodyPr>
          <a:lstStyle/>
          <a:p>
            <a:pPr>
              <a:lnSpc>
                <a:spcPct val="112000"/>
              </a:lnSpc>
              <a:spcAft>
                <a:spcPts val="700"/>
              </a:spcAft>
              <a:defRPr sz="1200" b="1">
                <a:solidFill>
                  <a:srgbClr val="236A54"/>
                </a:solidFill>
                <a:latin typeface="Aptos"/>
              </a:defRPr>
            </a:pPr>
            <a:r>
              <a:t>03</a:t>
            </a:r>
          </a:p>
        </p:txBody>
      </p:sp>
      <p:sp>
        <p:nvSpPr>
          <p:cNvPr id="16" name="TextBox 15"/>
          <p:cNvSpPr txBox="1"/>
          <p:nvPr/>
        </p:nvSpPr>
        <p:spPr>
          <a:xfrm>
            <a:off x="7936992" y="4215383"/>
            <a:ext cx="3383280" cy="347472"/>
          </a:xfrm>
          <a:prstGeom prst="rect">
            <a:avLst/>
          </a:prstGeom>
          <a:noFill/>
        </p:spPr>
        <p:txBody>
          <a:bodyPr wrap="square" lIns="0" rIns="0" tIns="0" bIns="0">
            <a:spAutoFit/>
          </a:bodyPr>
          <a:lstStyle/>
          <a:p>
            <a:pPr>
              <a:lnSpc>
                <a:spcPct val="112000"/>
              </a:lnSpc>
              <a:spcAft>
                <a:spcPts val="700"/>
              </a:spcAft>
              <a:defRPr sz="1300" b="0">
                <a:solidFill>
                  <a:srgbClr val="687E72"/>
                </a:solidFill>
                <a:latin typeface="Aptos"/>
              </a:defRPr>
            </a:pPr>
            <a:r>
              <a:t>Patient: update appears; revoke access</a:t>
            </a:r>
          </a:p>
        </p:txBody>
      </p:sp>
      <p:sp>
        <p:nvSpPr>
          <p:cNvPr id="17" name="TextBox 16"/>
          <p:cNvSpPr txBox="1"/>
          <p:nvPr/>
        </p:nvSpPr>
        <p:spPr>
          <a:xfrm>
            <a:off x="7443216" y="4681728"/>
            <a:ext cx="365760" cy="256032"/>
          </a:xfrm>
          <a:prstGeom prst="rect">
            <a:avLst/>
          </a:prstGeom>
          <a:noFill/>
        </p:spPr>
        <p:txBody>
          <a:bodyPr wrap="square" lIns="0" rIns="0" tIns="0" bIns="0">
            <a:spAutoFit/>
          </a:bodyPr>
          <a:lstStyle/>
          <a:p>
            <a:pPr>
              <a:lnSpc>
                <a:spcPct val="112000"/>
              </a:lnSpc>
              <a:spcAft>
                <a:spcPts val="700"/>
              </a:spcAft>
              <a:defRPr sz="1200" b="1">
                <a:solidFill>
                  <a:srgbClr val="236A54"/>
                </a:solidFill>
                <a:latin typeface="Aptos"/>
              </a:defRPr>
            </a:pPr>
            <a:r>
              <a:t>04</a:t>
            </a:r>
          </a:p>
        </p:txBody>
      </p:sp>
      <p:sp>
        <p:nvSpPr>
          <p:cNvPr id="18" name="TextBox 17"/>
          <p:cNvSpPr txBox="1"/>
          <p:nvPr/>
        </p:nvSpPr>
        <p:spPr>
          <a:xfrm>
            <a:off x="7936992" y="4681728"/>
            <a:ext cx="3383280" cy="347472"/>
          </a:xfrm>
          <a:prstGeom prst="rect">
            <a:avLst/>
          </a:prstGeom>
          <a:noFill/>
        </p:spPr>
        <p:txBody>
          <a:bodyPr wrap="square" lIns="0" rIns="0" tIns="0" bIns="0">
            <a:spAutoFit/>
          </a:bodyPr>
          <a:lstStyle/>
          <a:p>
            <a:pPr>
              <a:lnSpc>
                <a:spcPct val="112000"/>
              </a:lnSpc>
              <a:spcAft>
                <a:spcPts val="700"/>
              </a:spcAft>
              <a:defRPr sz="1300" b="0">
                <a:solidFill>
                  <a:srgbClr val="687E72"/>
                </a:solidFill>
                <a:latin typeface="Aptos"/>
              </a:defRPr>
            </a:pPr>
            <a:r>
              <a:t>Doctor: medical access is denied</a:t>
            </a:r>
          </a:p>
        </p:txBody>
      </p:sp>
      <p:sp>
        <p:nvSpPr>
          <p:cNvPr id="19" name="Rounded Rectangle 18"/>
          <p:cNvSpPr/>
          <p:nvPr/>
        </p:nvSpPr>
        <p:spPr>
          <a:xfrm>
            <a:off x="7406640" y="5431536"/>
            <a:ext cx="4151376" cy="685800"/>
          </a:xfrm>
          <a:prstGeom prst="roundRect">
            <a:avLst>
              <a:gd name="adj" fmla="val 12000"/>
            </a:avLst>
          </a:prstGeom>
          <a:solidFill>
            <a:srgbClr val="DAEA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5568696"/>
            <a:ext cx="3813048" cy="393192"/>
          </a:xfrm>
          <a:prstGeom prst="rect">
            <a:avLst/>
          </a:prstGeom>
          <a:noFill/>
        </p:spPr>
        <p:txBody>
          <a:bodyPr wrap="square" lIns="0" rIns="0" tIns="0" bIns="0">
            <a:spAutoFit/>
          </a:bodyPr>
          <a:lstStyle/>
          <a:p>
            <a:pPr>
              <a:lnSpc>
                <a:spcPct val="112000"/>
              </a:lnSpc>
              <a:spcAft>
                <a:spcPts val="700"/>
              </a:spcAft>
              <a:defRPr sz="1200" b="1">
                <a:solidFill>
                  <a:srgbClr val="236A54"/>
                </a:solidFill>
                <a:latin typeface="Aptos"/>
              </a:defRPr>
            </a:pPr>
            <a:r>
              <a:t>NEXT: verified clinicians, encrypted storage and reliable background reminders.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Medico | Working, Technology Stack and Architecture</dc:title>
  <dc:subject>Seven-slide round-two project presentation</dc:subject>
  <dc:creator>Digital Medico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