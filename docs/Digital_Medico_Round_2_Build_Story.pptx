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Digital Medico as a working website prototype. We built two portals around emergency medical history, patient–doctor communication and medication reminders. This presentation explains the implementation process, demonstrates verified workflows, and separates current capabilities from production proposals. Do not claim real biometric authentication, trained clinical AI or production healthcare compliance.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read the full presentation, including its diagrams and speaker notes. The emergency problem was not simply storing documents: the doctor needs a concise, reliable medical context. We translated the three gaps into the website’s three main workflows, without inventing measured impact figures.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roles before demonstrating features. The patient can read their own information and make consent decisions. The doctor can make clinical updates only for assigned patients with active consent. Patient account creation creates an isolated profile instead of copying the seeded patient’s history.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implementation roadmap. We began with an almost empty repository, established the standard website stack, and built a real local API and database. Features were connected through that API rather than simulated solely in the interface. Validation and packaging were part of the build,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actual login screen. We fixed role mismatch handling so a patient account cannot enter the doctor portal by selecting it. Emails are normalized, passwords are hashed, sessions are rotated on login and authenticated writes require a CSRF token. Browser tests verified both portals, page refresh and sign-out in development and built-website modes.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the implemented stack: React and Vite, a Python standard-library HTTP API, and SQLite. FastAPI, MySQL and background workers are proposed upgrades, not present services. The website uses same-origin API requests; the production start mode serves both built frontend and API from one server. Medical authorization happens on the server.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clinical entity is associated with a patient. Registered patients begin with an empty profile and separate records. Server tests attempt cross-patient reads and medication writes and confirm they are rejected. Clinician queries also check assignment, so knowing a patient identifier is not enough to authorize access.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doctor history screenshot as evidence of the real interface. We implemented profile updates, clinical record creation, prescriptions, and persistence. The patient cannot edit clinical records through the API. Browser tests created a separate patient, added their first consultation and checked that it appeared only in that patient’s account.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clinician provides a matching emergency ID and an access reason, then performs a clearly labeled simulated verification. The event is audited. This demo does not collect biometric data and does not bypass revoked consent. A production emergency override would need explicit institutional policy, legal basis, limited access and additional audit controls.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Doctoc is a scripted assistant in this prototype, not a trained clinical language model. It can read recorded schedules, route clinical questions to a doctor and provide conservative emergency guidance for urgent symptom keywords. Questions sent while consent is disabled are stored privately and become shareable only when the patient grants access.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Schedules use IST. The current website displays reminders while open, supports optional browser notifications and an opt-in short sound, and allows taken, snoozed or missed decisions. A browser test advanced the clock to verify the reminder and automatic timeout. The demo labels unconfirmed timeouts as missed; production must distinguish those states and cannot promise alarms when the browser is closed.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privacy tests check the backend and the visible interface. Revocation does not merely change a switch: server medical access is denied, and a cross-session browser test confirmed that an open clinical form and cached audit rows are cleared on refresh. We also use password hashing, HTTP-only sessions, CSRF tokens, rate limiting and scoped SQL. These are prototype controls, not a compliance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13 functional API tests passed against an isolated temporary database. Browser automation verified both development and built modes and exercised the full patient-to-doctor workflow, including timed reminders and consent revocation. The mobile layout was checked for overflow and sign-out usability. Do not describe this as load testing, clinical validation or a penetration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includes complete website source, tests and documentation. npm run dev starts the interface and API together. npm run build followed by npm start serves the built website with its backend. Source was pushed to the main branch of vedhamreddy/digital-medico-branch-main. A GitHub source download requires installing dependencies and building if using the prebuilt launcher; local databases and node_modules were excluded.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 a modular FastAPI backend rather than prematurely splitting into microservices. Replace local SQLite with private MySQL, add encrypted document storage and backups, durable reminder workers, clinician verification and MFA, and a separate protected audit system. Any external clinical AI requires privacy review, minimal permitted context and clinical evaluation. Real biometric identity is also a separate specialist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live demo sequence in docs/DEMO.md. Explain that the prototype demonstrates connected workflows and server-enforced access controls, not measured clinical outcomes. Answer questions honestly about simulated biometrics, scripted Doctoc, local storage encryption and browser reminder limitations. The production roadmap preserves the same care loop while upgrading identity, storage, notifications and clinical validation.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72E"/>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D6B577"/>
                </a:solidFill>
                <a:latin typeface="Aptos"/>
              </a:defRPr>
            </a:pPr>
            <a:r>
              <a:t>DIGITAL MEDICO  /  ROUND TWO</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FFFFFF"/>
                </a:solidFill>
                <a:latin typeface="Aptos"/>
              </a:defRPr>
            </a:pPr>
            <a:r>
              <a:t>Care, connected.</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B4CCB9"/>
                </a:solidFill>
                <a:latin typeface="Aptos"/>
              </a:defRPr>
            </a:pPr>
            <a:r>
              <a:t>From a healthcare problem to a working, privacy-first website.</a:t>
            </a:r>
          </a:p>
        </p:txBody>
      </p:sp>
      <p:sp>
        <p:nvSpPr>
          <p:cNvPr id="5" name="Rectangle 4"/>
          <p:cNvSpPr/>
          <p:nvPr/>
        </p:nvSpPr>
        <p:spPr>
          <a:xfrm>
            <a:off x="594360" y="6446520"/>
            <a:ext cx="11000232" cy="10972"/>
          </a:xfrm>
          <a:prstGeom prst="rect">
            <a:avLst/>
          </a:prstGeom>
          <a:solidFill>
            <a:srgbClr val="36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A6C0AB"/>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A6C0AB"/>
                </a:solidFill>
                <a:latin typeface="Aptos"/>
              </a:defRPr>
            </a:pPr>
            <a:r>
              <a:t>01 / 16</a:t>
            </a:r>
          </a:p>
        </p:txBody>
      </p:sp>
      <p:sp>
        <p:nvSpPr>
          <p:cNvPr id="8" name="TextBox 7"/>
          <p:cNvSpPr txBox="1"/>
          <p:nvPr/>
        </p:nvSpPr>
        <p:spPr>
          <a:xfrm>
            <a:off x="612648" y="2606040"/>
            <a:ext cx="6217920" cy="1325880"/>
          </a:xfrm>
          <a:prstGeom prst="rect">
            <a:avLst/>
          </a:prstGeom>
          <a:noFill/>
        </p:spPr>
        <p:txBody>
          <a:bodyPr wrap="square" lIns="0" rIns="0" tIns="0" bIns="0">
            <a:spAutoFit/>
          </a:bodyPr>
          <a:lstStyle/>
          <a:p>
            <a:pPr>
              <a:lnSpc>
                <a:spcPct val="112000"/>
              </a:lnSpc>
              <a:spcAft>
                <a:spcPts val="700"/>
              </a:spcAft>
              <a:defRPr sz="5100" b="1">
                <a:solidFill>
                  <a:srgbClr val="FFFFFF"/>
                </a:solidFill>
                <a:latin typeface="Aptos"/>
              </a:defRPr>
            </a:pPr>
            <a:r>
              <a:t>DIGITAL</a:t>
            </a:r>
          </a:p>
          <a:p>
            <a:pPr>
              <a:lnSpc>
                <a:spcPct val="112000"/>
              </a:lnSpc>
              <a:spcAft>
                <a:spcPts val="700"/>
              </a:spcAft>
              <a:defRPr sz="5100" b="1">
                <a:solidFill>
                  <a:srgbClr val="FFFFFF"/>
                </a:solidFill>
                <a:latin typeface="Aptos"/>
              </a:defRPr>
            </a:pPr>
            <a:r>
              <a:t>MEDICO</a:t>
            </a:r>
          </a:p>
        </p:txBody>
      </p:sp>
      <p:sp>
        <p:nvSpPr>
          <p:cNvPr id="9" name="TextBox 8"/>
          <p:cNvSpPr txBox="1"/>
          <p:nvPr/>
        </p:nvSpPr>
        <p:spPr>
          <a:xfrm>
            <a:off x="640080" y="4526280"/>
            <a:ext cx="5852160" cy="685800"/>
          </a:xfrm>
          <a:prstGeom prst="rect">
            <a:avLst/>
          </a:prstGeom>
          <a:noFill/>
        </p:spPr>
        <p:txBody>
          <a:bodyPr wrap="square" lIns="0" rIns="0" tIns="0" bIns="0">
            <a:spAutoFit/>
          </a:bodyPr>
          <a:lstStyle/>
          <a:p>
            <a:pPr>
              <a:lnSpc>
                <a:spcPct val="112000"/>
              </a:lnSpc>
              <a:spcAft>
                <a:spcPts val="700"/>
              </a:spcAft>
              <a:defRPr sz="1900" b="0">
                <a:solidFill>
                  <a:srgbClr val="B4CCB9"/>
                </a:solidFill>
                <a:latin typeface="Aptos"/>
              </a:defRPr>
            </a:pPr>
            <a:r>
              <a:t>Patient history. Medication adherence.</a:t>
            </a:r>
          </a:p>
          <a:p>
            <a:pPr>
              <a:lnSpc>
                <a:spcPct val="112000"/>
              </a:lnSpc>
              <a:spcAft>
                <a:spcPts val="700"/>
              </a:spcAft>
              <a:defRPr sz="1900" b="0">
                <a:solidFill>
                  <a:srgbClr val="B4CCB9"/>
                </a:solidFill>
                <a:latin typeface="Aptos"/>
              </a:defRPr>
            </a:pPr>
            <a:r>
              <a:t>A direct line to the doctor.</a:t>
            </a:r>
          </a:p>
        </p:txBody>
      </p:sp>
      <p:sp>
        <p:nvSpPr>
          <p:cNvPr id="10" name="Rounded Rectangle 9"/>
          <p:cNvSpPr/>
          <p:nvPr/>
        </p:nvSpPr>
        <p:spPr>
          <a:xfrm>
            <a:off x="640080" y="5623560"/>
            <a:ext cx="2286000" cy="338328"/>
          </a:xfrm>
          <a:prstGeom prst="roundRect">
            <a:avLst>
              <a:gd name="adj" fmla="val 12000"/>
            </a:avLst>
          </a:prstGeom>
          <a:solidFill>
            <a:srgbClr val="36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1" y="5692140"/>
            <a:ext cx="2139696" cy="201168"/>
          </a:xfrm>
          <a:prstGeom prst="rect">
            <a:avLst/>
          </a:prstGeom>
          <a:noFill/>
        </p:spPr>
        <p:txBody>
          <a:bodyPr wrap="square" lIns="0" rIns="0" tIns="0" bIns="0">
            <a:spAutoFit/>
          </a:bodyPr>
          <a:lstStyle/>
          <a:p>
            <a:pPr algn="ctr">
              <a:lnSpc>
                <a:spcPct val="112000"/>
              </a:lnSpc>
              <a:spcAft>
                <a:spcPts val="700"/>
              </a:spcAft>
              <a:defRPr sz="900" b="1">
                <a:solidFill>
                  <a:srgbClr val="FFFFFF"/>
                </a:solidFill>
                <a:latin typeface="Aptos"/>
              </a:defRPr>
            </a:pPr>
            <a:r>
              <a:t>24-HOUR HACKATHON</a:t>
            </a:r>
          </a:p>
        </p:txBody>
      </p:sp>
      <p:sp>
        <p:nvSpPr>
          <p:cNvPr id="12" name="Rounded Rectangle 11"/>
          <p:cNvSpPr/>
          <p:nvPr/>
        </p:nvSpPr>
        <p:spPr>
          <a:xfrm>
            <a:off x="3081528" y="5623560"/>
            <a:ext cx="2468880" cy="338328"/>
          </a:xfrm>
          <a:prstGeom prst="roundRect">
            <a:avLst>
              <a:gd name="adj" fmla="val 12000"/>
            </a:avLst>
          </a:prstGeom>
          <a:solidFill>
            <a:srgbClr val="36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5692140"/>
            <a:ext cx="2322576" cy="201168"/>
          </a:xfrm>
          <a:prstGeom prst="rect">
            <a:avLst/>
          </a:prstGeom>
          <a:noFill/>
        </p:spPr>
        <p:txBody>
          <a:bodyPr wrap="square" lIns="0" rIns="0" tIns="0" bIns="0">
            <a:spAutoFit/>
          </a:bodyPr>
          <a:lstStyle/>
          <a:p>
            <a:pPr algn="ctr">
              <a:lnSpc>
                <a:spcPct val="112000"/>
              </a:lnSpc>
              <a:spcAft>
                <a:spcPts val="700"/>
              </a:spcAft>
              <a:defRPr sz="900" b="1">
                <a:solidFill>
                  <a:srgbClr val="FFFFFF"/>
                </a:solidFill>
                <a:latin typeface="Aptos"/>
              </a:defRPr>
            </a:pPr>
            <a:r>
              <a:t>ROUND 2 • BUILD STORY</a:t>
            </a:r>
          </a:p>
        </p:txBody>
      </p:sp>
      <p:sp>
        <p:nvSpPr>
          <p:cNvPr id="14" name="Rounded Rectangle 13"/>
          <p:cNvSpPr/>
          <p:nvPr/>
        </p:nvSpPr>
        <p:spPr>
          <a:xfrm>
            <a:off x="7680960" y="2468880"/>
            <a:ext cx="3291840" cy="932688"/>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45552" y="2615184"/>
            <a:ext cx="457200" cy="274320"/>
          </a:xfrm>
          <a:prstGeom prst="rect">
            <a:avLst/>
          </a:prstGeom>
          <a:noFill/>
        </p:spPr>
        <p:txBody>
          <a:bodyPr wrap="square" lIns="0" rIns="0" tIns="0" bIns="0">
            <a:spAutoFit/>
          </a:bodyPr>
          <a:lstStyle/>
          <a:p>
            <a:pPr>
              <a:lnSpc>
                <a:spcPct val="112000"/>
              </a:lnSpc>
              <a:spcAft>
                <a:spcPts val="700"/>
              </a:spcAft>
              <a:defRPr sz="1500" b="1">
                <a:solidFill>
                  <a:srgbClr val="D6B577"/>
                </a:solidFill>
                <a:latin typeface="Aptos"/>
              </a:defRPr>
            </a:pPr>
            <a:r>
              <a:t>01</a:t>
            </a:r>
          </a:p>
        </p:txBody>
      </p:sp>
      <p:sp>
        <p:nvSpPr>
          <p:cNvPr id="16" name="TextBox 15"/>
          <p:cNvSpPr txBox="1"/>
          <p:nvPr/>
        </p:nvSpPr>
        <p:spPr>
          <a:xfrm>
            <a:off x="8458200" y="2651760"/>
            <a:ext cx="2331720" cy="502920"/>
          </a:xfrm>
          <a:prstGeom prst="rect">
            <a:avLst/>
          </a:prstGeom>
          <a:noFill/>
        </p:spPr>
        <p:txBody>
          <a:bodyPr wrap="square" lIns="0" rIns="0" tIns="0" bIns="0">
            <a:spAutoFit/>
          </a:bodyPr>
          <a:lstStyle/>
          <a:p>
            <a:pPr>
              <a:lnSpc>
                <a:spcPct val="112000"/>
              </a:lnSpc>
              <a:spcAft>
                <a:spcPts val="700"/>
              </a:spcAft>
              <a:defRPr sz="1700" b="1">
                <a:solidFill>
                  <a:srgbClr val="FFFFFF"/>
                </a:solidFill>
                <a:latin typeface="Aptos"/>
              </a:defRPr>
            </a:pPr>
            <a:r>
              <a:t>Emergency history</a:t>
            </a:r>
          </a:p>
        </p:txBody>
      </p:sp>
      <p:sp>
        <p:nvSpPr>
          <p:cNvPr id="17" name="Rounded Rectangle 16"/>
          <p:cNvSpPr/>
          <p:nvPr/>
        </p:nvSpPr>
        <p:spPr>
          <a:xfrm>
            <a:off x="8321040" y="3657600"/>
            <a:ext cx="3291840" cy="932688"/>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85632" y="3803904"/>
            <a:ext cx="457200" cy="274320"/>
          </a:xfrm>
          <a:prstGeom prst="rect">
            <a:avLst/>
          </a:prstGeom>
          <a:noFill/>
        </p:spPr>
        <p:txBody>
          <a:bodyPr wrap="square" lIns="0" rIns="0" tIns="0" bIns="0">
            <a:spAutoFit/>
          </a:bodyPr>
          <a:lstStyle/>
          <a:p>
            <a:pPr>
              <a:lnSpc>
                <a:spcPct val="112000"/>
              </a:lnSpc>
              <a:spcAft>
                <a:spcPts val="700"/>
              </a:spcAft>
              <a:defRPr sz="1500" b="1">
                <a:solidFill>
                  <a:srgbClr val="D6B577"/>
                </a:solidFill>
                <a:latin typeface="Aptos"/>
              </a:defRPr>
            </a:pPr>
            <a:r>
              <a:t>02</a:t>
            </a:r>
          </a:p>
        </p:txBody>
      </p:sp>
      <p:sp>
        <p:nvSpPr>
          <p:cNvPr id="19" name="TextBox 18"/>
          <p:cNvSpPr txBox="1"/>
          <p:nvPr/>
        </p:nvSpPr>
        <p:spPr>
          <a:xfrm>
            <a:off x="9098280" y="3840480"/>
            <a:ext cx="2331720" cy="502920"/>
          </a:xfrm>
          <a:prstGeom prst="rect">
            <a:avLst/>
          </a:prstGeom>
          <a:noFill/>
        </p:spPr>
        <p:txBody>
          <a:bodyPr wrap="square" lIns="0" rIns="0" tIns="0" bIns="0">
            <a:spAutoFit/>
          </a:bodyPr>
          <a:lstStyle/>
          <a:p>
            <a:pPr>
              <a:lnSpc>
                <a:spcPct val="112000"/>
              </a:lnSpc>
              <a:spcAft>
                <a:spcPts val="700"/>
              </a:spcAft>
              <a:defRPr sz="1700" b="1">
                <a:solidFill>
                  <a:srgbClr val="FFFFFF"/>
                </a:solidFill>
                <a:latin typeface="Aptos"/>
              </a:defRPr>
            </a:pPr>
            <a:r>
              <a:t>Doctoc communication</a:t>
            </a:r>
          </a:p>
        </p:txBody>
      </p:sp>
      <p:sp>
        <p:nvSpPr>
          <p:cNvPr id="20" name="Rounded Rectangle 19"/>
          <p:cNvSpPr/>
          <p:nvPr/>
        </p:nvSpPr>
        <p:spPr>
          <a:xfrm>
            <a:off x="7680960" y="4846320"/>
            <a:ext cx="3291840" cy="932688"/>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45552" y="4992624"/>
            <a:ext cx="457200" cy="274320"/>
          </a:xfrm>
          <a:prstGeom prst="rect">
            <a:avLst/>
          </a:prstGeom>
          <a:noFill/>
        </p:spPr>
        <p:txBody>
          <a:bodyPr wrap="square" lIns="0" rIns="0" tIns="0" bIns="0">
            <a:spAutoFit/>
          </a:bodyPr>
          <a:lstStyle/>
          <a:p>
            <a:pPr>
              <a:lnSpc>
                <a:spcPct val="112000"/>
              </a:lnSpc>
              <a:spcAft>
                <a:spcPts val="700"/>
              </a:spcAft>
              <a:defRPr sz="1500" b="1">
                <a:solidFill>
                  <a:srgbClr val="D6B577"/>
                </a:solidFill>
                <a:latin typeface="Aptos"/>
              </a:defRPr>
            </a:pPr>
            <a:r>
              <a:t>03</a:t>
            </a:r>
          </a:p>
        </p:txBody>
      </p:sp>
      <p:sp>
        <p:nvSpPr>
          <p:cNvPr id="22" name="TextBox 21"/>
          <p:cNvSpPr txBox="1"/>
          <p:nvPr/>
        </p:nvSpPr>
        <p:spPr>
          <a:xfrm>
            <a:off x="8458200" y="5029200"/>
            <a:ext cx="2331720" cy="502920"/>
          </a:xfrm>
          <a:prstGeom prst="rect">
            <a:avLst/>
          </a:prstGeom>
          <a:noFill/>
        </p:spPr>
        <p:txBody>
          <a:bodyPr wrap="square" lIns="0" rIns="0" tIns="0" bIns="0">
            <a:spAutoFit/>
          </a:bodyPr>
          <a:lstStyle/>
          <a:p>
            <a:pPr>
              <a:lnSpc>
                <a:spcPct val="112000"/>
              </a:lnSpc>
              <a:spcAft>
                <a:spcPts val="700"/>
              </a:spcAft>
              <a:defRPr sz="1700" b="1">
                <a:solidFill>
                  <a:srgbClr val="FFFFFF"/>
                </a:solidFill>
                <a:latin typeface="Aptos"/>
              </a:defRPr>
            </a:pPr>
            <a:r>
              <a:t>Medication reminders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DIGITAL MEDICO  /  ROUND TWO</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Care loses context when records are scattered.</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The problem in the original presentation became three concrete product requirements.</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02 / 16</a:t>
            </a:r>
          </a:p>
        </p:txBody>
      </p:sp>
      <p:sp>
        <p:nvSpPr>
          <p:cNvPr id="8" name="Rounded Rectangle 7"/>
          <p:cNvSpPr/>
          <p:nvPr/>
        </p:nvSpPr>
        <p:spPr>
          <a:xfrm>
            <a:off x="594360" y="2560320"/>
            <a:ext cx="3529584" cy="3246120"/>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 y="2779776"/>
            <a:ext cx="3090672"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THE EMERGENCY GAP</a:t>
            </a:r>
          </a:p>
        </p:txBody>
      </p:sp>
      <p:sp>
        <p:nvSpPr>
          <p:cNvPr id="10" name="TextBox 9"/>
          <p:cNvSpPr txBox="1"/>
          <p:nvPr/>
        </p:nvSpPr>
        <p:spPr>
          <a:xfrm>
            <a:off x="813816" y="3310127"/>
            <a:ext cx="3090672"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Missing history</a:t>
            </a:r>
          </a:p>
        </p:txBody>
      </p:sp>
      <p:sp>
        <p:nvSpPr>
          <p:cNvPr id="11" name="TextBox 10"/>
          <p:cNvSpPr txBox="1"/>
          <p:nvPr/>
        </p:nvSpPr>
        <p:spPr>
          <a:xfrm>
            <a:off x="813816" y="4023360"/>
            <a:ext cx="3090672" cy="1600199"/>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A doctor may need to act before the patient can explain allergies, medication or previous treatment.</a:t>
            </a:r>
          </a:p>
        </p:txBody>
      </p:sp>
      <p:sp>
        <p:nvSpPr>
          <p:cNvPr id="12" name="Rounded Rectangle 11"/>
          <p:cNvSpPr/>
          <p:nvPr/>
        </p:nvSpPr>
        <p:spPr>
          <a:xfrm>
            <a:off x="4334256" y="2560320"/>
            <a:ext cx="3529584" cy="3246120"/>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779776"/>
            <a:ext cx="3090672"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THE COMMUNICATION GAP</a:t>
            </a:r>
          </a:p>
        </p:txBody>
      </p:sp>
      <p:sp>
        <p:nvSpPr>
          <p:cNvPr id="14" name="TextBox 13"/>
          <p:cNvSpPr txBox="1"/>
          <p:nvPr/>
        </p:nvSpPr>
        <p:spPr>
          <a:xfrm>
            <a:off x="4553712" y="3310127"/>
            <a:ext cx="3090672"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Delayed answers</a:t>
            </a:r>
          </a:p>
        </p:txBody>
      </p:sp>
      <p:sp>
        <p:nvSpPr>
          <p:cNvPr id="15" name="TextBox 14"/>
          <p:cNvSpPr txBox="1"/>
          <p:nvPr/>
        </p:nvSpPr>
        <p:spPr>
          <a:xfrm>
            <a:off x="4553712" y="4023360"/>
            <a:ext cx="3090672" cy="1600199"/>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Patients wait for appointments to ask simple questions or clarify their care plan.</a:t>
            </a:r>
          </a:p>
        </p:txBody>
      </p:sp>
      <p:sp>
        <p:nvSpPr>
          <p:cNvPr id="16" name="Rounded Rectangle 15"/>
          <p:cNvSpPr/>
          <p:nvPr/>
        </p:nvSpPr>
        <p:spPr>
          <a:xfrm>
            <a:off x="8074152" y="2560320"/>
            <a:ext cx="3529584" cy="3246120"/>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779776"/>
            <a:ext cx="3090672"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THE ADHERENCE GAP</a:t>
            </a:r>
          </a:p>
        </p:txBody>
      </p:sp>
      <p:sp>
        <p:nvSpPr>
          <p:cNvPr id="18" name="TextBox 17"/>
          <p:cNvSpPr txBox="1"/>
          <p:nvPr/>
        </p:nvSpPr>
        <p:spPr>
          <a:xfrm>
            <a:off x="8293608" y="3310127"/>
            <a:ext cx="3090672"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Forgotten doses</a:t>
            </a:r>
          </a:p>
        </p:txBody>
      </p:sp>
      <p:sp>
        <p:nvSpPr>
          <p:cNvPr id="19" name="TextBox 18"/>
          <p:cNvSpPr txBox="1"/>
          <p:nvPr/>
        </p:nvSpPr>
        <p:spPr>
          <a:xfrm>
            <a:off x="8293608" y="4023360"/>
            <a:ext cx="3090672" cy="1600199"/>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A prescription is useful only when the patient can follow its schedule consistently.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DIGITAL MEDICO  /  ROUND TWO</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Two portals. One connected care journey.</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A shared backend connects the patient’s control with the doctor’s clinical actions.</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03 / 16</a:t>
            </a:r>
          </a:p>
        </p:txBody>
      </p:sp>
      <p:sp>
        <p:nvSpPr>
          <p:cNvPr id="8" name="Rounded Rectangle 7"/>
          <p:cNvSpPr/>
          <p:nvPr/>
        </p:nvSpPr>
        <p:spPr>
          <a:xfrm>
            <a:off x="594360" y="2514600"/>
            <a:ext cx="5367528" cy="3246120"/>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 y="2734056"/>
            <a:ext cx="4928616"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PATIENT PORTAL</a:t>
            </a:r>
          </a:p>
        </p:txBody>
      </p:sp>
      <p:sp>
        <p:nvSpPr>
          <p:cNvPr id="10" name="TextBox 9"/>
          <p:cNvSpPr txBox="1"/>
          <p:nvPr/>
        </p:nvSpPr>
        <p:spPr>
          <a:xfrm>
            <a:off x="813816" y="3264408"/>
            <a:ext cx="4928616"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My health, my control</a:t>
            </a:r>
          </a:p>
        </p:txBody>
      </p:sp>
      <p:sp>
        <p:nvSpPr>
          <p:cNvPr id="11" name="TextBox 10"/>
          <p:cNvSpPr txBox="1"/>
          <p:nvPr/>
        </p:nvSpPr>
        <p:spPr>
          <a:xfrm>
            <a:off x="813816" y="3977639"/>
            <a:ext cx="4928616" cy="1600199"/>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View medical history and prescriptions.</a:t>
            </a:r>
          </a:p>
          <a:p>
            <a:pPr>
              <a:lnSpc>
                <a:spcPct val="112000"/>
              </a:lnSpc>
              <a:spcAft>
                <a:spcPts val="700"/>
              </a:spcAft>
              <a:defRPr sz="1500" b="0">
                <a:solidFill>
                  <a:srgbClr val="687E72"/>
                </a:solidFill>
                <a:latin typeface="Aptos"/>
              </a:defRPr>
            </a:pPr>
            <a:r>
              <a:t>Ask questions and confirm doses.</a:t>
            </a:r>
          </a:p>
          <a:p>
            <a:pPr>
              <a:lnSpc>
                <a:spcPct val="112000"/>
              </a:lnSpc>
              <a:spcAft>
                <a:spcPts val="700"/>
              </a:spcAft>
              <a:defRPr sz="1500" b="0">
                <a:solidFill>
                  <a:srgbClr val="687E72"/>
                </a:solidFill>
                <a:latin typeface="Aptos"/>
              </a:defRPr>
            </a:pPr>
            <a:r>
              <a:t>Grant or revoke doctor access.</a:t>
            </a:r>
          </a:p>
        </p:txBody>
      </p:sp>
      <p:sp>
        <p:nvSpPr>
          <p:cNvPr id="12" name="Rounded Rectangle 11"/>
          <p:cNvSpPr/>
          <p:nvPr/>
        </p:nvSpPr>
        <p:spPr>
          <a:xfrm>
            <a:off x="6181344" y="2514600"/>
            <a:ext cx="5367528" cy="3246120"/>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734056"/>
            <a:ext cx="4928616"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DOCTOR PORTAL</a:t>
            </a:r>
          </a:p>
        </p:txBody>
      </p:sp>
      <p:sp>
        <p:nvSpPr>
          <p:cNvPr id="14" name="TextBox 13"/>
          <p:cNvSpPr txBox="1"/>
          <p:nvPr/>
        </p:nvSpPr>
        <p:spPr>
          <a:xfrm>
            <a:off x="6400800" y="3264408"/>
            <a:ext cx="4928616"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Care with full context</a:t>
            </a:r>
          </a:p>
        </p:txBody>
      </p:sp>
      <p:sp>
        <p:nvSpPr>
          <p:cNvPr id="15" name="TextBox 14"/>
          <p:cNvSpPr txBox="1"/>
          <p:nvPr/>
        </p:nvSpPr>
        <p:spPr>
          <a:xfrm>
            <a:off x="6400800" y="3977639"/>
            <a:ext cx="4928616" cy="1600199"/>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Select an assigned, consenting patient.</a:t>
            </a:r>
          </a:p>
          <a:p>
            <a:pPr>
              <a:lnSpc>
                <a:spcPct val="112000"/>
              </a:lnSpc>
              <a:spcAft>
                <a:spcPts val="700"/>
              </a:spcAft>
              <a:defRPr sz="1500" b="0">
                <a:solidFill>
                  <a:srgbClr val="687E72"/>
                </a:solidFill>
                <a:latin typeface="Aptos"/>
              </a:defRPr>
            </a:pPr>
            <a:r>
              <a:t>Update clinical records and prescriptions.</a:t>
            </a:r>
          </a:p>
          <a:p>
            <a:pPr>
              <a:lnSpc>
                <a:spcPct val="112000"/>
              </a:lnSpc>
              <a:spcAft>
                <a:spcPts val="700"/>
              </a:spcAft>
              <a:defRPr sz="1500" b="0">
                <a:solidFill>
                  <a:srgbClr val="687E72"/>
                </a:solidFill>
                <a:latin typeface="Aptos"/>
              </a:defRPr>
            </a:pPr>
            <a:r>
              <a:t>Review questions and dose activity.</a:t>
            </a:r>
          </a:p>
        </p:txBody>
      </p:sp>
      <p:sp>
        <p:nvSpPr>
          <p:cNvPr id="16" name="TextBox 15"/>
          <p:cNvSpPr txBox="1"/>
          <p:nvPr/>
        </p:nvSpPr>
        <p:spPr>
          <a:xfrm>
            <a:off x="777240" y="5971032"/>
            <a:ext cx="10789920" cy="274320"/>
          </a:xfrm>
          <a:prstGeom prst="rect">
            <a:avLst/>
          </a:prstGeom>
          <a:noFill/>
        </p:spPr>
        <p:txBody>
          <a:bodyPr wrap="square" lIns="0" rIns="0" tIns="0" bIns="0">
            <a:spAutoFit/>
          </a:bodyPr>
          <a:lstStyle/>
          <a:p>
            <a:pPr>
              <a:lnSpc>
                <a:spcPct val="112000"/>
              </a:lnSpc>
              <a:spcAft>
                <a:spcPts val="700"/>
              </a:spcAft>
              <a:defRPr sz="1400" b="1">
                <a:solidFill>
                  <a:srgbClr val="236A54"/>
                </a:solidFill>
                <a:latin typeface="Aptos"/>
              </a:defRPr>
            </a:pPr>
            <a:r>
              <a:t>THE RULE: shared care must never become unrestricted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372E"/>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D6B577"/>
                </a:solidFill>
                <a:latin typeface="Aptos"/>
              </a:defRPr>
            </a:pPr>
            <a:r>
              <a:t>DIGITAL MEDICO  /  ROUND TWO</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FFFFFF"/>
                </a:solidFill>
                <a:latin typeface="Aptos"/>
              </a:defRPr>
            </a:pPr>
            <a:r>
              <a:t>How we built it, step by step.</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B4CCB9"/>
                </a:solidFill>
                <a:latin typeface="Aptos"/>
              </a:defRPr>
            </a:pPr>
            <a:r>
              <a:t>A focused build sequence kept the prototype achievable and reviewable.</a:t>
            </a:r>
          </a:p>
        </p:txBody>
      </p:sp>
      <p:sp>
        <p:nvSpPr>
          <p:cNvPr id="5" name="Rectangle 4"/>
          <p:cNvSpPr/>
          <p:nvPr/>
        </p:nvSpPr>
        <p:spPr>
          <a:xfrm>
            <a:off x="594360" y="6446520"/>
            <a:ext cx="11000232" cy="10972"/>
          </a:xfrm>
          <a:prstGeom prst="rect">
            <a:avLst/>
          </a:prstGeom>
          <a:solidFill>
            <a:srgbClr val="36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A6C0AB"/>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A6C0AB"/>
                </a:solidFill>
                <a:latin typeface="Aptos"/>
              </a:defRPr>
            </a:pPr>
            <a:r>
              <a:t>04 / 16</a:t>
            </a:r>
          </a:p>
        </p:txBody>
      </p:sp>
      <p:sp>
        <p:nvSpPr>
          <p:cNvPr id="8" name="Rounded Rectangle 7"/>
          <p:cNvSpPr/>
          <p:nvPr/>
        </p:nvSpPr>
        <p:spPr>
          <a:xfrm>
            <a:off x="594360" y="2487168"/>
            <a:ext cx="2624328" cy="1517904"/>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633472"/>
            <a:ext cx="548640" cy="29260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01</a:t>
            </a:r>
          </a:p>
        </p:txBody>
      </p:sp>
      <p:sp>
        <p:nvSpPr>
          <p:cNvPr id="10" name="TextBox 9"/>
          <p:cNvSpPr txBox="1"/>
          <p:nvPr/>
        </p:nvSpPr>
        <p:spPr>
          <a:xfrm>
            <a:off x="758952" y="3072384"/>
            <a:ext cx="2313432" cy="457200"/>
          </a:xfrm>
          <a:prstGeom prst="rect">
            <a:avLst/>
          </a:prstGeom>
          <a:noFill/>
        </p:spPr>
        <p:txBody>
          <a:bodyPr wrap="square" lIns="0" rIns="0" tIns="0" bIns="0">
            <a:spAutoFit/>
          </a:bodyPr>
          <a:lstStyle/>
          <a:p>
            <a:pPr>
              <a:lnSpc>
                <a:spcPct val="112000"/>
              </a:lnSpc>
              <a:spcAft>
                <a:spcPts val="700"/>
              </a:spcAft>
              <a:defRPr sz="1600" b="1">
                <a:solidFill>
                  <a:srgbClr val="FFFFFF"/>
                </a:solidFill>
                <a:latin typeface="Aptos"/>
              </a:defRPr>
            </a:pPr>
            <a:r>
              <a:t>Define the scope</a:t>
            </a:r>
          </a:p>
        </p:txBody>
      </p:sp>
      <p:sp>
        <p:nvSpPr>
          <p:cNvPr id="11" name="TextBox 10"/>
          <p:cNvSpPr txBox="1"/>
          <p:nvPr/>
        </p:nvSpPr>
        <p:spPr>
          <a:xfrm>
            <a:off x="758952" y="3584448"/>
            <a:ext cx="2313432" cy="347472"/>
          </a:xfrm>
          <a:prstGeom prst="rect">
            <a:avLst/>
          </a:prstGeom>
          <a:noFill/>
        </p:spPr>
        <p:txBody>
          <a:bodyPr wrap="square" lIns="0" rIns="0" tIns="0" bIns="0">
            <a:spAutoFit/>
          </a:bodyPr>
          <a:lstStyle/>
          <a:p>
            <a:pPr>
              <a:lnSpc>
                <a:spcPct val="112000"/>
              </a:lnSpc>
              <a:spcAft>
                <a:spcPts val="700"/>
              </a:spcAft>
              <a:defRPr sz="1000" b="0">
                <a:solidFill>
                  <a:srgbClr val="B4CCB9"/>
                </a:solidFill>
                <a:latin typeface="Aptos"/>
              </a:defRPr>
            </a:pPr>
            <a:r>
              <a:t>Read the deck; select core workflows.</a:t>
            </a:r>
          </a:p>
        </p:txBody>
      </p:sp>
      <p:sp>
        <p:nvSpPr>
          <p:cNvPr id="12" name="Rounded Rectangle 11"/>
          <p:cNvSpPr/>
          <p:nvPr/>
        </p:nvSpPr>
        <p:spPr>
          <a:xfrm>
            <a:off x="3410712" y="2487168"/>
            <a:ext cx="2624328" cy="1517904"/>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633472"/>
            <a:ext cx="548640" cy="29260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02</a:t>
            </a:r>
          </a:p>
        </p:txBody>
      </p:sp>
      <p:sp>
        <p:nvSpPr>
          <p:cNvPr id="14" name="TextBox 13"/>
          <p:cNvSpPr txBox="1"/>
          <p:nvPr/>
        </p:nvSpPr>
        <p:spPr>
          <a:xfrm>
            <a:off x="3575304" y="3072384"/>
            <a:ext cx="2313432" cy="457200"/>
          </a:xfrm>
          <a:prstGeom prst="rect">
            <a:avLst/>
          </a:prstGeom>
          <a:noFill/>
        </p:spPr>
        <p:txBody>
          <a:bodyPr wrap="square" lIns="0" rIns="0" tIns="0" bIns="0">
            <a:spAutoFit/>
          </a:bodyPr>
          <a:lstStyle/>
          <a:p>
            <a:pPr>
              <a:lnSpc>
                <a:spcPct val="112000"/>
              </a:lnSpc>
              <a:spcAft>
                <a:spcPts val="700"/>
              </a:spcAft>
              <a:defRPr sz="1600" b="1">
                <a:solidFill>
                  <a:srgbClr val="FFFFFF"/>
                </a:solidFill>
                <a:latin typeface="Aptos"/>
              </a:defRPr>
            </a:pPr>
            <a:r>
              <a:t>Design the experience</a:t>
            </a:r>
          </a:p>
        </p:txBody>
      </p:sp>
      <p:sp>
        <p:nvSpPr>
          <p:cNvPr id="15" name="TextBox 14"/>
          <p:cNvSpPr txBox="1"/>
          <p:nvPr/>
        </p:nvSpPr>
        <p:spPr>
          <a:xfrm>
            <a:off x="3575304" y="3584448"/>
            <a:ext cx="2313432" cy="347472"/>
          </a:xfrm>
          <a:prstGeom prst="rect">
            <a:avLst/>
          </a:prstGeom>
          <a:noFill/>
        </p:spPr>
        <p:txBody>
          <a:bodyPr wrap="square" lIns="0" rIns="0" tIns="0" bIns="0">
            <a:spAutoFit/>
          </a:bodyPr>
          <a:lstStyle/>
          <a:p>
            <a:pPr>
              <a:lnSpc>
                <a:spcPct val="112000"/>
              </a:lnSpc>
              <a:spcAft>
                <a:spcPts val="700"/>
              </a:spcAft>
              <a:defRPr sz="1000" b="0">
                <a:solidFill>
                  <a:srgbClr val="B4CCB9"/>
                </a:solidFill>
                <a:latin typeface="Aptos"/>
              </a:defRPr>
            </a:pPr>
            <a:r>
              <a:t>Separate patient and doctor journeys.</a:t>
            </a:r>
          </a:p>
        </p:txBody>
      </p:sp>
      <p:sp>
        <p:nvSpPr>
          <p:cNvPr id="16" name="Rounded Rectangle 15"/>
          <p:cNvSpPr/>
          <p:nvPr/>
        </p:nvSpPr>
        <p:spPr>
          <a:xfrm>
            <a:off x="6227064" y="2487168"/>
            <a:ext cx="2624328" cy="1517904"/>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6" y="2633472"/>
            <a:ext cx="548640" cy="29260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03</a:t>
            </a:r>
          </a:p>
        </p:txBody>
      </p:sp>
      <p:sp>
        <p:nvSpPr>
          <p:cNvPr id="18" name="TextBox 17"/>
          <p:cNvSpPr txBox="1"/>
          <p:nvPr/>
        </p:nvSpPr>
        <p:spPr>
          <a:xfrm>
            <a:off x="6391656" y="3072384"/>
            <a:ext cx="2313432" cy="457200"/>
          </a:xfrm>
          <a:prstGeom prst="rect">
            <a:avLst/>
          </a:prstGeom>
          <a:noFill/>
        </p:spPr>
        <p:txBody>
          <a:bodyPr wrap="square" lIns="0" rIns="0" tIns="0" bIns="0">
            <a:spAutoFit/>
          </a:bodyPr>
          <a:lstStyle/>
          <a:p>
            <a:pPr>
              <a:lnSpc>
                <a:spcPct val="112000"/>
              </a:lnSpc>
              <a:spcAft>
                <a:spcPts val="700"/>
              </a:spcAft>
              <a:defRPr sz="1600" b="1">
                <a:solidFill>
                  <a:srgbClr val="FFFFFF"/>
                </a:solidFill>
                <a:latin typeface="Aptos"/>
              </a:defRPr>
            </a:pPr>
            <a:r>
              <a:t>Build authentication</a:t>
            </a:r>
          </a:p>
        </p:txBody>
      </p:sp>
      <p:sp>
        <p:nvSpPr>
          <p:cNvPr id="19" name="TextBox 18"/>
          <p:cNvSpPr txBox="1"/>
          <p:nvPr/>
        </p:nvSpPr>
        <p:spPr>
          <a:xfrm>
            <a:off x="6391656" y="3584448"/>
            <a:ext cx="2313432" cy="347472"/>
          </a:xfrm>
          <a:prstGeom prst="rect">
            <a:avLst/>
          </a:prstGeom>
          <a:noFill/>
        </p:spPr>
        <p:txBody>
          <a:bodyPr wrap="square" lIns="0" rIns="0" tIns="0" bIns="0">
            <a:spAutoFit/>
          </a:bodyPr>
          <a:lstStyle/>
          <a:p>
            <a:pPr>
              <a:lnSpc>
                <a:spcPct val="112000"/>
              </a:lnSpc>
              <a:spcAft>
                <a:spcPts val="700"/>
              </a:spcAft>
              <a:defRPr sz="1000" b="0">
                <a:solidFill>
                  <a:srgbClr val="B4CCB9"/>
                </a:solidFill>
                <a:latin typeface="Aptos"/>
              </a:defRPr>
            </a:pPr>
            <a:r>
              <a:t>Hash passwords; create secure sessions.</a:t>
            </a:r>
          </a:p>
        </p:txBody>
      </p:sp>
      <p:sp>
        <p:nvSpPr>
          <p:cNvPr id="20" name="Rounded Rectangle 19"/>
          <p:cNvSpPr/>
          <p:nvPr/>
        </p:nvSpPr>
        <p:spPr>
          <a:xfrm>
            <a:off x="9043416" y="2487168"/>
            <a:ext cx="2624328" cy="1517904"/>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8008" y="2633472"/>
            <a:ext cx="548640" cy="29260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04</a:t>
            </a:r>
          </a:p>
        </p:txBody>
      </p:sp>
      <p:sp>
        <p:nvSpPr>
          <p:cNvPr id="22" name="TextBox 21"/>
          <p:cNvSpPr txBox="1"/>
          <p:nvPr/>
        </p:nvSpPr>
        <p:spPr>
          <a:xfrm>
            <a:off x="9208008" y="3072384"/>
            <a:ext cx="2313432" cy="457200"/>
          </a:xfrm>
          <a:prstGeom prst="rect">
            <a:avLst/>
          </a:prstGeom>
          <a:noFill/>
        </p:spPr>
        <p:txBody>
          <a:bodyPr wrap="square" lIns="0" rIns="0" tIns="0" bIns="0">
            <a:spAutoFit/>
          </a:bodyPr>
          <a:lstStyle/>
          <a:p>
            <a:pPr>
              <a:lnSpc>
                <a:spcPct val="112000"/>
              </a:lnSpc>
              <a:spcAft>
                <a:spcPts val="700"/>
              </a:spcAft>
              <a:defRPr sz="1600" b="1">
                <a:solidFill>
                  <a:srgbClr val="FFFFFF"/>
                </a:solidFill>
                <a:latin typeface="Aptos"/>
              </a:defRPr>
            </a:pPr>
            <a:r>
              <a:t>Enforce access</a:t>
            </a:r>
          </a:p>
        </p:txBody>
      </p:sp>
      <p:sp>
        <p:nvSpPr>
          <p:cNvPr id="23" name="TextBox 22"/>
          <p:cNvSpPr txBox="1"/>
          <p:nvPr/>
        </p:nvSpPr>
        <p:spPr>
          <a:xfrm>
            <a:off x="9208008" y="3584448"/>
            <a:ext cx="2313432" cy="347472"/>
          </a:xfrm>
          <a:prstGeom prst="rect">
            <a:avLst/>
          </a:prstGeom>
          <a:noFill/>
        </p:spPr>
        <p:txBody>
          <a:bodyPr wrap="square" lIns="0" rIns="0" tIns="0" bIns="0">
            <a:spAutoFit/>
          </a:bodyPr>
          <a:lstStyle/>
          <a:p>
            <a:pPr>
              <a:lnSpc>
                <a:spcPct val="112000"/>
              </a:lnSpc>
              <a:spcAft>
                <a:spcPts val="700"/>
              </a:spcAft>
              <a:defRPr sz="1000" b="0">
                <a:solidFill>
                  <a:srgbClr val="B4CCB9"/>
                </a:solidFill>
                <a:latin typeface="Aptos"/>
              </a:defRPr>
            </a:pPr>
            <a:r>
              <a:t>Check roles, patient identity and consent.</a:t>
            </a:r>
          </a:p>
        </p:txBody>
      </p:sp>
      <p:sp>
        <p:nvSpPr>
          <p:cNvPr id="24" name="Rounded Rectangle 23"/>
          <p:cNvSpPr/>
          <p:nvPr/>
        </p:nvSpPr>
        <p:spPr>
          <a:xfrm>
            <a:off x="594360" y="4242816"/>
            <a:ext cx="2624328" cy="1517904"/>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4389120"/>
            <a:ext cx="548640" cy="29260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05</a:t>
            </a:r>
          </a:p>
        </p:txBody>
      </p:sp>
      <p:sp>
        <p:nvSpPr>
          <p:cNvPr id="26" name="TextBox 25"/>
          <p:cNvSpPr txBox="1"/>
          <p:nvPr/>
        </p:nvSpPr>
        <p:spPr>
          <a:xfrm>
            <a:off x="758952" y="4828032"/>
            <a:ext cx="2313432" cy="457200"/>
          </a:xfrm>
          <a:prstGeom prst="rect">
            <a:avLst/>
          </a:prstGeom>
          <a:noFill/>
        </p:spPr>
        <p:txBody>
          <a:bodyPr wrap="square" lIns="0" rIns="0" tIns="0" bIns="0">
            <a:spAutoFit/>
          </a:bodyPr>
          <a:lstStyle/>
          <a:p>
            <a:pPr>
              <a:lnSpc>
                <a:spcPct val="112000"/>
              </a:lnSpc>
              <a:spcAft>
                <a:spcPts val="700"/>
              </a:spcAft>
              <a:defRPr sz="1600" b="1">
                <a:solidFill>
                  <a:srgbClr val="FFFFFF"/>
                </a:solidFill>
                <a:latin typeface="Aptos"/>
              </a:defRPr>
            </a:pPr>
            <a:r>
              <a:t>Connect medical records</a:t>
            </a:r>
          </a:p>
        </p:txBody>
      </p:sp>
      <p:sp>
        <p:nvSpPr>
          <p:cNvPr id="27" name="TextBox 26"/>
          <p:cNvSpPr txBox="1"/>
          <p:nvPr/>
        </p:nvSpPr>
        <p:spPr>
          <a:xfrm>
            <a:off x="758952" y="5340096"/>
            <a:ext cx="2313432" cy="347472"/>
          </a:xfrm>
          <a:prstGeom prst="rect">
            <a:avLst/>
          </a:prstGeom>
          <a:noFill/>
        </p:spPr>
        <p:txBody>
          <a:bodyPr wrap="square" lIns="0" rIns="0" tIns="0" bIns="0">
            <a:spAutoFit/>
          </a:bodyPr>
          <a:lstStyle/>
          <a:p>
            <a:pPr>
              <a:lnSpc>
                <a:spcPct val="112000"/>
              </a:lnSpc>
              <a:spcAft>
                <a:spcPts val="700"/>
              </a:spcAft>
              <a:defRPr sz="1000" b="0">
                <a:solidFill>
                  <a:srgbClr val="B4CCB9"/>
                </a:solidFill>
                <a:latin typeface="Aptos"/>
              </a:defRPr>
            </a:pPr>
            <a:r>
              <a:t>Persist visits, profiles and prescriptions.</a:t>
            </a:r>
          </a:p>
        </p:txBody>
      </p:sp>
      <p:sp>
        <p:nvSpPr>
          <p:cNvPr id="28" name="Rounded Rectangle 27"/>
          <p:cNvSpPr/>
          <p:nvPr/>
        </p:nvSpPr>
        <p:spPr>
          <a:xfrm>
            <a:off x="3410712" y="4242816"/>
            <a:ext cx="2624328" cy="1517904"/>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75304" y="4389120"/>
            <a:ext cx="548640" cy="29260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06</a:t>
            </a:r>
          </a:p>
        </p:txBody>
      </p:sp>
      <p:sp>
        <p:nvSpPr>
          <p:cNvPr id="30" name="TextBox 29"/>
          <p:cNvSpPr txBox="1"/>
          <p:nvPr/>
        </p:nvSpPr>
        <p:spPr>
          <a:xfrm>
            <a:off x="3575304" y="4828032"/>
            <a:ext cx="2313432" cy="457200"/>
          </a:xfrm>
          <a:prstGeom prst="rect">
            <a:avLst/>
          </a:prstGeom>
          <a:noFill/>
        </p:spPr>
        <p:txBody>
          <a:bodyPr wrap="square" lIns="0" rIns="0" tIns="0" bIns="0">
            <a:spAutoFit/>
          </a:bodyPr>
          <a:lstStyle/>
          <a:p>
            <a:pPr>
              <a:lnSpc>
                <a:spcPct val="112000"/>
              </a:lnSpc>
              <a:spcAft>
                <a:spcPts val="700"/>
              </a:spcAft>
              <a:defRPr sz="1600" b="1">
                <a:solidFill>
                  <a:srgbClr val="FFFFFF"/>
                </a:solidFill>
                <a:latin typeface="Aptos"/>
              </a:defRPr>
            </a:pPr>
            <a:r>
              <a:t>Add communication &amp; alarms</a:t>
            </a:r>
          </a:p>
        </p:txBody>
      </p:sp>
      <p:sp>
        <p:nvSpPr>
          <p:cNvPr id="31" name="TextBox 30"/>
          <p:cNvSpPr txBox="1"/>
          <p:nvPr/>
        </p:nvSpPr>
        <p:spPr>
          <a:xfrm>
            <a:off x="3575304" y="5340096"/>
            <a:ext cx="2313432" cy="347472"/>
          </a:xfrm>
          <a:prstGeom prst="rect">
            <a:avLst/>
          </a:prstGeom>
          <a:noFill/>
        </p:spPr>
        <p:txBody>
          <a:bodyPr wrap="square" lIns="0" rIns="0" tIns="0" bIns="0">
            <a:spAutoFit/>
          </a:bodyPr>
          <a:lstStyle/>
          <a:p>
            <a:pPr>
              <a:lnSpc>
                <a:spcPct val="112000"/>
              </a:lnSpc>
              <a:spcAft>
                <a:spcPts val="700"/>
              </a:spcAft>
              <a:defRPr sz="1000" b="0">
                <a:solidFill>
                  <a:srgbClr val="B4CCB9"/>
                </a:solidFill>
                <a:latin typeface="Aptos"/>
              </a:defRPr>
            </a:pPr>
            <a:r>
              <a:t>Doctor replies and medication actions.</a:t>
            </a:r>
          </a:p>
        </p:txBody>
      </p:sp>
      <p:sp>
        <p:nvSpPr>
          <p:cNvPr id="32" name="Rounded Rectangle 31"/>
          <p:cNvSpPr/>
          <p:nvPr/>
        </p:nvSpPr>
        <p:spPr>
          <a:xfrm>
            <a:off x="6227064" y="4242816"/>
            <a:ext cx="2624328" cy="1517904"/>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91656" y="4389120"/>
            <a:ext cx="548640" cy="29260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07</a:t>
            </a:r>
          </a:p>
        </p:txBody>
      </p:sp>
      <p:sp>
        <p:nvSpPr>
          <p:cNvPr id="34" name="TextBox 33"/>
          <p:cNvSpPr txBox="1"/>
          <p:nvPr/>
        </p:nvSpPr>
        <p:spPr>
          <a:xfrm>
            <a:off x="6391656" y="4828032"/>
            <a:ext cx="2313432" cy="457200"/>
          </a:xfrm>
          <a:prstGeom prst="rect">
            <a:avLst/>
          </a:prstGeom>
          <a:noFill/>
        </p:spPr>
        <p:txBody>
          <a:bodyPr wrap="square" lIns="0" rIns="0" tIns="0" bIns="0">
            <a:spAutoFit/>
          </a:bodyPr>
          <a:lstStyle/>
          <a:p>
            <a:pPr>
              <a:lnSpc>
                <a:spcPct val="112000"/>
              </a:lnSpc>
              <a:spcAft>
                <a:spcPts val="700"/>
              </a:spcAft>
              <a:defRPr sz="1600" b="1">
                <a:solidFill>
                  <a:srgbClr val="FFFFFF"/>
                </a:solidFill>
                <a:latin typeface="Aptos"/>
              </a:defRPr>
            </a:pPr>
            <a:r>
              <a:t>Validate the workflows</a:t>
            </a:r>
          </a:p>
        </p:txBody>
      </p:sp>
      <p:sp>
        <p:nvSpPr>
          <p:cNvPr id="35" name="TextBox 34"/>
          <p:cNvSpPr txBox="1"/>
          <p:nvPr/>
        </p:nvSpPr>
        <p:spPr>
          <a:xfrm>
            <a:off x="6391656" y="5340096"/>
            <a:ext cx="2313432" cy="347472"/>
          </a:xfrm>
          <a:prstGeom prst="rect">
            <a:avLst/>
          </a:prstGeom>
          <a:noFill/>
        </p:spPr>
        <p:txBody>
          <a:bodyPr wrap="square" lIns="0" rIns="0" tIns="0" bIns="0">
            <a:spAutoFit/>
          </a:bodyPr>
          <a:lstStyle/>
          <a:p>
            <a:pPr>
              <a:lnSpc>
                <a:spcPct val="112000"/>
              </a:lnSpc>
              <a:spcAft>
                <a:spcPts val="700"/>
              </a:spcAft>
              <a:defRPr sz="1000" b="0">
                <a:solidFill>
                  <a:srgbClr val="B4CCB9"/>
                </a:solidFill>
                <a:latin typeface="Aptos"/>
              </a:defRPr>
            </a:pPr>
            <a:r>
              <a:t>API, browser, mobile and build checks.</a:t>
            </a:r>
          </a:p>
        </p:txBody>
      </p:sp>
      <p:sp>
        <p:nvSpPr>
          <p:cNvPr id="36" name="Rounded Rectangle 35"/>
          <p:cNvSpPr/>
          <p:nvPr/>
        </p:nvSpPr>
        <p:spPr>
          <a:xfrm>
            <a:off x="9043416" y="4242816"/>
            <a:ext cx="2624328" cy="1517904"/>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08008" y="4389120"/>
            <a:ext cx="548640" cy="29260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08</a:t>
            </a:r>
          </a:p>
        </p:txBody>
      </p:sp>
      <p:sp>
        <p:nvSpPr>
          <p:cNvPr id="38" name="TextBox 37"/>
          <p:cNvSpPr txBox="1"/>
          <p:nvPr/>
        </p:nvSpPr>
        <p:spPr>
          <a:xfrm>
            <a:off x="9208008" y="4828032"/>
            <a:ext cx="2313432" cy="457200"/>
          </a:xfrm>
          <a:prstGeom prst="rect">
            <a:avLst/>
          </a:prstGeom>
          <a:noFill/>
        </p:spPr>
        <p:txBody>
          <a:bodyPr wrap="square" lIns="0" rIns="0" tIns="0" bIns="0">
            <a:spAutoFit/>
          </a:bodyPr>
          <a:lstStyle/>
          <a:p>
            <a:pPr>
              <a:lnSpc>
                <a:spcPct val="112000"/>
              </a:lnSpc>
              <a:spcAft>
                <a:spcPts val="700"/>
              </a:spcAft>
              <a:defRPr sz="1600" b="1">
                <a:solidFill>
                  <a:srgbClr val="FFFFFF"/>
                </a:solidFill>
                <a:latin typeface="Aptos"/>
              </a:defRPr>
            </a:pPr>
            <a:r>
              <a:t>Package the website</a:t>
            </a:r>
          </a:p>
        </p:txBody>
      </p:sp>
      <p:sp>
        <p:nvSpPr>
          <p:cNvPr id="39" name="TextBox 38"/>
          <p:cNvSpPr txBox="1"/>
          <p:nvPr/>
        </p:nvSpPr>
        <p:spPr>
          <a:xfrm>
            <a:off x="9208008" y="5340096"/>
            <a:ext cx="2313432" cy="347472"/>
          </a:xfrm>
          <a:prstGeom prst="rect">
            <a:avLst/>
          </a:prstGeom>
          <a:noFill/>
        </p:spPr>
        <p:txBody>
          <a:bodyPr wrap="square" lIns="0" rIns="0" tIns="0" bIns="0">
            <a:spAutoFit/>
          </a:bodyPr>
          <a:lstStyle/>
          <a:p>
            <a:pPr>
              <a:lnSpc>
                <a:spcPct val="112000"/>
              </a:lnSpc>
              <a:spcAft>
                <a:spcPts val="700"/>
              </a:spcAft>
              <a:defRPr sz="1000" b="0">
                <a:solidFill>
                  <a:srgbClr val="B4CCB9"/>
                </a:solidFill>
                <a:latin typeface="Aptos"/>
              </a:defRPr>
            </a:pPr>
            <a:r>
              <a:t>VS Code setup and GitHub delivery.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01 / USER EXPERIENCE + AUTHENTICATION</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First, make each portal trustworthy.</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Authentication determines the workspace; the interface cannot grant itself a role.</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05 / 16</a:t>
            </a:r>
          </a:p>
        </p:txBody>
      </p:sp>
      <p:sp>
        <p:nvSpPr>
          <p:cNvPr id="8" name="Rounded Rectangle 7"/>
          <p:cNvSpPr/>
          <p:nvPr/>
        </p:nvSpPr>
        <p:spPr>
          <a:xfrm>
            <a:off x="539496" y="2432304"/>
            <a:ext cx="6556248" cy="3675887"/>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ogin.png"/>
          <p:cNvPicPr>
            <a:picLocks noChangeAspect="1"/>
          </p:cNvPicPr>
          <p:nvPr/>
        </p:nvPicPr>
        <p:blipFill>
          <a:blip r:embed="rId2"/>
          <a:stretch>
            <a:fillRect/>
          </a:stretch>
        </p:blipFill>
        <p:spPr>
          <a:xfrm>
            <a:off x="1372253" y="2487168"/>
            <a:ext cx="4890733" cy="3566160"/>
          </a:xfrm>
          <a:prstGeom prst="rect">
            <a:avLst/>
          </a:prstGeom>
        </p:spPr>
      </p:pic>
      <p:sp>
        <p:nvSpPr>
          <p:cNvPr id="10" name="TextBox 9"/>
          <p:cNvSpPr txBox="1"/>
          <p:nvPr/>
        </p:nvSpPr>
        <p:spPr>
          <a:xfrm>
            <a:off x="7360920" y="2587752"/>
            <a:ext cx="3977639" cy="548640"/>
          </a:xfrm>
          <a:prstGeom prst="rect">
            <a:avLst/>
          </a:prstGeom>
          <a:noFill/>
        </p:spPr>
        <p:txBody>
          <a:bodyPr wrap="square" lIns="0" rIns="0" tIns="0" bIns="0">
            <a:spAutoFit/>
          </a:bodyPr>
          <a:lstStyle/>
          <a:p>
            <a:pPr>
              <a:lnSpc>
                <a:spcPct val="112000"/>
              </a:lnSpc>
              <a:spcAft>
                <a:spcPts val="700"/>
              </a:spcAft>
              <a:defRPr sz="2400" b="1">
                <a:solidFill>
                  <a:srgbClr val="193F35"/>
                </a:solidFill>
                <a:latin typeface="Aptos"/>
              </a:defRPr>
            </a:pPr>
            <a:r>
              <a:t>A real sign-in flow</a:t>
            </a:r>
          </a:p>
        </p:txBody>
      </p:sp>
      <p:sp>
        <p:nvSpPr>
          <p:cNvPr id="11" name="TextBox 10"/>
          <p:cNvSpPr txBox="1"/>
          <p:nvPr/>
        </p:nvSpPr>
        <p:spPr>
          <a:xfrm>
            <a:off x="7360920" y="3337560"/>
            <a:ext cx="4114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CHOOSE A PORTAL</a:t>
            </a:r>
          </a:p>
        </p:txBody>
      </p:sp>
      <p:sp>
        <p:nvSpPr>
          <p:cNvPr id="12" name="TextBox 11"/>
          <p:cNvSpPr txBox="1"/>
          <p:nvPr/>
        </p:nvSpPr>
        <p:spPr>
          <a:xfrm>
            <a:off x="7360920" y="3593591"/>
            <a:ext cx="4160520" cy="54864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Patient and doctor credentials are checked against their stored role.</a:t>
            </a:r>
          </a:p>
        </p:txBody>
      </p:sp>
      <p:sp>
        <p:nvSpPr>
          <p:cNvPr id="13" name="TextBox 12"/>
          <p:cNvSpPr txBox="1"/>
          <p:nvPr/>
        </p:nvSpPr>
        <p:spPr>
          <a:xfrm>
            <a:off x="7360920" y="4206240"/>
            <a:ext cx="4114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VERIFY CREDENTIALS</a:t>
            </a:r>
          </a:p>
        </p:txBody>
      </p:sp>
      <p:sp>
        <p:nvSpPr>
          <p:cNvPr id="14" name="TextBox 13"/>
          <p:cNvSpPr txBox="1"/>
          <p:nvPr/>
        </p:nvSpPr>
        <p:spPr>
          <a:xfrm>
            <a:off x="7360920" y="4462272"/>
            <a:ext cx="4160520" cy="54864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Normalized email + individually salted scrypt password hashes.</a:t>
            </a:r>
          </a:p>
        </p:txBody>
      </p:sp>
      <p:sp>
        <p:nvSpPr>
          <p:cNvPr id="15" name="TextBox 14"/>
          <p:cNvSpPr txBox="1"/>
          <p:nvPr/>
        </p:nvSpPr>
        <p:spPr>
          <a:xfrm>
            <a:off x="7360920" y="5074920"/>
            <a:ext cx="4114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RESTORE THE SESSION</a:t>
            </a:r>
          </a:p>
        </p:txBody>
      </p:sp>
      <p:sp>
        <p:nvSpPr>
          <p:cNvPr id="16" name="TextBox 15"/>
          <p:cNvSpPr txBox="1"/>
          <p:nvPr/>
        </p:nvSpPr>
        <p:spPr>
          <a:xfrm>
            <a:off x="7360920" y="5330952"/>
            <a:ext cx="4160520" cy="54864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HTTP-only cookie; refresh keeps an active session. Logout invalidates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02 / IMPLEMENTED ARCHITECTURE</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Then, connect the interface to a real backend.</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This is the architecture implemented in the current prototype.</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06 / 16</a:t>
            </a:r>
          </a:p>
        </p:txBody>
      </p:sp>
      <p:sp>
        <p:nvSpPr>
          <p:cNvPr id="8" name="Rounded Rectangle 7"/>
          <p:cNvSpPr/>
          <p:nvPr/>
        </p:nvSpPr>
        <p:spPr>
          <a:xfrm>
            <a:off x="594360" y="2606040"/>
            <a:ext cx="3383280" cy="267004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 y="2825496"/>
            <a:ext cx="2944368"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WEBSITE</a:t>
            </a:r>
          </a:p>
        </p:txBody>
      </p:sp>
      <p:sp>
        <p:nvSpPr>
          <p:cNvPr id="10" name="TextBox 9"/>
          <p:cNvSpPr txBox="1"/>
          <p:nvPr/>
        </p:nvSpPr>
        <p:spPr>
          <a:xfrm>
            <a:off x="813816" y="3355848"/>
            <a:ext cx="2944368"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React + Vite</a:t>
            </a:r>
          </a:p>
        </p:txBody>
      </p:sp>
      <p:sp>
        <p:nvSpPr>
          <p:cNvPr id="11" name="TextBox 10"/>
          <p:cNvSpPr txBox="1"/>
          <p:nvPr/>
        </p:nvSpPr>
        <p:spPr>
          <a:xfrm>
            <a:off x="813816" y="4069080"/>
            <a:ext cx="2944368" cy="1024127"/>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Two responsive portals</a:t>
            </a:r>
          </a:p>
          <a:p>
            <a:pPr>
              <a:lnSpc>
                <a:spcPct val="112000"/>
              </a:lnSpc>
              <a:spcAft>
                <a:spcPts val="700"/>
              </a:spcAft>
              <a:defRPr sz="1500" b="0">
                <a:solidFill>
                  <a:srgbClr val="687E72"/>
                </a:solidFill>
                <a:latin typeface="Aptos"/>
              </a:defRPr>
            </a:pPr>
            <a:r>
              <a:t>Forms, timelines and reminders</a:t>
            </a:r>
          </a:p>
        </p:txBody>
      </p:sp>
      <p:sp>
        <p:nvSpPr>
          <p:cNvPr id="12" name="Rounded Rectangle 11"/>
          <p:cNvSpPr/>
          <p:nvPr/>
        </p:nvSpPr>
        <p:spPr>
          <a:xfrm>
            <a:off x="4407408" y="2606040"/>
            <a:ext cx="3383280" cy="267004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2825496"/>
            <a:ext cx="2944368"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BACKEND</a:t>
            </a:r>
          </a:p>
        </p:txBody>
      </p:sp>
      <p:sp>
        <p:nvSpPr>
          <p:cNvPr id="14" name="TextBox 13"/>
          <p:cNvSpPr txBox="1"/>
          <p:nvPr/>
        </p:nvSpPr>
        <p:spPr>
          <a:xfrm>
            <a:off x="4626864" y="3355848"/>
            <a:ext cx="2944368"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Python HTTP API</a:t>
            </a:r>
          </a:p>
        </p:txBody>
      </p:sp>
      <p:sp>
        <p:nvSpPr>
          <p:cNvPr id="15" name="TextBox 14"/>
          <p:cNvSpPr txBox="1"/>
          <p:nvPr/>
        </p:nvSpPr>
        <p:spPr>
          <a:xfrm>
            <a:off x="4626864" y="4069080"/>
            <a:ext cx="2944368" cy="1024127"/>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Authentication and authorization</a:t>
            </a:r>
          </a:p>
          <a:p>
            <a:pPr>
              <a:lnSpc>
                <a:spcPct val="112000"/>
              </a:lnSpc>
              <a:spcAft>
                <a:spcPts val="700"/>
              </a:spcAft>
              <a:defRPr sz="1500" b="0">
                <a:solidFill>
                  <a:srgbClr val="687E72"/>
                </a:solidFill>
                <a:latin typeface="Aptos"/>
              </a:defRPr>
            </a:pPr>
            <a:r>
              <a:t>Clinical and patient workflows</a:t>
            </a:r>
          </a:p>
        </p:txBody>
      </p:sp>
      <p:sp>
        <p:nvSpPr>
          <p:cNvPr id="16" name="Rounded Rectangle 15"/>
          <p:cNvSpPr/>
          <p:nvPr/>
        </p:nvSpPr>
        <p:spPr>
          <a:xfrm>
            <a:off x="8220456" y="2606040"/>
            <a:ext cx="3383280" cy="267004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2" y="2825496"/>
            <a:ext cx="2944368"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PERSISTENCE</a:t>
            </a:r>
          </a:p>
        </p:txBody>
      </p:sp>
      <p:sp>
        <p:nvSpPr>
          <p:cNvPr id="18" name="TextBox 17"/>
          <p:cNvSpPr txBox="1"/>
          <p:nvPr/>
        </p:nvSpPr>
        <p:spPr>
          <a:xfrm>
            <a:off x="8439912" y="3355848"/>
            <a:ext cx="2944368"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Local SQLite</a:t>
            </a:r>
          </a:p>
        </p:txBody>
      </p:sp>
      <p:sp>
        <p:nvSpPr>
          <p:cNvPr id="19" name="TextBox 18"/>
          <p:cNvSpPr txBox="1"/>
          <p:nvPr/>
        </p:nvSpPr>
        <p:spPr>
          <a:xfrm>
            <a:off x="8439912" y="4069080"/>
            <a:ext cx="2944368" cy="1024127"/>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Records, consent, messages</a:t>
            </a:r>
          </a:p>
          <a:p>
            <a:pPr>
              <a:lnSpc>
                <a:spcPct val="112000"/>
              </a:lnSpc>
              <a:spcAft>
                <a:spcPts val="700"/>
              </a:spcAft>
              <a:defRPr sz="1500" b="0">
                <a:solidFill>
                  <a:srgbClr val="687E72"/>
                </a:solidFill>
                <a:latin typeface="Aptos"/>
              </a:defRPr>
            </a:pPr>
            <a:r>
              <a:t>Prescriptions and dose activity</a:t>
            </a:r>
          </a:p>
        </p:txBody>
      </p:sp>
      <p:sp>
        <p:nvSpPr>
          <p:cNvPr id="20" name="Chevron 19"/>
          <p:cNvSpPr/>
          <p:nvPr/>
        </p:nvSpPr>
        <p:spPr>
          <a:xfrm>
            <a:off x="4078224" y="3730752"/>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hevron 20"/>
          <p:cNvSpPr/>
          <p:nvPr/>
        </p:nvSpPr>
        <p:spPr>
          <a:xfrm>
            <a:off x="7900416" y="3730752"/>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94360" y="5532120"/>
            <a:ext cx="11000232" cy="557784"/>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5669280"/>
            <a:ext cx="10607040" cy="274320"/>
          </a:xfrm>
          <a:prstGeom prst="rect">
            <a:avLst/>
          </a:prstGeom>
          <a:noFill/>
        </p:spPr>
        <p:txBody>
          <a:bodyPr wrap="square" lIns="0" rIns="0" tIns="0" bIns="0">
            <a:spAutoFit/>
          </a:bodyPr>
          <a:lstStyle/>
          <a:p>
            <a:pPr>
              <a:lnSpc>
                <a:spcPct val="112000"/>
              </a:lnSpc>
              <a:spcAft>
                <a:spcPts val="700"/>
              </a:spcAft>
              <a:defRPr sz="1400" b="1">
                <a:solidFill>
                  <a:srgbClr val="236A54"/>
                </a:solidFill>
                <a:latin typeface="Aptos"/>
              </a:defRPr>
            </a:pPr>
            <a:r>
              <a:t>Every medical request: session → role → patient assignment → consent → scoped query →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03 / DATA MODEL + PATIENT ISOLATION</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Give every patient a separate health story.</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We designed the data boundaries before adding more accounts.</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07 / 16</a:t>
            </a:r>
          </a:p>
        </p:txBody>
      </p:sp>
      <p:sp>
        <p:nvSpPr>
          <p:cNvPr id="8" name="Rounded Rectangle 7"/>
          <p:cNvSpPr/>
          <p:nvPr/>
        </p:nvSpPr>
        <p:spPr>
          <a:xfrm>
            <a:off x="594360" y="2468880"/>
            <a:ext cx="3529584" cy="1545336"/>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24328"/>
            <a:ext cx="315468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IDENTITY</a:t>
            </a:r>
          </a:p>
        </p:txBody>
      </p:sp>
      <p:sp>
        <p:nvSpPr>
          <p:cNvPr id="10" name="TextBox 9"/>
          <p:cNvSpPr txBox="1"/>
          <p:nvPr/>
        </p:nvSpPr>
        <p:spPr>
          <a:xfrm>
            <a:off x="777240" y="2999232"/>
            <a:ext cx="3154680" cy="384048"/>
          </a:xfrm>
          <a:prstGeom prst="rect">
            <a:avLst/>
          </a:prstGeom>
          <a:noFill/>
        </p:spPr>
        <p:txBody>
          <a:bodyPr wrap="square" lIns="0" rIns="0" tIns="0" bIns="0">
            <a:spAutoFit/>
          </a:bodyPr>
          <a:lstStyle/>
          <a:p>
            <a:pPr>
              <a:lnSpc>
                <a:spcPct val="112000"/>
              </a:lnSpc>
              <a:spcAft>
                <a:spcPts val="700"/>
              </a:spcAft>
              <a:defRPr sz="1700" b="1">
                <a:solidFill>
                  <a:srgbClr val="193F35"/>
                </a:solidFill>
                <a:latin typeface="Aptos"/>
              </a:defRPr>
            </a:pPr>
            <a:r>
              <a:t>Users + patient profiles</a:t>
            </a:r>
          </a:p>
        </p:txBody>
      </p:sp>
      <p:sp>
        <p:nvSpPr>
          <p:cNvPr id="11" name="TextBox 10"/>
          <p:cNvSpPr txBox="1"/>
          <p:nvPr/>
        </p:nvSpPr>
        <p:spPr>
          <a:xfrm>
            <a:off x="777240" y="3502152"/>
            <a:ext cx="3154680" cy="393192"/>
          </a:xfrm>
          <a:prstGeom prst="rect">
            <a:avLst/>
          </a:prstGeom>
          <a:noFill/>
        </p:spPr>
        <p:txBody>
          <a:bodyPr wrap="square" lIns="0" rIns="0" tIns="0" bIns="0">
            <a:spAutoFit/>
          </a:bodyPr>
          <a:lstStyle/>
          <a:p>
            <a:pPr>
              <a:lnSpc>
                <a:spcPct val="112000"/>
              </a:lnSpc>
              <a:spcAft>
                <a:spcPts val="700"/>
              </a:spcAft>
              <a:defRPr sz="1200" b="0">
                <a:solidFill>
                  <a:srgbClr val="687E72"/>
                </a:solidFill>
                <a:latin typeface="Aptos"/>
              </a:defRPr>
            </a:pPr>
            <a:r>
              <a:t>Account role, assigned doctor, emergency ID.</a:t>
            </a:r>
          </a:p>
        </p:txBody>
      </p:sp>
      <p:sp>
        <p:nvSpPr>
          <p:cNvPr id="12" name="Rounded Rectangle 11"/>
          <p:cNvSpPr/>
          <p:nvPr/>
        </p:nvSpPr>
        <p:spPr>
          <a:xfrm>
            <a:off x="4334256" y="2468880"/>
            <a:ext cx="3529584" cy="1545336"/>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2624328"/>
            <a:ext cx="315468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PERMISSION</a:t>
            </a:r>
          </a:p>
        </p:txBody>
      </p:sp>
      <p:sp>
        <p:nvSpPr>
          <p:cNvPr id="14" name="TextBox 13"/>
          <p:cNvSpPr txBox="1"/>
          <p:nvPr/>
        </p:nvSpPr>
        <p:spPr>
          <a:xfrm>
            <a:off x="4517136" y="2999232"/>
            <a:ext cx="3154680" cy="384048"/>
          </a:xfrm>
          <a:prstGeom prst="rect">
            <a:avLst/>
          </a:prstGeom>
          <a:noFill/>
        </p:spPr>
        <p:txBody>
          <a:bodyPr wrap="square" lIns="0" rIns="0" tIns="0" bIns="0">
            <a:spAutoFit/>
          </a:bodyPr>
          <a:lstStyle/>
          <a:p>
            <a:pPr>
              <a:lnSpc>
                <a:spcPct val="112000"/>
              </a:lnSpc>
              <a:spcAft>
                <a:spcPts val="700"/>
              </a:spcAft>
              <a:defRPr sz="1700" b="1">
                <a:solidFill>
                  <a:srgbClr val="193F35"/>
                </a:solidFill>
                <a:latin typeface="Aptos"/>
              </a:defRPr>
            </a:pPr>
            <a:r>
              <a:t>Consent grants</a:t>
            </a:r>
          </a:p>
        </p:txBody>
      </p:sp>
      <p:sp>
        <p:nvSpPr>
          <p:cNvPr id="15" name="TextBox 14"/>
          <p:cNvSpPr txBox="1"/>
          <p:nvPr/>
        </p:nvSpPr>
        <p:spPr>
          <a:xfrm>
            <a:off x="4517136" y="3502152"/>
            <a:ext cx="3154680" cy="393192"/>
          </a:xfrm>
          <a:prstGeom prst="rect">
            <a:avLst/>
          </a:prstGeom>
          <a:noFill/>
        </p:spPr>
        <p:txBody>
          <a:bodyPr wrap="square" lIns="0" rIns="0" tIns="0" bIns="0">
            <a:spAutoFit/>
          </a:bodyPr>
          <a:lstStyle/>
          <a:p>
            <a:pPr>
              <a:lnSpc>
                <a:spcPct val="112000"/>
              </a:lnSpc>
              <a:spcAft>
                <a:spcPts val="700"/>
              </a:spcAft>
              <a:defRPr sz="1200" b="0">
                <a:solidFill>
                  <a:srgbClr val="687E72"/>
                </a:solidFill>
                <a:latin typeface="Aptos"/>
              </a:defRPr>
            </a:pPr>
            <a:r>
              <a:t>Explicit patient control over doctor access.</a:t>
            </a:r>
          </a:p>
        </p:txBody>
      </p:sp>
      <p:sp>
        <p:nvSpPr>
          <p:cNvPr id="16" name="Rounded Rectangle 15"/>
          <p:cNvSpPr/>
          <p:nvPr/>
        </p:nvSpPr>
        <p:spPr>
          <a:xfrm>
            <a:off x="8074152" y="2468880"/>
            <a:ext cx="3529584" cy="1545336"/>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1" y="2624328"/>
            <a:ext cx="315468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CLINICAL HISTORY</a:t>
            </a:r>
          </a:p>
        </p:txBody>
      </p:sp>
      <p:sp>
        <p:nvSpPr>
          <p:cNvPr id="18" name="TextBox 17"/>
          <p:cNvSpPr txBox="1"/>
          <p:nvPr/>
        </p:nvSpPr>
        <p:spPr>
          <a:xfrm>
            <a:off x="8257031" y="2999232"/>
            <a:ext cx="3154680" cy="384048"/>
          </a:xfrm>
          <a:prstGeom prst="rect">
            <a:avLst/>
          </a:prstGeom>
          <a:noFill/>
        </p:spPr>
        <p:txBody>
          <a:bodyPr wrap="square" lIns="0" rIns="0" tIns="0" bIns="0">
            <a:spAutoFit/>
          </a:bodyPr>
          <a:lstStyle/>
          <a:p>
            <a:pPr>
              <a:lnSpc>
                <a:spcPct val="112000"/>
              </a:lnSpc>
              <a:spcAft>
                <a:spcPts val="700"/>
              </a:spcAft>
              <a:defRPr sz="1700" b="1">
                <a:solidFill>
                  <a:srgbClr val="193F35"/>
                </a:solidFill>
                <a:latin typeface="Aptos"/>
              </a:defRPr>
            </a:pPr>
            <a:r>
              <a:t>Records + prescriptions</a:t>
            </a:r>
          </a:p>
        </p:txBody>
      </p:sp>
      <p:sp>
        <p:nvSpPr>
          <p:cNvPr id="19" name="TextBox 18"/>
          <p:cNvSpPr txBox="1"/>
          <p:nvPr/>
        </p:nvSpPr>
        <p:spPr>
          <a:xfrm>
            <a:off x="8257031" y="3502152"/>
            <a:ext cx="3154680" cy="393192"/>
          </a:xfrm>
          <a:prstGeom prst="rect">
            <a:avLst/>
          </a:prstGeom>
          <a:noFill/>
        </p:spPr>
        <p:txBody>
          <a:bodyPr wrap="square" lIns="0" rIns="0" tIns="0" bIns="0">
            <a:spAutoFit/>
          </a:bodyPr>
          <a:lstStyle/>
          <a:p>
            <a:pPr>
              <a:lnSpc>
                <a:spcPct val="112000"/>
              </a:lnSpc>
              <a:spcAft>
                <a:spcPts val="700"/>
              </a:spcAft>
              <a:defRPr sz="1200" b="0">
                <a:solidFill>
                  <a:srgbClr val="687E72"/>
                </a:solidFill>
                <a:latin typeface="Aptos"/>
              </a:defRPr>
            </a:pPr>
            <a:r>
              <a:t>Visits, clinical notes, medication instructions.</a:t>
            </a:r>
          </a:p>
        </p:txBody>
      </p:sp>
      <p:sp>
        <p:nvSpPr>
          <p:cNvPr id="20" name="Rounded Rectangle 19"/>
          <p:cNvSpPr/>
          <p:nvPr/>
        </p:nvSpPr>
        <p:spPr>
          <a:xfrm>
            <a:off x="594360" y="4224528"/>
            <a:ext cx="3529584" cy="1545336"/>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379976"/>
            <a:ext cx="315468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ADHERENCE</a:t>
            </a:r>
          </a:p>
        </p:txBody>
      </p:sp>
      <p:sp>
        <p:nvSpPr>
          <p:cNvPr id="22" name="TextBox 21"/>
          <p:cNvSpPr txBox="1"/>
          <p:nvPr/>
        </p:nvSpPr>
        <p:spPr>
          <a:xfrm>
            <a:off x="777240" y="4754880"/>
            <a:ext cx="3154680" cy="384048"/>
          </a:xfrm>
          <a:prstGeom prst="rect">
            <a:avLst/>
          </a:prstGeom>
          <a:noFill/>
        </p:spPr>
        <p:txBody>
          <a:bodyPr wrap="square" lIns="0" rIns="0" tIns="0" bIns="0">
            <a:spAutoFit/>
          </a:bodyPr>
          <a:lstStyle/>
          <a:p>
            <a:pPr>
              <a:lnSpc>
                <a:spcPct val="112000"/>
              </a:lnSpc>
              <a:spcAft>
                <a:spcPts val="700"/>
              </a:spcAft>
              <a:defRPr sz="1700" b="1">
                <a:solidFill>
                  <a:srgbClr val="193F35"/>
                </a:solidFill>
                <a:latin typeface="Aptos"/>
              </a:defRPr>
            </a:pPr>
            <a:r>
              <a:t>Dose schedules + logs</a:t>
            </a:r>
          </a:p>
        </p:txBody>
      </p:sp>
      <p:sp>
        <p:nvSpPr>
          <p:cNvPr id="23" name="TextBox 22"/>
          <p:cNvSpPr txBox="1"/>
          <p:nvPr/>
        </p:nvSpPr>
        <p:spPr>
          <a:xfrm>
            <a:off x="777240" y="5257800"/>
            <a:ext cx="3154680" cy="393192"/>
          </a:xfrm>
          <a:prstGeom prst="rect">
            <a:avLst/>
          </a:prstGeom>
          <a:noFill/>
        </p:spPr>
        <p:txBody>
          <a:bodyPr wrap="square" lIns="0" rIns="0" tIns="0" bIns="0">
            <a:spAutoFit/>
          </a:bodyPr>
          <a:lstStyle/>
          <a:p>
            <a:pPr>
              <a:lnSpc>
                <a:spcPct val="112000"/>
              </a:lnSpc>
              <a:spcAft>
                <a:spcPts val="700"/>
              </a:spcAft>
              <a:defRPr sz="1200" b="0">
                <a:solidFill>
                  <a:srgbClr val="687E72"/>
                </a:solidFill>
                <a:latin typeface="Aptos"/>
              </a:defRPr>
            </a:pPr>
            <a:r>
              <a:t>Today’s status and preserved activity history.</a:t>
            </a:r>
          </a:p>
        </p:txBody>
      </p:sp>
      <p:sp>
        <p:nvSpPr>
          <p:cNvPr id="24" name="Rounded Rectangle 23"/>
          <p:cNvSpPr/>
          <p:nvPr/>
        </p:nvSpPr>
        <p:spPr>
          <a:xfrm>
            <a:off x="4334256" y="4224528"/>
            <a:ext cx="3529584" cy="1545336"/>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17136" y="4379976"/>
            <a:ext cx="315468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COMMUNICATION</a:t>
            </a:r>
          </a:p>
        </p:txBody>
      </p:sp>
      <p:sp>
        <p:nvSpPr>
          <p:cNvPr id="26" name="TextBox 25"/>
          <p:cNvSpPr txBox="1"/>
          <p:nvPr/>
        </p:nvSpPr>
        <p:spPr>
          <a:xfrm>
            <a:off x="4517136" y="4754880"/>
            <a:ext cx="3154680" cy="384048"/>
          </a:xfrm>
          <a:prstGeom prst="rect">
            <a:avLst/>
          </a:prstGeom>
          <a:noFill/>
        </p:spPr>
        <p:txBody>
          <a:bodyPr wrap="square" lIns="0" rIns="0" tIns="0" bIns="0">
            <a:spAutoFit/>
          </a:bodyPr>
          <a:lstStyle/>
          <a:p>
            <a:pPr>
              <a:lnSpc>
                <a:spcPct val="112000"/>
              </a:lnSpc>
              <a:spcAft>
                <a:spcPts val="700"/>
              </a:spcAft>
              <a:defRPr sz="1700" b="1">
                <a:solidFill>
                  <a:srgbClr val="193F35"/>
                </a:solidFill>
                <a:latin typeface="Aptos"/>
              </a:defRPr>
            </a:pPr>
            <a:r>
              <a:t>Messages + replies</a:t>
            </a:r>
          </a:p>
        </p:txBody>
      </p:sp>
      <p:sp>
        <p:nvSpPr>
          <p:cNvPr id="27" name="TextBox 26"/>
          <p:cNvSpPr txBox="1"/>
          <p:nvPr/>
        </p:nvSpPr>
        <p:spPr>
          <a:xfrm>
            <a:off x="4517136" y="5257800"/>
            <a:ext cx="3154680" cy="393192"/>
          </a:xfrm>
          <a:prstGeom prst="rect">
            <a:avLst/>
          </a:prstGeom>
          <a:noFill/>
        </p:spPr>
        <p:txBody>
          <a:bodyPr wrap="square" lIns="0" rIns="0" tIns="0" bIns="0">
            <a:spAutoFit/>
          </a:bodyPr>
          <a:lstStyle/>
          <a:p>
            <a:pPr>
              <a:lnSpc>
                <a:spcPct val="112000"/>
              </a:lnSpc>
              <a:spcAft>
                <a:spcPts val="700"/>
              </a:spcAft>
              <a:defRPr sz="1200" b="0">
                <a:solidFill>
                  <a:srgbClr val="687E72"/>
                </a:solidFill>
                <a:latin typeface="Aptos"/>
              </a:defRPr>
            </a:pPr>
            <a:r>
              <a:t>Private questions, escalation and doctor responses.</a:t>
            </a:r>
          </a:p>
        </p:txBody>
      </p:sp>
      <p:sp>
        <p:nvSpPr>
          <p:cNvPr id="28" name="Rounded Rectangle 27"/>
          <p:cNvSpPr/>
          <p:nvPr/>
        </p:nvSpPr>
        <p:spPr>
          <a:xfrm>
            <a:off x="8074152" y="4224528"/>
            <a:ext cx="3529584" cy="1545336"/>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7031" y="4379976"/>
            <a:ext cx="315468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ACCOUNTABILITY</a:t>
            </a:r>
          </a:p>
        </p:txBody>
      </p:sp>
      <p:sp>
        <p:nvSpPr>
          <p:cNvPr id="30" name="TextBox 29"/>
          <p:cNvSpPr txBox="1"/>
          <p:nvPr/>
        </p:nvSpPr>
        <p:spPr>
          <a:xfrm>
            <a:off x="8257031" y="4754880"/>
            <a:ext cx="3154680" cy="384048"/>
          </a:xfrm>
          <a:prstGeom prst="rect">
            <a:avLst/>
          </a:prstGeom>
          <a:noFill/>
        </p:spPr>
        <p:txBody>
          <a:bodyPr wrap="square" lIns="0" rIns="0" tIns="0" bIns="0">
            <a:spAutoFit/>
          </a:bodyPr>
          <a:lstStyle/>
          <a:p>
            <a:pPr>
              <a:lnSpc>
                <a:spcPct val="112000"/>
              </a:lnSpc>
              <a:spcAft>
                <a:spcPts val="700"/>
              </a:spcAft>
              <a:defRPr sz="1700" b="1">
                <a:solidFill>
                  <a:srgbClr val="193F35"/>
                </a:solidFill>
                <a:latin typeface="Aptos"/>
              </a:defRPr>
            </a:pPr>
            <a:r>
              <a:t>Audit events</a:t>
            </a:r>
          </a:p>
        </p:txBody>
      </p:sp>
      <p:sp>
        <p:nvSpPr>
          <p:cNvPr id="31" name="TextBox 30"/>
          <p:cNvSpPr txBox="1"/>
          <p:nvPr/>
        </p:nvSpPr>
        <p:spPr>
          <a:xfrm>
            <a:off x="8257031" y="5257800"/>
            <a:ext cx="3154680" cy="393192"/>
          </a:xfrm>
          <a:prstGeom prst="rect">
            <a:avLst/>
          </a:prstGeom>
          <a:noFill/>
        </p:spPr>
        <p:txBody>
          <a:bodyPr wrap="square" lIns="0" rIns="0" tIns="0" bIns="0">
            <a:spAutoFit/>
          </a:bodyPr>
          <a:lstStyle/>
          <a:p>
            <a:pPr>
              <a:lnSpc>
                <a:spcPct val="112000"/>
              </a:lnSpc>
              <a:spcAft>
                <a:spcPts val="700"/>
              </a:spcAft>
              <a:defRPr sz="1200" b="0">
                <a:solidFill>
                  <a:srgbClr val="687E72"/>
                </a:solidFill>
                <a:latin typeface="Aptos"/>
              </a:defRPr>
            </a:pPr>
            <a:r>
              <a:t>Who accessed or changed which patient’s information.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04 / CLINICAL RECORDS + PROFILES</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Turn a consultation into a lasting record.</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Doctor updates become visible in the correct patient’s portal.</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08 / 16</a:t>
            </a:r>
          </a:p>
        </p:txBody>
      </p:sp>
      <p:sp>
        <p:nvSpPr>
          <p:cNvPr id="8" name="Rounded Rectangle 7"/>
          <p:cNvSpPr/>
          <p:nvPr/>
        </p:nvSpPr>
        <p:spPr>
          <a:xfrm>
            <a:off x="539496" y="2368296"/>
            <a:ext cx="6647688" cy="381304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tor.png"/>
          <p:cNvPicPr>
            <a:picLocks noChangeAspect="1"/>
          </p:cNvPicPr>
          <p:nvPr/>
        </p:nvPicPr>
        <p:blipFill>
          <a:blip r:embed="rId2"/>
          <a:stretch>
            <a:fillRect/>
          </a:stretch>
        </p:blipFill>
        <p:spPr>
          <a:xfrm>
            <a:off x="1323920" y="2423160"/>
            <a:ext cx="5078838" cy="3703320"/>
          </a:xfrm>
          <a:prstGeom prst="rect">
            <a:avLst/>
          </a:prstGeom>
        </p:spPr>
      </p:pic>
      <p:sp>
        <p:nvSpPr>
          <p:cNvPr id="10" name="TextBox 9"/>
          <p:cNvSpPr txBox="1"/>
          <p:nvPr/>
        </p:nvSpPr>
        <p:spPr>
          <a:xfrm>
            <a:off x="7452360" y="2596896"/>
            <a:ext cx="3749039" cy="594360"/>
          </a:xfrm>
          <a:prstGeom prst="rect">
            <a:avLst/>
          </a:prstGeom>
          <a:noFill/>
        </p:spPr>
        <p:txBody>
          <a:bodyPr wrap="square" lIns="0" rIns="0" tIns="0" bIns="0">
            <a:spAutoFit/>
          </a:bodyPr>
          <a:lstStyle/>
          <a:p>
            <a:pPr>
              <a:lnSpc>
                <a:spcPct val="112000"/>
              </a:lnSpc>
              <a:spcAft>
                <a:spcPts val="700"/>
              </a:spcAft>
              <a:defRPr sz="2400" b="1">
                <a:solidFill>
                  <a:srgbClr val="193F35"/>
                </a:solidFill>
                <a:latin typeface="Aptos"/>
              </a:defRPr>
            </a:pPr>
            <a:r>
              <a:t>Record once.</a:t>
            </a:r>
          </a:p>
          <a:p>
            <a:pPr>
              <a:lnSpc>
                <a:spcPct val="112000"/>
              </a:lnSpc>
              <a:spcAft>
                <a:spcPts val="700"/>
              </a:spcAft>
              <a:defRPr sz="2400" b="1">
                <a:solidFill>
                  <a:srgbClr val="193F35"/>
                </a:solidFill>
                <a:latin typeface="Aptos"/>
              </a:defRPr>
            </a:pPr>
            <a:r>
              <a:t>Keep the context.</a:t>
            </a:r>
          </a:p>
        </p:txBody>
      </p:sp>
      <p:sp>
        <p:nvSpPr>
          <p:cNvPr id="11" name="TextBox 10"/>
          <p:cNvSpPr txBox="1"/>
          <p:nvPr/>
        </p:nvSpPr>
        <p:spPr>
          <a:xfrm>
            <a:off x="7461504" y="3703320"/>
            <a:ext cx="365760" cy="274320"/>
          </a:xfrm>
          <a:prstGeom prst="rect">
            <a:avLst/>
          </a:prstGeom>
          <a:noFill/>
        </p:spPr>
        <p:txBody>
          <a:bodyPr wrap="square" lIns="0" rIns="0" tIns="0" bIns="0">
            <a:spAutoFit/>
          </a:bodyPr>
          <a:lstStyle/>
          <a:p>
            <a:pPr>
              <a:lnSpc>
                <a:spcPct val="112000"/>
              </a:lnSpc>
              <a:spcAft>
                <a:spcPts val="700"/>
              </a:spcAft>
              <a:defRPr sz="1300" b="1">
                <a:solidFill>
                  <a:srgbClr val="236A54"/>
                </a:solidFill>
                <a:latin typeface="Aptos"/>
              </a:defRPr>
            </a:pPr>
            <a:r>
              <a:t>01</a:t>
            </a:r>
          </a:p>
        </p:txBody>
      </p:sp>
      <p:sp>
        <p:nvSpPr>
          <p:cNvPr id="12" name="TextBox 11"/>
          <p:cNvSpPr txBox="1"/>
          <p:nvPr/>
        </p:nvSpPr>
        <p:spPr>
          <a:xfrm>
            <a:off x="7936992" y="3703320"/>
            <a:ext cx="3520440" cy="320040"/>
          </a:xfrm>
          <a:prstGeom prst="rect">
            <a:avLst/>
          </a:prstGeom>
          <a:noFill/>
        </p:spPr>
        <p:txBody>
          <a:bodyPr wrap="square" lIns="0" rIns="0" tIns="0" bIns="0">
            <a:spAutoFit/>
          </a:bodyPr>
          <a:lstStyle/>
          <a:p>
            <a:pPr>
              <a:lnSpc>
                <a:spcPct val="112000"/>
              </a:lnSpc>
              <a:spcAft>
                <a:spcPts val="700"/>
              </a:spcAft>
              <a:defRPr sz="1400" b="0">
                <a:solidFill>
                  <a:srgbClr val="687E72"/>
                </a:solidFill>
                <a:latin typeface="Aptos"/>
              </a:defRPr>
            </a:pPr>
            <a:r>
              <a:t>Select the consented patient</a:t>
            </a:r>
          </a:p>
        </p:txBody>
      </p:sp>
      <p:sp>
        <p:nvSpPr>
          <p:cNvPr id="13" name="TextBox 12"/>
          <p:cNvSpPr txBox="1"/>
          <p:nvPr/>
        </p:nvSpPr>
        <p:spPr>
          <a:xfrm>
            <a:off x="7461504" y="4187952"/>
            <a:ext cx="365760" cy="274320"/>
          </a:xfrm>
          <a:prstGeom prst="rect">
            <a:avLst/>
          </a:prstGeom>
          <a:noFill/>
        </p:spPr>
        <p:txBody>
          <a:bodyPr wrap="square" lIns="0" rIns="0" tIns="0" bIns="0">
            <a:spAutoFit/>
          </a:bodyPr>
          <a:lstStyle/>
          <a:p>
            <a:pPr>
              <a:lnSpc>
                <a:spcPct val="112000"/>
              </a:lnSpc>
              <a:spcAft>
                <a:spcPts val="700"/>
              </a:spcAft>
              <a:defRPr sz="1300" b="1">
                <a:solidFill>
                  <a:srgbClr val="236A54"/>
                </a:solidFill>
                <a:latin typeface="Aptos"/>
              </a:defRPr>
            </a:pPr>
            <a:r>
              <a:t>02</a:t>
            </a:r>
          </a:p>
        </p:txBody>
      </p:sp>
      <p:sp>
        <p:nvSpPr>
          <p:cNvPr id="14" name="TextBox 13"/>
          <p:cNvSpPr txBox="1"/>
          <p:nvPr/>
        </p:nvSpPr>
        <p:spPr>
          <a:xfrm>
            <a:off x="7936992" y="4187952"/>
            <a:ext cx="3520440" cy="320040"/>
          </a:xfrm>
          <a:prstGeom prst="rect">
            <a:avLst/>
          </a:prstGeom>
          <a:noFill/>
        </p:spPr>
        <p:txBody>
          <a:bodyPr wrap="square" lIns="0" rIns="0" tIns="0" bIns="0">
            <a:spAutoFit/>
          </a:bodyPr>
          <a:lstStyle/>
          <a:p>
            <a:pPr>
              <a:lnSpc>
                <a:spcPct val="112000"/>
              </a:lnSpc>
              <a:spcAft>
                <a:spcPts val="700"/>
              </a:spcAft>
              <a:defRPr sz="1400" b="0">
                <a:solidFill>
                  <a:srgbClr val="687E72"/>
                </a:solidFill>
                <a:latin typeface="Aptos"/>
              </a:defRPr>
            </a:pPr>
            <a:r>
              <a:t>Review allergies and conditions</a:t>
            </a:r>
          </a:p>
        </p:txBody>
      </p:sp>
      <p:sp>
        <p:nvSpPr>
          <p:cNvPr id="15" name="TextBox 14"/>
          <p:cNvSpPr txBox="1"/>
          <p:nvPr/>
        </p:nvSpPr>
        <p:spPr>
          <a:xfrm>
            <a:off x="7461504" y="4672583"/>
            <a:ext cx="365760" cy="274320"/>
          </a:xfrm>
          <a:prstGeom prst="rect">
            <a:avLst/>
          </a:prstGeom>
          <a:noFill/>
        </p:spPr>
        <p:txBody>
          <a:bodyPr wrap="square" lIns="0" rIns="0" tIns="0" bIns="0">
            <a:spAutoFit/>
          </a:bodyPr>
          <a:lstStyle/>
          <a:p>
            <a:pPr>
              <a:lnSpc>
                <a:spcPct val="112000"/>
              </a:lnSpc>
              <a:spcAft>
                <a:spcPts val="700"/>
              </a:spcAft>
              <a:defRPr sz="1300" b="1">
                <a:solidFill>
                  <a:srgbClr val="236A54"/>
                </a:solidFill>
                <a:latin typeface="Aptos"/>
              </a:defRPr>
            </a:pPr>
            <a:r>
              <a:t>03</a:t>
            </a:r>
          </a:p>
        </p:txBody>
      </p:sp>
      <p:sp>
        <p:nvSpPr>
          <p:cNvPr id="16" name="TextBox 15"/>
          <p:cNvSpPr txBox="1"/>
          <p:nvPr/>
        </p:nvSpPr>
        <p:spPr>
          <a:xfrm>
            <a:off x="7936992" y="4672583"/>
            <a:ext cx="3520440" cy="320040"/>
          </a:xfrm>
          <a:prstGeom prst="rect">
            <a:avLst/>
          </a:prstGeom>
          <a:noFill/>
        </p:spPr>
        <p:txBody>
          <a:bodyPr wrap="square" lIns="0" rIns="0" tIns="0" bIns="0">
            <a:spAutoFit/>
          </a:bodyPr>
          <a:lstStyle/>
          <a:p>
            <a:pPr>
              <a:lnSpc>
                <a:spcPct val="112000"/>
              </a:lnSpc>
              <a:spcAft>
                <a:spcPts val="700"/>
              </a:spcAft>
              <a:defRPr sz="1400" b="0">
                <a:solidFill>
                  <a:srgbClr val="687E72"/>
                </a:solidFill>
                <a:latin typeface="Aptos"/>
              </a:defRPr>
            </a:pPr>
            <a:r>
              <a:t>Add the visit and clinical notes</a:t>
            </a:r>
          </a:p>
        </p:txBody>
      </p:sp>
      <p:sp>
        <p:nvSpPr>
          <p:cNvPr id="17" name="TextBox 16"/>
          <p:cNvSpPr txBox="1"/>
          <p:nvPr/>
        </p:nvSpPr>
        <p:spPr>
          <a:xfrm>
            <a:off x="7461504" y="5157216"/>
            <a:ext cx="365760" cy="274320"/>
          </a:xfrm>
          <a:prstGeom prst="rect">
            <a:avLst/>
          </a:prstGeom>
          <a:noFill/>
        </p:spPr>
        <p:txBody>
          <a:bodyPr wrap="square" lIns="0" rIns="0" tIns="0" bIns="0">
            <a:spAutoFit/>
          </a:bodyPr>
          <a:lstStyle/>
          <a:p>
            <a:pPr>
              <a:lnSpc>
                <a:spcPct val="112000"/>
              </a:lnSpc>
              <a:spcAft>
                <a:spcPts val="700"/>
              </a:spcAft>
              <a:defRPr sz="1300" b="1">
                <a:solidFill>
                  <a:srgbClr val="236A54"/>
                </a:solidFill>
                <a:latin typeface="Aptos"/>
              </a:defRPr>
            </a:pPr>
            <a:r>
              <a:t>04</a:t>
            </a:r>
          </a:p>
        </p:txBody>
      </p:sp>
      <p:sp>
        <p:nvSpPr>
          <p:cNvPr id="18" name="TextBox 17"/>
          <p:cNvSpPr txBox="1"/>
          <p:nvPr/>
        </p:nvSpPr>
        <p:spPr>
          <a:xfrm>
            <a:off x="7936992" y="5157216"/>
            <a:ext cx="3520440" cy="320040"/>
          </a:xfrm>
          <a:prstGeom prst="rect">
            <a:avLst/>
          </a:prstGeom>
          <a:noFill/>
        </p:spPr>
        <p:txBody>
          <a:bodyPr wrap="square" lIns="0" rIns="0" tIns="0" bIns="0">
            <a:spAutoFit/>
          </a:bodyPr>
          <a:lstStyle/>
          <a:p>
            <a:pPr>
              <a:lnSpc>
                <a:spcPct val="112000"/>
              </a:lnSpc>
              <a:spcAft>
                <a:spcPts val="700"/>
              </a:spcAft>
              <a:defRPr sz="1400" b="0">
                <a:solidFill>
                  <a:srgbClr val="687E72"/>
                </a:solidFill>
                <a:latin typeface="Aptos"/>
              </a:defRPr>
            </a:pPr>
            <a:r>
              <a:t>Save a prescription and dose time</a:t>
            </a:r>
          </a:p>
        </p:txBody>
      </p:sp>
      <p:sp>
        <p:nvSpPr>
          <p:cNvPr id="19" name="Rounded Rectangle 18"/>
          <p:cNvSpPr/>
          <p:nvPr/>
        </p:nvSpPr>
        <p:spPr>
          <a:xfrm>
            <a:off x="7452360" y="5806440"/>
            <a:ext cx="3931920" cy="338328"/>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25512" y="5875020"/>
            <a:ext cx="3785615" cy="201168"/>
          </a:xfrm>
          <a:prstGeom prst="rect">
            <a:avLst/>
          </a:prstGeom>
          <a:noFill/>
        </p:spPr>
        <p:txBody>
          <a:bodyPr wrap="square" lIns="0" rIns="0" tIns="0" bIns="0">
            <a:spAutoFit/>
          </a:bodyPr>
          <a:lstStyle/>
          <a:p>
            <a:pPr algn="ctr">
              <a:lnSpc>
                <a:spcPct val="112000"/>
              </a:lnSpc>
              <a:spcAft>
                <a:spcPts val="700"/>
              </a:spcAft>
              <a:defRPr sz="900" b="1">
                <a:solidFill>
                  <a:srgbClr val="236A54"/>
                </a:solidFill>
                <a:latin typeface="Aptos"/>
              </a:defRPr>
            </a:pPr>
            <a:r>
              <a:t>VERIFIED: RECORDS PERSIST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05 / EMERGENCY MEDICAL HISTORY</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Emergency history, with permission.</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The demo verifies the workflow; biometric identity integration remains simulated.</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09 / 16</a:t>
            </a:r>
          </a:p>
        </p:txBody>
      </p:sp>
      <p:sp>
        <p:nvSpPr>
          <p:cNvPr id="8" name="Rounded Rectangle 7"/>
          <p:cNvSpPr/>
          <p:nvPr/>
        </p:nvSpPr>
        <p:spPr>
          <a:xfrm>
            <a:off x="594360" y="2688336"/>
            <a:ext cx="1993392" cy="202996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852928"/>
            <a:ext cx="169164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01</a:t>
            </a:r>
          </a:p>
        </p:txBody>
      </p:sp>
      <p:sp>
        <p:nvSpPr>
          <p:cNvPr id="10" name="TextBox 9"/>
          <p:cNvSpPr txBox="1"/>
          <p:nvPr/>
        </p:nvSpPr>
        <p:spPr>
          <a:xfrm>
            <a:off x="740664" y="3346704"/>
            <a:ext cx="1691640" cy="402336"/>
          </a:xfrm>
          <a:prstGeom prst="rect">
            <a:avLst/>
          </a:prstGeom>
          <a:noFill/>
        </p:spPr>
        <p:txBody>
          <a:bodyPr wrap="square" lIns="0" rIns="0" tIns="0" bIns="0">
            <a:spAutoFit/>
          </a:bodyPr>
          <a:lstStyle/>
          <a:p>
            <a:pPr>
              <a:lnSpc>
                <a:spcPct val="112000"/>
              </a:lnSpc>
              <a:spcAft>
                <a:spcPts val="700"/>
              </a:spcAft>
              <a:defRPr sz="2100" b="1">
                <a:solidFill>
                  <a:srgbClr val="193F35"/>
                </a:solidFill>
                <a:latin typeface="Aptos"/>
              </a:defRPr>
            </a:pPr>
            <a:r>
              <a:t>Identify</a:t>
            </a:r>
          </a:p>
        </p:txBody>
      </p:sp>
      <p:sp>
        <p:nvSpPr>
          <p:cNvPr id="11" name="TextBox 10"/>
          <p:cNvSpPr txBox="1"/>
          <p:nvPr/>
        </p:nvSpPr>
        <p:spPr>
          <a:xfrm>
            <a:off x="740664" y="3922776"/>
            <a:ext cx="1691640" cy="64008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Matching emergency ID</a:t>
            </a:r>
          </a:p>
        </p:txBody>
      </p:sp>
      <p:sp>
        <p:nvSpPr>
          <p:cNvPr id="12" name="Chevron 11"/>
          <p:cNvSpPr/>
          <p:nvPr/>
        </p:nvSpPr>
        <p:spPr>
          <a:xfrm>
            <a:off x="2633472" y="3566160"/>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25496" y="2688336"/>
            <a:ext cx="1993392" cy="202996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2852928"/>
            <a:ext cx="169164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02</a:t>
            </a:r>
          </a:p>
        </p:txBody>
      </p:sp>
      <p:sp>
        <p:nvSpPr>
          <p:cNvPr id="15" name="TextBox 14"/>
          <p:cNvSpPr txBox="1"/>
          <p:nvPr/>
        </p:nvSpPr>
        <p:spPr>
          <a:xfrm>
            <a:off x="2971800" y="3346704"/>
            <a:ext cx="1691640" cy="402336"/>
          </a:xfrm>
          <a:prstGeom prst="rect">
            <a:avLst/>
          </a:prstGeom>
          <a:noFill/>
        </p:spPr>
        <p:txBody>
          <a:bodyPr wrap="square" lIns="0" rIns="0" tIns="0" bIns="0">
            <a:spAutoFit/>
          </a:bodyPr>
          <a:lstStyle/>
          <a:p>
            <a:pPr>
              <a:lnSpc>
                <a:spcPct val="112000"/>
              </a:lnSpc>
              <a:spcAft>
                <a:spcPts val="700"/>
              </a:spcAft>
              <a:defRPr sz="2100" b="1">
                <a:solidFill>
                  <a:srgbClr val="193F35"/>
                </a:solidFill>
                <a:latin typeface="Aptos"/>
              </a:defRPr>
            </a:pPr>
            <a:r>
              <a:t>Verify</a:t>
            </a:r>
          </a:p>
        </p:txBody>
      </p:sp>
      <p:sp>
        <p:nvSpPr>
          <p:cNvPr id="16" name="TextBox 15"/>
          <p:cNvSpPr txBox="1"/>
          <p:nvPr/>
        </p:nvSpPr>
        <p:spPr>
          <a:xfrm>
            <a:off x="2971800" y="3922776"/>
            <a:ext cx="1691640" cy="64008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Simulated identity check</a:t>
            </a:r>
          </a:p>
        </p:txBody>
      </p:sp>
      <p:sp>
        <p:nvSpPr>
          <p:cNvPr id="17" name="Chevron 16"/>
          <p:cNvSpPr/>
          <p:nvPr/>
        </p:nvSpPr>
        <p:spPr>
          <a:xfrm>
            <a:off x="4864608" y="3566160"/>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56632" y="2688336"/>
            <a:ext cx="1993392" cy="202996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02936" y="2852928"/>
            <a:ext cx="169164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03</a:t>
            </a:r>
          </a:p>
        </p:txBody>
      </p:sp>
      <p:sp>
        <p:nvSpPr>
          <p:cNvPr id="20" name="TextBox 19"/>
          <p:cNvSpPr txBox="1"/>
          <p:nvPr/>
        </p:nvSpPr>
        <p:spPr>
          <a:xfrm>
            <a:off x="5202936" y="3346704"/>
            <a:ext cx="1691640" cy="402336"/>
          </a:xfrm>
          <a:prstGeom prst="rect">
            <a:avLst/>
          </a:prstGeom>
          <a:noFill/>
        </p:spPr>
        <p:txBody>
          <a:bodyPr wrap="square" lIns="0" rIns="0" tIns="0" bIns="0">
            <a:spAutoFit/>
          </a:bodyPr>
          <a:lstStyle/>
          <a:p>
            <a:pPr>
              <a:lnSpc>
                <a:spcPct val="112000"/>
              </a:lnSpc>
              <a:spcAft>
                <a:spcPts val="700"/>
              </a:spcAft>
              <a:defRPr sz="2100" b="1">
                <a:solidFill>
                  <a:srgbClr val="193F35"/>
                </a:solidFill>
                <a:latin typeface="Aptos"/>
              </a:defRPr>
            </a:pPr>
            <a:r>
              <a:t>Authorize</a:t>
            </a:r>
          </a:p>
        </p:txBody>
      </p:sp>
      <p:sp>
        <p:nvSpPr>
          <p:cNvPr id="21" name="TextBox 20"/>
          <p:cNvSpPr txBox="1"/>
          <p:nvPr/>
        </p:nvSpPr>
        <p:spPr>
          <a:xfrm>
            <a:off x="5202936" y="3922776"/>
            <a:ext cx="1691640" cy="64008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Doctor + assignment + consent</a:t>
            </a:r>
          </a:p>
        </p:txBody>
      </p:sp>
      <p:sp>
        <p:nvSpPr>
          <p:cNvPr id="22" name="Chevron 21"/>
          <p:cNvSpPr/>
          <p:nvPr/>
        </p:nvSpPr>
        <p:spPr>
          <a:xfrm>
            <a:off x="7095744" y="3566160"/>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87768" y="2688336"/>
            <a:ext cx="1993392" cy="202996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34072" y="2852928"/>
            <a:ext cx="169164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04</a:t>
            </a:r>
          </a:p>
        </p:txBody>
      </p:sp>
      <p:sp>
        <p:nvSpPr>
          <p:cNvPr id="25" name="TextBox 24"/>
          <p:cNvSpPr txBox="1"/>
          <p:nvPr/>
        </p:nvSpPr>
        <p:spPr>
          <a:xfrm>
            <a:off x="7434072" y="3346704"/>
            <a:ext cx="1691640" cy="402336"/>
          </a:xfrm>
          <a:prstGeom prst="rect">
            <a:avLst/>
          </a:prstGeom>
          <a:noFill/>
        </p:spPr>
        <p:txBody>
          <a:bodyPr wrap="square" lIns="0" rIns="0" tIns="0" bIns="0">
            <a:spAutoFit/>
          </a:bodyPr>
          <a:lstStyle/>
          <a:p>
            <a:pPr>
              <a:lnSpc>
                <a:spcPct val="112000"/>
              </a:lnSpc>
              <a:spcAft>
                <a:spcPts val="700"/>
              </a:spcAft>
              <a:defRPr sz="2100" b="1">
                <a:solidFill>
                  <a:srgbClr val="193F35"/>
                </a:solidFill>
                <a:latin typeface="Aptos"/>
              </a:defRPr>
            </a:pPr>
            <a:r>
              <a:t>Summarize</a:t>
            </a:r>
          </a:p>
        </p:txBody>
      </p:sp>
      <p:sp>
        <p:nvSpPr>
          <p:cNvPr id="26" name="TextBox 25"/>
          <p:cNvSpPr txBox="1"/>
          <p:nvPr/>
        </p:nvSpPr>
        <p:spPr>
          <a:xfrm>
            <a:off x="7434072" y="3922776"/>
            <a:ext cx="1691640" cy="64008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Allergies, conditions, medicines</a:t>
            </a:r>
          </a:p>
        </p:txBody>
      </p:sp>
      <p:sp>
        <p:nvSpPr>
          <p:cNvPr id="27" name="Chevron 26"/>
          <p:cNvSpPr/>
          <p:nvPr/>
        </p:nvSpPr>
        <p:spPr>
          <a:xfrm>
            <a:off x="9326880" y="3566160"/>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518904" y="2688336"/>
            <a:ext cx="1993392" cy="2029968"/>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65208" y="2852928"/>
            <a:ext cx="169164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05</a:t>
            </a:r>
          </a:p>
        </p:txBody>
      </p:sp>
      <p:sp>
        <p:nvSpPr>
          <p:cNvPr id="30" name="TextBox 29"/>
          <p:cNvSpPr txBox="1"/>
          <p:nvPr/>
        </p:nvSpPr>
        <p:spPr>
          <a:xfrm>
            <a:off x="9665208" y="3346704"/>
            <a:ext cx="1691640" cy="402336"/>
          </a:xfrm>
          <a:prstGeom prst="rect">
            <a:avLst/>
          </a:prstGeom>
          <a:noFill/>
        </p:spPr>
        <p:txBody>
          <a:bodyPr wrap="square" lIns="0" rIns="0" tIns="0" bIns="0">
            <a:spAutoFit/>
          </a:bodyPr>
          <a:lstStyle/>
          <a:p>
            <a:pPr>
              <a:lnSpc>
                <a:spcPct val="112000"/>
              </a:lnSpc>
              <a:spcAft>
                <a:spcPts val="700"/>
              </a:spcAft>
              <a:defRPr sz="2100" b="1">
                <a:solidFill>
                  <a:srgbClr val="193F35"/>
                </a:solidFill>
                <a:latin typeface="Aptos"/>
              </a:defRPr>
            </a:pPr>
            <a:r>
              <a:t>Record</a:t>
            </a:r>
          </a:p>
        </p:txBody>
      </p:sp>
      <p:sp>
        <p:nvSpPr>
          <p:cNvPr id="31" name="TextBox 30"/>
          <p:cNvSpPr txBox="1"/>
          <p:nvPr/>
        </p:nvSpPr>
        <p:spPr>
          <a:xfrm>
            <a:off x="9665208" y="3922776"/>
            <a:ext cx="1691640" cy="64008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Reason and access audit</a:t>
            </a:r>
          </a:p>
        </p:txBody>
      </p:sp>
      <p:sp>
        <p:nvSpPr>
          <p:cNvPr id="32" name="Rounded Rectangle 31"/>
          <p:cNvSpPr/>
          <p:nvPr/>
        </p:nvSpPr>
        <p:spPr>
          <a:xfrm>
            <a:off x="594360" y="5074920"/>
            <a:ext cx="11000232" cy="960120"/>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76088"/>
            <a:ext cx="10533888" cy="566928"/>
          </a:xfrm>
          <a:prstGeom prst="rect">
            <a:avLst/>
          </a:prstGeom>
          <a:noFill/>
        </p:spPr>
        <p:txBody>
          <a:bodyPr wrap="square" lIns="0" rIns="0" tIns="0" bIns="0">
            <a:spAutoFit/>
          </a:bodyPr>
          <a:lstStyle/>
          <a:p>
            <a:pPr>
              <a:lnSpc>
                <a:spcPct val="112000"/>
              </a:lnSpc>
              <a:spcAft>
                <a:spcPts val="700"/>
              </a:spcAft>
              <a:defRPr sz="1600" b="1">
                <a:solidFill>
                  <a:srgbClr val="236A54"/>
                </a:solidFill>
                <a:latin typeface="Aptos"/>
              </a:defRPr>
            </a:pPr>
            <a:r>
              <a:t>No biometric data is captured. Revoked consent also blocks emergency access.</a:t>
            </a:r>
          </a:p>
          <a:p>
            <a:pPr>
              <a:lnSpc>
                <a:spcPct val="112000"/>
              </a:lnSpc>
              <a:spcAft>
                <a:spcPts val="700"/>
              </a:spcAft>
              <a:defRPr sz="1600" b="1">
                <a:solidFill>
                  <a:srgbClr val="236A54"/>
                </a:solidFill>
                <a:latin typeface="Aptos"/>
              </a:defRPr>
            </a:pPr>
            <a:r>
              <a:t>Identity verification and permission to read medical information are separate decisions.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06 / PATIENT–DOCTOR COMMUNICATION</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Build Doctoc around safe escalation.</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The assistant keeps the doctor responsible for clinical decisions.</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10 / 16</a:t>
            </a:r>
          </a:p>
        </p:txBody>
      </p:sp>
      <p:sp>
        <p:nvSpPr>
          <p:cNvPr id="8" name="Rounded Rectangle 7"/>
          <p:cNvSpPr/>
          <p:nvPr/>
        </p:nvSpPr>
        <p:spPr>
          <a:xfrm>
            <a:off x="594360" y="2468880"/>
            <a:ext cx="11000232" cy="594360"/>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624328"/>
            <a:ext cx="10515600" cy="301752"/>
          </a:xfrm>
          <a:prstGeom prst="rect">
            <a:avLst/>
          </a:prstGeom>
          <a:noFill/>
        </p:spPr>
        <p:txBody>
          <a:bodyPr wrap="square" lIns="0" rIns="0" tIns="0" bIns="0">
            <a:spAutoFit/>
          </a:bodyPr>
          <a:lstStyle/>
          <a:p>
            <a:pPr>
              <a:lnSpc>
                <a:spcPct val="112000"/>
              </a:lnSpc>
              <a:spcAft>
                <a:spcPts val="700"/>
              </a:spcAft>
              <a:defRPr sz="1600" b="1">
                <a:solidFill>
                  <a:srgbClr val="236A54"/>
                </a:solidFill>
                <a:latin typeface="Aptos"/>
              </a:defRPr>
            </a:pPr>
            <a:r>
              <a:t>PATIENT QUESTION → PERMITTED CONTEXT → GUIDANCE OR HUMAN REVIEW</a:t>
            </a:r>
          </a:p>
        </p:txBody>
      </p:sp>
      <p:sp>
        <p:nvSpPr>
          <p:cNvPr id="10" name="Rounded Rectangle 9"/>
          <p:cNvSpPr/>
          <p:nvPr/>
        </p:nvSpPr>
        <p:spPr>
          <a:xfrm>
            <a:off x="594360" y="3337560"/>
            <a:ext cx="3529584" cy="249631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3557015"/>
            <a:ext cx="3090672"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SCHEDULE QUESTION</a:t>
            </a:r>
          </a:p>
        </p:txBody>
      </p:sp>
      <p:sp>
        <p:nvSpPr>
          <p:cNvPr id="12" name="TextBox 11"/>
          <p:cNvSpPr txBox="1"/>
          <p:nvPr/>
        </p:nvSpPr>
        <p:spPr>
          <a:xfrm>
            <a:off x="813816" y="4087368"/>
            <a:ext cx="3090672"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Read the prescription</a:t>
            </a:r>
          </a:p>
        </p:txBody>
      </p:sp>
      <p:sp>
        <p:nvSpPr>
          <p:cNvPr id="13" name="TextBox 12"/>
          <p:cNvSpPr txBox="1"/>
          <p:nvPr/>
        </p:nvSpPr>
        <p:spPr>
          <a:xfrm>
            <a:off x="813816" y="4800600"/>
            <a:ext cx="3090672" cy="850392"/>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Return this patient’s recorded medication schedule. No invented dose or treatment.</a:t>
            </a:r>
          </a:p>
        </p:txBody>
      </p:sp>
      <p:sp>
        <p:nvSpPr>
          <p:cNvPr id="14" name="Rounded Rectangle 13"/>
          <p:cNvSpPr/>
          <p:nvPr/>
        </p:nvSpPr>
        <p:spPr>
          <a:xfrm>
            <a:off x="4334256" y="3337560"/>
            <a:ext cx="3529584" cy="249631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3557015"/>
            <a:ext cx="3090672"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CLINICAL QUESTION</a:t>
            </a:r>
          </a:p>
        </p:txBody>
      </p:sp>
      <p:sp>
        <p:nvSpPr>
          <p:cNvPr id="16" name="TextBox 15"/>
          <p:cNvSpPr txBox="1"/>
          <p:nvPr/>
        </p:nvSpPr>
        <p:spPr>
          <a:xfrm>
            <a:off x="4553712" y="4087368"/>
            <a:ext cx="3090672"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Ask the doctor</a:t>
            </a:r>
          </a:p>
        </p:txBody>
      </p:sp>
      <p:sp>
        <p:nvSpPr>
          <p:cNvPr id="17" name="TextBox 16"/>
          <p:cNvSpPr txBox="1"/>
          <p:nvPr/>
        </p:nvSpPr>
        <p:spPr>
          <a:xfrm>
            <a:off x="4553712" y="4800600"/>
            <a:ext cx="3090672" cy="850392"/>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Send uncertain questions to the clinician inbox; save and display the doctor’s reply.</a:t>
            </a:r>
          </a:p>
        </p:txBody>
      </p:sp>
      <p:sp>
        <p:nvSpPr>
          <p:cNvPr id="18" name="Rounded Rectangle 17"/>
          <p:cNvSpPr/>
          <p:nvPr/>
        </p:nvSpPr>
        <p:spPr>
          <a:xfrm>
            <a:off x="8074152" y="3337560"/>
            <a:ext cx="3529584" cy="249631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3557015"/>
            <a:ext cx="3090672"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URGENT SYMPTOMS</a:t>
            </a:r>
          </a:p>
        </p:txBody>
      </p:sp>
      <p:sp>
        <p:nvSpPr>
          <p:cNvPr id="20" name="TextBox 19"/>
          <p:cNvSpPr txBox="1"/>
          <p:nvPr/>
        </p:nvSpPr>
        <p:spPr>
          <a:xfrm>
            <a:off x="8293608" y="4087368"/>
            <a:ext cx="3090672" cy="777240"/>
          </a:xfrm>
          <a:prstGeom prst="rect">
            <a:avLst/>
          </a:prstGeom>
          <a:noFill/>
        </p:spPr>
        <p:txBody>
          <a:bodyPr wrap="square" lIns="0" rIns="0" tIns="0" bIns="0">
            <a:spAutoFit/>
          </a:bodyPr>
          <a:lstStyle/>
          <a:p>
            <a:pPr>
              <a:lnSpc>
                <a:spcPct val="112000"/>
              </a:lnSpc>
              <a:spcAft>
                <a:spcPts val="700"/>
              </a:spcAft>
              <a:defRPr sz="2200" b="1">
                <a:solidFill>
                  <a:srgbClr val="193F35"/>
                </a:solidFill>
                <a:latin typeface="Aptos"/>
              </a:defRPr>
            </a:pPr>
            <a:r>
              <a:t>Seek urgent care</a:t>
            </a:r>
          </a:p>
        </p:txBody>
      </p:sp>
      <p:sp>
        <p:nvSpPr>
          <p:cNvPr id="21" name="TextBox 20"/>
          <p:cNvSpPr txBox="1"/>
          <p:nvPr/>
        </p:nvSpPr>
        <p:spPr>
          <a:xfrm>
            <a:off x="8293608" y="4800600"/>
            <a:ext cx="3090672" cy="850392"/>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Show emergency-care guidance immediately. Never ask the patient to wait for chat.</a:t>
            </a:r>
          </a:p>
        </p:txBody>
      </p:sp>
      <p:sp>
        <p:nvSpPr>
          <p:cNvPr id="22" name="TextBox 21"/>
          <p:cNvSpPr txBox="1"/>
          <p:nvPr/>
        </p:nvSpPr>
        <p:spPr>
          <a:xfrm>
            <a:off x="777240" y="6053328"/>
            <a:ext cx="10881360" cy="228600"/>
          </a:xfrm>
          <a:prstGeom prst="rect">
            <a:avLst/>
          </a:prstGeom>
          <a:noFill/>
        </p:spPr>
        <p:txBody>
          <a:bodyPr wrap="square" lIns="0" rIns="0" tIns="0" bIns="0">
            <a:spAutoFit/>
          </a:bodyPr>
          <a:lstStyle/>
          <a:p>
            <a:pPr>
              <a:lnSpc>
                <a:spcPct val="112000"/>
              </a:lnSpc>
              <a:spcAft>
                <a:spcPts val="700"/>
              </a:spcAft>
              <a:defRPr sz="1200" b="1">
                <a:solidFill>
                  <a:srgbClr val="BD7C66"/>
                </a:solidFill>
                <a:latin typeface="Aptos"/>
              </a:defRPr>
            </a:pPr>
            <a:r>
              <a:t>Current Doctoc is scripted. No records are sent to an external AI. Without consent, questions stay private.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07 / MEDICATION ALARMS + ADHERENCE</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Make the prescription actionable every day.</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Medication schedules, reminders and dose decisions are connected.</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11 / 16</a:t>
            </a:r>
          </a:p>
        </p:txBody>
      </p:sp>
      <p:sp>
        <p:nvSpPr>
          <p:cNvPr id="8" name="Rounded Rectangle 7"/>
          <p:cNvSpPr/>
          <p:nvPr/>
        </p:nvSpPr>
        <p:spPr>
          <a:xfrm>
            <a:off x="594360" y="2651760"/>
            <a:ext cx="2532888" cy="149047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2167128" cy="384048"/>
          </a:xfrm>
          <a:prstGeom prst="rect">
            <a:avLst/>
          </a:prstGeom>
          <a:noFill/>
        </p:spPr>
        <p:txBody>
          <a:bodyPr wrap="square" lIns="0" rIns="0" tIns="0" bIns="0">
            <a:spAutoFit/>
          </a:bodyPr>
          <a:lstStyle/>
          <a:p>
            <a:pPr>
              <a:lnSpc>
                <a:spcPct val="112000"/>
              </a:lnSpc>
              <a:spcAft>
                <a:spcPts val="700"/>
              </a:spcAft>
              <a:defRPr sz="2000" b="1">
                <a:solidFill>
                  <a:srgbClr val="193F35"/>
                </a:solidFill>
                <a:latin typeface="Aptos"/>
              </a:defRPr>
            </a:pPr>
            <a:r>
              <a:t>Doctor sets</a:t>
            </a:r>
          </a:p>
        </p:txBody>
      </p:sp>
      <p:sp>
        <p:nvSpPr>
          <p:cNvPr id="10" name="TextBox 9"/>
          <p:cNvSpPr txBox="1"/>
          <p:nvPr/>
        </p:nvSpPr>
        <p:spPr>
          <a:xfrm>
            <a:off x="777240" y="3493008"/>
            <a:ext cx="2167128" cy="45720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Medicine + dose + time</a:t>
            </a:r>
          </a:p>
        </p:txBody>
      </p:sp>
      <p:sp>
        <p:nvSpPr>
          <p:cNvPr id="11" name="Chevron 10"/>
          <p:cNvSpPr/>
          <p:nvPr/>
        </p:nvSpPr>
        <p:spPr>
          <a:xfrm>
            <a:off x="3163824" y="3291840"/>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92424" y="2651760"/>
            <a:ext cx="2532888" cy="149047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880360"/>
            <a:ext cx="2167128" cy="384048"/>
          </a:xfrm>
          <a:prstGeom prst="rect">
            <a:avLst/>
          </a:prstGeom>
          <a:noFill/>
        </p:spPr>
        <p:txBody>
          <a:bodyPr wrap="square" lIns="0" rIns="0" tIns="0" bIns="0">
            <a:spAutoFit/>
          </a:bodyPr>
          <a:lstStyle/>
          <a:p>
            <a:pPr>
              <a:lnSpc>
                <a:spcPct val="112000"/>
              </a:lnSpc>
              <a:spcAft>
                <a:spcPts val="700"/>
              </a:spcAft>
              <a:defRPr sz="2000" b="1">
                <a:solidFill>
                  <a:srgbClr val="193F35"/>
                </a:solidFill>
                <a:latin typeface="Aptos"/>
              </a:defRPr>
            </a:pPr>
            <a:r>
              <a:t>App reminds</a:t>
            </a:r>
          </a:p>
        </p:txBody>
      </p:sp>
      <p:sp>
        <p:nvSpPr>
          <p:cNvPr id="14" name="TextBox 13"/>
          <p:cNvSpPr txBox="1"/>
          <p:nvPr/>
        </p:nvSpPr>
        <p:spPr>
          <a:xfrm>
            <a:off x="3575304" y="3493008"/>
            <a:ext cx="2167128" cy="45720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IST schedule; open website</a:t>
            </a:r>
          </a:p>
        </p:txBody>
      </p:sp>
      <p:sp>
        <p:nvSpPr>
          <p:cNvPr id="15" name="Chevron 14"/>
          <p:cNvSpPr/>
          <p:nvPr/>
        </p:nvSpPr>
        <p:spPr>
          <a:xfrm>
            <a:off x="5961888" y="3291840"/>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90488" y="2651760"/>
            <a:ext cx="2532888" cy="149047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2880360"/>
            <a:ext cx="2167128" cy="384048"/>
          </a:xfrm>
          <a:prstGeom prst="rect">
            <a:avLst/>
          </a:prstGeom>
          <a:noFill/>
        </p:spPr>
        <p:txBody>
          <a:bodyPr wrap="square" lIns="0" rIns="0" tIns="0" bIns="0">
            <a:spAutoFit/>
          </a:bodyPr>
          <a:lstStyle/>
          <a:p>
            <a:pPr>
              <a:lnSpc>
                <a:spcPct val="112000"/>
              </a:lnSpc>
              <a:spcAft>
                <a:spcPts val="700"/>
              </a:spcAft>
              <a:defRPr sz="2000" b="1">
                <a:solidFill>
                  <a:srgbClr val="193F35"/>
                </a:solidFill>
                <a:latin typeface="Aptos"/>
              </a:defRPr>
            </a:pPr>
            <a:r>
              <a:t>Patient responds</a:t>
            </a:r>
          </a:p>
        </p:txBody>
      </p:sp>
      <p:sp>
        <p:nvSpPr>
          <p:cNvPr id="18" name="TextBox 17"/>
          <p:cNvSpPr txBox="1"/>
          <p:nvPr/>
        </p:nvSpPr>
        <p:spPr>
          <a:xfrm>
            <a:off x="6373368" y="3493008"/>
            <a:ext cx="2167128" cy="45720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Taken / snooze / missed</a:t>
            </a:r>
          </a:p>
        </p:txBody>
      </p:sp>
      <p:sp>
        <p:nvSpPr>
          <p:cNvPr id="19" name="Chevron 18"/>
          <p:cNvSpPr/>
          <p:nvPr/>
        </p:nvSpPr>
        <p:spPr>
          <a:xfrm>
            <a:off x="8759952" y="3291840"/>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88552" y="2651760"/>
            <a:ext cx="2532888" cy="149047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1432" y="2880360"/>
            <a:ext cx="2167128" cy="384048"/>
          </a:xfrm>
          <a:prstGeom prst="rect">
            <a:avLst/>
          </a:prstGeom>
          <a:noFill/>
        </p:spPr>
        <p:txBody>
          <a:bodyPr wrap="square" lIns="0" rIns="0" tIns="0" bIns="0">
            <a:spAutoFit/>
          </a:bodyPr>
          <a:lstStyle/>
          <a:p>
            <a:pPr>
              <a:lnSpc>
                <a:spcPct val="112000"/>
              </a:lnSpc>
              <a:spcAft>
                <a:spcPts val="700"/>
              </a:spcAft>
              <a:defRPr sz="2000" b="1">
                <a:solidFill>
                  <a:srgbClr val="193F35"/>
                </a:solidFill>
                <a:latin typeface="Aptos"/>
              </a:defRPr>
            </a:pPr>
            <a:r>
              <a:t>Doctor reviews</a:t>
            </a:r>
          </a:p>
        </p:txBody>
      </p:sp>
      <p:sp>
        <p:nvSpPr>
          <p:cNvPr id="22" name="TextBox 21"/>
          <p:cNvSpPr txBox="1"/>
          <p:nvPr/>
        </p:nvSpPr>
        <p:spPr>
          <a:xfrm>
            <a:off x="9171432" y="3493008"/>
            <a:ext cx="2167128" cy="457200"/>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Dose activity and status</a:t>
            </a:r>
          </a:p>
        </p:txBody>
      </p:sp>
      <p:sp>
        <p:nvSpPr>
          <p:cNvPr id="23" name="Rounded Rectangle 22"/>
          <p:cNvSpPr/>
          <p:nvPr/>
        </p:nvSpPr>
        <p:spPr>
          <a:xfrm>
            <a:off x="594360" y="4498848"/>
            <a:ext cx="5367528" cy="1600200"/>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709160"/>
            <a:ext cx="4937760" cy="365760"/>
          </a:xfrm>
          <a:prstGeom prst="rect">
            <a:avLst/>
          </a:prstGeom>
          <a:noFill/>
        </p:spPr>
        <p:txBody>
          <a:bodyPr wrap="square" lIns="0" rIns="0" tIns="0" bIns="0">
            <a:spAutoFit/>
          </a:bodyPr>
          <a:lstStyle/>
          <a:p>
            <a:pPr>
              <a:lnSpc>
                <a:spcPct val="112000"/>
              </a:lnSpc>
              <a:spcAft>
                <a:spcPts val="700"/>
              </a:spcAft>
              <a:defRPr sz="1100" b="1">
                <a:solidFill>
                  <a:srgbClr val="236A54"/>
                </a:solidFill>
                <a:latin typeface="Aptos"/>
              </a:defRPr>
            </a:pPr>
            <a:r>
              <a:t>WHAT WE VERIFIED</a:t>
            </a:r>
          </a:p>
        </p:txBody>
      </p:sp>
      <p:sp>
        <p:nvSpPr>
          <p:cNvPr id="25" name="TextBox 24"/>
          <p:cNvSpPr txBox="1"/>
          <p:nvPr/>
        </p:nvSpPr>
        <p:spPr>
          <a:xfrm>
            <a:off x="804672" y="5102352"/>
            <a:ext cx="4937760" cy="868680"/>
          </a:xfrm>
          <a:prstGeom prst="rect">
            <a:avLst/>
          </a:prstGeom>
          <a:noFill/>
        </p:spPr>
        <p:txBody>
          <a:bodyPr wrap="square" lIns="0" rIns="0" tIns="0" bIns="0">
            <a:spAutoFit/>
          </a:bodyPr>
          <a:lstStyle/>
          <a:p>
            <a:pPr>
              <a:lnSpc>
                <a:spcPct val="112000"/>
              </a:lnSpc>
              <a:spcAft>
                <a:spcPts val="700"/>
              </a:spcAft>
              <a:defRPr sz="1400" b="0">
                <a:solidFill>
                  <a:srgbClr val="236A54"/>
                </a:solidFill>
                <a:latin typeface="Aptos"/>
              </a:defRPr>
            </a:pPr>
            <a:r>
              <a:t>Due reminder → five-minute timeout → demo missed status.</a:t>
            </a:r>
          </a:p>
          <a:p>
            <a:pPr>
              <a:lnSpc>
                <a:spcPct val="112000"/>
              </a:lnSpc>
              <a:spcAft>
                <a:spcPts val="700"/>
              </a:spcAft>
              <a:defRPr sz="1400" b="0">
                <a:solidFill>
                  <a:srgbClr val="236A54"/>
                </a:solidFill>
                <a:latin typeface="Aptos"/>
              </a:defRPr>
            </a:pPr>
            <a:r>
              <a:t>Dose confirmation and activity history persist.</a:t>
            </a:r>
          </a:p>
        </p:txBody>
      </p:sp>
      <p:sp>
        <p:nvSpPr>
          <p:cNvPr id="26" name="Rounded Rectangle 25"/>
          <p:cNvSpPr/>
          <p:nvPr/>
        </p:nvSpPr>
        <p:spPr>
          <a:xfrm>
            <a:off x="6181344" y="4498848"/>
            <a:ext cx="5367528" cy="1600200"/>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4709160"/>
            <a:ext cx="4937760" cy="365760"/>
          </a:xfrm>
          <a:prstGeom prst="rect">
            <a:avLst/>
          </a:prstGeom>
          <a:noFill/>
        </p:spPr>
        <p:txBody>
          <a:bodyPr wrap="square" lIns="0" rIns="0" tIns="0" bIns="0">
            <a:spAutoFit/>
          </a:bodyPr>
          <a:lstStyle/>
          <a:p>
            <a:pPr>
              <a:lnSpc>
                <a:spcPct val="112000"/>
              </a:lnSpc>
              <a:spcAft>
                <a:spcPts val="700"/>
              </a:spcAft>
              <a:defRPr sz="1100" b="1">
                <a:solidFill>
                  <a:srgbClr val="BD7C66"/>
                </a:solidFill>
                <a:latin typeface="Aptos"/>
              </a:defRPr>
            </a:pPr>
            <a:r>
              <a:t>WHAT PRODUCTION MUST ADD</a:t>
            </a:r>
          </a:p>
        </p:txBody>
      </p:sp>
      <p:sp>
        <p:nvSpPr>
          <p:cNvPr id="28" name="TextBox 27"/>
          <p:cNvSpPr txBox="1"/>
          <p:nvPr/>
        </p:nvSpPr>
        <p:spPr>
          <a:xfrm>
            <a:off x="6391656" y="5102352"/>
            <a:ext cx="4937760" cy="868680"/>
          </a:xfrm>
          <a:prstGeom prst="rect">
            <a:avLst/>
          </a:prstGeom>
          <a:noFill/>
        </p:spPr>
        <p:txBody>
          <a:bodyPr wrap="square" lIns="0" rIns="0" tIns="0" bIns="0">
            <a:spAutoFit/>
          </a:bodyPr>
          <a:lstStyle/>
          <a:p>
            <a:pPr>
              <a:lnSpc>
                <a:spcPct val="112000"/>
              </a:lnSpc>
              <a:spcAft>
                <a:spcPts val="700"/>
              </a:spcAft>
              <a:defRPr sz="1400" b="0">
                <a:solidFill>
                  <a:srgbClr val="687E72"/>
                </a:solidFill>
                <a:latin typeface="Aptos"/>
              </a:defRPr>
            </a:pPr>
            <a:r>
              <a:t>Durable scheduling and delivery tracking.</a:t>
            </a:r>
          </a:p>
          <a:p>
            <a:pPr>
              <a:lnSpc>
                <a:spcPct val="112000"/>
              </a:lnSpc>
              <a:spcAft>
                <a:spcPts val="700"/>
              </a:spcAft>
              <a:defRPr sz="1400" b="0">
                <a:solidFill>
                  <a:srgbClr val="687E72"/>
                </a:solidFill>
                <a:latin typeface="Aptos"/>
              </a:defRPr>
            </a:pPr>
            <a:r>
              <a:t>Separate unconfirmed doses from confirmed missed doses.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72E"/>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D6B577"/>
                </a:solidFill>
                <a:latin typeface="Aptos"/>
              </a:defRPr>
            </a:pPr>
            <a:r>
              <a:t>STEP 08 / PRIVACY ENGINEERING</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FFFFFF"/>
                </a:solidFill>
                <a:latin typeface="Aptos"/>
              </a:defRPr>
            </a:pPr>
            <a:r>
              <a:t>Privacy is a request boundary—not a badge.</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B4CCB9"/>
                </a:solidFill>
                <a:latin typeface="Aptos"/>
              </a:defRPr>
            </a:pPr>
            <a:r>
              <a:t>We tested denial paths, not only successful screens.</a:t>
            </a:r>
          </a:p>
        </p:txBody>
      </p:sp>
      <p:sp>
        <p:nvSpPr>
          <p:cNvPr id="5" name="Rectangle 4"/>
          <p:cNvSpPr/>
          <p:nvPr/>
        </p:nvSpPr>
        <p:spPr>
          <a:xfrm>
            <a:off x="594360" y="6446520"/>
            <a:ext cx="11000232" cy="10972"/>
          </a:xfrm>
          <a:prstGeom prst="rect">
            <a:avLst/>
          </a:prstGeom>
          <a:solidFill>
            <a:srgbClr val="36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A6C0AB"/>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A6C0AB"/>
                </a:solidFill>
                <a:latin typeface="Aptos"/>
              </a:defRPr>
            </a:pPr>
            <a:r>
              <a:t>12 / 16</a:t>
            </a:r>
          </a:p>
        </p:txBody>
      </p:sp>
      <p:sp>
        <p:nvSpPr>
          <p:cNvPr id="8" name="Rounded Rectangle 7"/>
          <p:cNvSpPr/>
          <p:nvPr/>
        </p:nvSpPr>
        <p:spPr>
          <a:xfrm>
            <a:off x="594360" y="2542032"/>
            <a:ext cx="5385816" cy="1325880"/>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752344"/>
            <a:ext cx="4983480" cy="384048"/>
          </a:xfrm>
          <a:prstGeom prst="rect">
            <a:avLst/>
          </a:prstGeom>
          <a:noFill/>
        </p:spPr>
        <p:txBody>
          <a:bodyPr wrap="square" lIns="0" rIns="0" tIns="0" bIns="0">
            <a:spAutoFit/>
          </a:bodyPr>
          <a:lstStyle/>
          <a:p>
            <a:pPr>
              <a:lnSpc>
                <a:spcPct val="112000"/>
              </a:lnSpc>
              <a:spcAft>
                <a:spcPts val="700"/>
              </a:spcAft>
              <a:defRPr sz="2000" b="1">
                <a:solidFill>
                  <a:srgbClr val="FFFFFF"/>
                </a:solidFill>
                <a:latin typeface="Aptos"/>
              </a:defRPr>
            </a:pPr>
            <a:r>
              <a:t>Role protection</a:t>
            </a:r>
          </a:p>
        </p:txBody>
      </p:sp>
      <p:sp>
        <p:nvSpPr>
          <p:cNvPr id="10" name="TextBox 9"/>
          <p:cNvSpPr txBox="1"/>
          <p:nvPr/>
        </p:nvSpPr>
        <p:spPr>
          <a:xfrm>
            <a:off x="795528" y="3328415"/>
            <a:ext cx="4983480" cy="365760"/>
          </a:xfrm>
          <a:prstGeom prst="rect">
            <a:avLst/>
          </a:prstGeom>
          <a:noFill/>
        </p:spPr>
        <p:txBody>
          <a:bodyPr wrap="square" lIns="0" rIns="0" tIns="0" bIns="0">
            <a:spAutoFit/>
          </a:bodyPr>
          <a:lstStyle/>
          <a:p>
            <a:pPr>
              <a:lnSpc>
                <a:spcPct val="112000"/>
              </a:lnSpc>
              <a:spcAft>
                <a:spcPts val="700"/>
              </a:spcAft>
              <a:defRPr sz="1300" b="0">
                <a:solidFill>
                  <a:srgbClr val="B4CCB9"/>
                </a:solidFill>
                <a:latin typeface="Aptos"/>
              </a:defRPr>
            </a:pPr>
            <a:r>
              <a:t>Patients cannot modify clinician-only records.</a:t>
            </a:r>
          </a:p>
        </p:txBody>
      </p:sp>
      <p:sp>
        <p:nvSpPr>
          <p:cNvPr id="11" name="Rounded Rectangle 10"/>
          <p:cNvSpPr/>
          <p:nvPr/>
        </p:nvSpPr>
        <p:spPr>
          <a:xfrm>
            <a:off x="6208776" y="2542032"/>
            <a:ext cx="5385816" cy="1325880"/>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2752344"/>
            <a:ext cx="4983480" cy="384048"/>
          </a:xfrm>
          <a:prstGeom prst="rect">
            <a:avLst/>
          </a:prstGeom>
          <a:noFill/>
        </p:spPr>
        <p:txBody>
          <a:bodyPr wrap="square" lIns="0" rIns="0" tIns="0" bIns="0">
            <a:spAutoFit/>
          </a:bodyPr>
          <a:lstStyle/>
          <a:p>
            <a:pPr>
              <a:lnSpc>
                <a:spcPct val="112000"/>
              </a:lnSpc>
              <a:spcAft>
                <a:spcPts val="700"/>
              </a:spcAft>
              <a:defRPr sz="2000" b="1">
                <a:solidFill>
                  <a:srgbClr val="FFFFFF"/>
                </a:solidFill>
                <a:latin typeface="Aptos"/>
              </a:defRPr>
            </a:pPr>
            <a:r>
              <a:t>Patient isolation</a:t>
            </a:r>
          </a:p>
        </p:txBody>
      </p:sp>
      <p:sp>
        <p:nvSpPr>
          <p:cNvPr id="13" name="TextBox 12"/>
          <p:cNvSpPr txBox="1"/>
          <p:nvPr/>
        </p:nvSpPr>
        <p:spPr>
          <a:xfrm>
            <a:off x="6409944" y="3328415"/>
            <a:ext cx="4983480" cy="365760"/>
          </a:xfrm>
          <a:prstGeom prst="rect">
            <a:avLst/>
          </a:prstGeom>
          <a:noFill/>
        </p:spPr>
        <p:txBody>
          <a:bodyPr wrap="square" lIns="0" rIns="0" tIns="0" bIns="0">
            <a:spAutoFit/>
          </a:bodyPr>
          <a:lstStyle/>
          <a:p>
            <a:pPr>
              <a:lnSpc>
                <a:spcPct val="112000"/>
              </a:lnSpc>
              <a:spcAft>
                <a:spcPts val="700"/>
              </a:spcAft>
              <a:defRPr sz="1300" b="0">
                <a:solidFill>
                  <a:srgbClr val="B4CCB9"/>
                </a:solidFill>
                <a:latin typeface="Aptos"/>
              </a:defRPr>
            </a:pPr>
            <a:r>
              <a:t>Accounts cannot read or update another patient’s data.</a:t>
            </a:r>
          </a:p>
        </p:txBody>
      </p:sp>
      <p:sp>
        <p:nvSpPr>
          <p:cNvPr id="14" name="Rounded Rectangle 13"/>
          <p:cNvSpPr/>
          <p:nvPr/>
        </p:nvSpPr>
        <p:spPr>
          <a:xfrm>
            <a:off x="594360" y="4114800"/>
            <a:ext cx="5385816" cy="1325880"/>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4325112"/>
            <a:ext cx="4983480" cy="384048"/>
          </a:xfrm>
          <a:prstGeom prst="rect">
            <a:avLst/>
          </a:prstGeom>
          <a:noFill/>
        </p:spPr>
        <p:txBody>
          <a:bodyPr wrap="square" lIns="0" rIns="0" tIns="0" bIns="0">
            <a:spAutoFit/>
          </a:bodyPr>
          <a:lstStyle/>
          <a:p>
            <a:pPr>
              <a:lnSpc>
                <a:spcPct val="112000"/>
              </a:lnSpc>
              <a:spcAft>
                <a:spcPts val="700"/>
              </a:spcAft>
              <a:defRPr sz="2000" b="1">
                <a:solidFill>
                  <a:srgbClr val="FFFFFF"/>
                </a:solidFill>
                <a:latin typeface="Aptos"/>
              </a:defRPr>
            </a:pPr>
            <a:r>
              <a:t>Consent enforcement</a:t>
            </a:r>
          </a:p>
        </p:txBody>
      </p:sp>
      <p:sp>
        <p:nvSpPr>
          <p:cNvPr id="16" name="TextBox 15"/>
          <p:cNvSpPr txBox="1"/>
          <p:nvPr/>
        </p:nvSpPr>
        <p:spPr>
          <a:xfrm>
            <a:off x="795528" y="4901184"/>
            <a:ext cx="4983480" cy="365760"/>
          </a:xfrm>
          <a:prstGeom prst="rect">
            <a:avLst/>
          </a:prstGeom>
          <a:noFill/>
        </p:spPr>
        <p:txBody>
          <a:bodyPr wrap="square" lIns="0" rIns="0" tIns="0" bIns="0">
            <a:spAutoFit/>
          </a:bodyPr>
          <a:lstStyle/>
          <a:p>
            <a:pPr>
              <a:lnSpc>
                <a:spcPct val="112000"/>
              </a:lnSpc>
              <a:spcAft>
                <a:spcPts val="700"/>
              </a:spcAft>
              <a:defRPr sz="1300" b="0">
                <a:solidFill>
                  <a:srgbClr val="B4CCB9"/>
                </a:solidFill>
                <a:latin typeface="Aptos"/>
              </a:defRPr>
            </a:pPr>
            <a:r>
              <a:t>Revocation blocks doctor reads, edits and emergency access.</a:t>
            </a:r>
          </a:p>
        </p:txBody>
      </p:sp>
      <p:sp>
        <p:nvSpPr>
          <p:cNvPr id="17" name="Rounded Rectangle 16"/>
          <p:cNvSpPr/>
          <p:nvPr/>
        </p:nvSpPr>
        <p:spPr>
          <a:xfrm>
            <a:off x="6208776" y="4114800"/>
            <a:ext cx="5385816" cy="1325880"/>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4325112"/>
            <a:ext cx="4983480" cy="384048"/>
          </a:xfrm>
          <a:prstGeom prst="rect">
            <a:avLst/>
          </a:prstGeom>
          <a:noFill/>
        </p:spPr>
        <p:txBody>
          <a:bodyPr wrap="square" lIns="0" rIns="0" tIns="0" bIns="0">
            <a:spAutoFit/>
          </a:bodyPr>
          <a:lstStyle/>
          <a:p>
            <a:pPr>
              <a:lnSpc>
                <a:spcPct val="112000"/>
              </a:lnSpc>
              <a:spcAft>
                <a:spcPts val="700"/>
              </a:spcAft>
              <a:defRPr sz="2000" b="1">
                <a:solidFill>
                  <a:srgbClr val="FFFFFF"/>
                </a:solidFill>
                <a:latin typeface="Aptos"/>
              </a:defRPr>
            </a:pPr>
            <a:r>
              <a:t>Interface cleanup</a:t>
            </a:r>
          </a:p>
        </p:txBody>
      </p:sp>
      <p:sp>
        <p:nvSpPr>
          <p:cNvPr id="19" name="TextBox 18"/>
          <p:cNvSpPr txBox="1"/>
          <p:nvPr/>
        </p:nvSpPr>
        <p:spPr>
          <a:xfrm>
            <a:off x="6409944" y="4901184"/>
            <a:ext cx="4983480" cy="365760"/>
          </a:xfrm>
          <a:prstGeom prst="rect">
            <a:avLst/>
          </a:prstGeom>
          <a:noFill/>
        </p:spPr>
        <p:txBody>
          <a:bodyPr wrap="square" lIns="0" rIns="0" tIns="0" bIns="0">
            <a:spAutoFit/>
          </a:bodyPr>
          <a:lstStyle/>
          <a:p>
            <a:pPr>
              <a:lnSpc>
                <a:spcPct val="112000"/>
              </a:lnSpc>
              <a:spcAft>
                <a:spcPts val="700"/>
              </a:spcAft>
              <a:defRPr sz="1300" b="0">
                <a:solidFill>
                  <a:srgbClr val="B4CCB9"/>
                </a:solidFill>
                <a:latin typeface="Aptos"/>
              </a:defRPr>
            </a:pPr>
            <a:r>
              <a:t>Open clinical forms and cached audit data clear after revocation.</a:t>
            </a:r>
          </a:p>
        </p:txBody>
      </p:sp>
      <p:sp>
        <p:nvSpPr>
          <p:cNvPr id="20" name="TextBox 19"/>
          <p:cNvSpPr txBox="1"/>
          <p:nvPr/>
        </p:nvSpPr>
        <p:spPr>
          <a:xfrm>
            <a:off x="804672" y="5870448"/>
            <a:ext cx="10607040" cy="320040"/>
          </a:xfrm>
          <a:prstGeom prst="rect">
            <a:avLst/>
          </a:prstGeom>
          <a:noFill/>
        </p:spPr>
        <p:txBody>
          <a:bodyPr wrap="square" lIns="0" rIns="0" tIns="0" bIns="0">
            <a:spAutoFit/>
          </a:bodyPr>
          <a:lstStyle/>
          <a:p>
            <a:pPr>
              <a:lnSpc>
                <a:spcPct val="112000"/>
              </a:lnSpc>
              <a:spcAft>
                <a:spcPts val="700"/>
              </a:spcAft>
              <a:defRPr sz="1400" b="1">
                <a:solidFill>
                  <a:srgbClr val="D6B577"/>
                </a:solidFill>
                <a:latin typeface="Aptos"/>
              </a:defRPr>
            </a:pPr>
            <a:r>
              <a:t>Demo boundary: local storage is not encrypted at rest. Use fictional information only.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09 / VALIDATION</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Prove the workflow before presenting it.</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Verification covered the API, the browser, packaging and the optimized website build.</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13 / 16</a:t>
            </a:r>
          </a:p>
        </p:txBody>
      </p:sp>
      <p:sp>
        <p:nvSpPr>
          <p:cNvPr id="8" name="Rounded Rectangle 7"/>
          <p:cNvSpPr/>
          <p:nvPr/>
        </p:nvSpPr>
        <p:spPr>
          <a:xfrm>
            <a:off x="594360" y="2542032"/>
            <a:ext cx="3529584" cy="286207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761488"/>
            <a:ext cx="3127248" cy="731520"/>
          </a:xfrm>
          <a:prstGeom prst="rect">
            <a:avLst/>
          </a:prstGeom>
          <a:noFill/>
        </p:spPr>
        <p:txBody>
          <a:bodyPr wrap="square" lIns="0" rIns="0" tIns="0" bIns="0">
            <a:spAutoFit/>
          </a:bodyPr>
          <a:lstStyle/>
          <a:p>
            <a:pPr>
              <a:lnSpc>
                <a:spcPct val="112000"/>
              </a:lnSpc>
              <a:spcAft>
                <a:spcPts val="700"/>
              </a:spcAft>
              <a:defRPr sz="4900" b="1">
                <a:solidFill>
                  <a:srgbClr val="236A54"/>
                </a:solidFill>
                <a:latin typeface="Aptos"/>
              </a:defRPr>
            </a:pPr>
            <a:r>
              <a:t>13</a:t>
            </a:r>
          </a:p>
        </p:txBody>
      </p:sp>
      <p:sp>
        <p:nvSpPr>
          <p:cNvPr id="10" name="TextBox 9"/>
          <p:cNvSpPr txBox="1"/>
          <p:nvPr/>
        </p:nvSpPr>
        <p:spPr>
          <a:xfrm>
            <a:off x="795528" y="3703320"/>
            <a:ext cx="3127248" cy="457200"/>
          </a:xfrm>
          <a:prstGeom prst="rect">
            <a:avLst/>
          </a:prstGeom>
          <a:noFill/>
        </p:spPr>
        <p:txBody>
          <a:bodyPr wrap="square" lIns="0" rIns="0" tIns="0" bIns="0">
            <a:spAutoFit/>
          </a:bodyPr>
          <a:lstStyle/>
          <a:p>
            <a:pPr>
              <a:lnSpc>
                <a:spcPct val="112000"/>
              </a:lnSpc>
              <a:spcAft>
                <a:spcPts val="700"/>
              </a:spcAft>
              <a:defRPr sz="1900" b="1">
                <a:solidFill>
                  <a:srgbClr val="193F35"/>
                </a:solidFill>
                <a:latin typeface="Aptos"/>
              </a:defRPr>
            </a:pPr>
            <a:r>
              <a:t>API tests passed</a:t>
            </a:r>
          </a:p>
        </p:txBody>
      </p:sp>
      <p:sp>
        <p:nvSpPr>
          <p:cNvPr id="11" name="TextBox 10"/>
          <p:cNvSpPr txBox="1"/>
          <p:nvPr/>
        </p:nvSpPr>
        <p:spPr>
          <a:xfrm>
            <a:off x="795528" y="4361688"/>
            <a:ext cx="3127248" cy="731520"/>
          </a:xfrm>
          <a:prstGeom prst="rect">
            <a:avLst/>
          </a:prstGeom>
          <a:noFill/>
        </p:spPr>
        <p:txBody>
          <a:bodyPr wrap="square" lIns="0" rIns="0" tIns="0" bIns="0">
            <a:spAutoFit/>
          </a:bodyPr>
          <a:lstStyle/>
          <a:p>
            <a:pPr>
              <a:lnSpc>
                <a:spcPct val="112000"/>
              </a:lnSpc>
              <a:spcAft>
                <a:spcPts val="700"/>
              </a:spcAft>
              <a:defRPr sz="1400" b="0">
                <a:solidFill>
                  <a:srgbClr val="687E72"/>
                </a:solidFill>
                <a:latin typeface="Aptos"/>
              </a:defRPr>
            </a:pPr>
            <a:r>
              <a:t>Authentication, roles, consent, patient isolation, profiles, prescriptions and messaging.</a:t>
            </a:r>
          </a:p>
        </p:txBody>
      </p:sp>
      <p:sp>
        <p:nvSpPr>
          <p:cNvPr id="12" name="Rounded Rectangle 11"/>
          <p:cNvSpPr/>
          <p:nvPr/>
        </p:nvSpPr>
        <p:spPr>
          <a:xfrm>
            <a:off x="4334256" y="2542032"/>
            <a:ext cx="3529584" cy="286207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2761488"/>
            <a:ext cx="3127248" cy="731520"/>
          </a:xfrm>
          <a:prstGeom prst="rect">
            <a:avLst/>
          </a:prstGeom>
          <a:noFill/>
        </p:spPr>
        <p:txBody>
          <a:bodyPr wrap="square" lIns="0" rIns="0" tIns="0" bIns="0">
            <a:spAutoFit/>
          </a:bodyPr>
          <a:lstStyle/>
          <a:p>
            <a:pPr>
              <a:lnSpc>
                <a:spcPct val="112000"/>
              </a:lnSpc>
              <a:spcAft>
                <a:spcPts val="700"/>
              </a:spcAft>
              <a:defRPr sz="4900" b="1">
                <a:solidFill>
                  <a:srgbClr val="236A54"/>
                </a:solidFill>
                <a:latin typeface="Aptos"/>
              </a:defRPr>
            </a:pPr>
            <a:r>
              <a:t>2</a:t>
            </a:r>
          </a:p>
        </p:txBody>
      </p:sp>
      <p:sp>
        <p:nvSpPr>
          <p:cNvPr id="14" name="TextBox 13"/>
          <p:cNvSpPr txBox="1"/>
          <p:nvPr/>
        </p:nvSpPr>
        <p:spPr>
          <a:xfrm>
            <a:off x="4535424" y="3703320"/>
            <a:ext cx="3127248" cy="457200"/>
          </a:xfrm>
          <a:prstGeom prst="rect">
            <a:avLst/>
          </a:prstGeom>
          <a:noFill/>
        </p:spPr>
        <p:txBody>
          <a:bodyPr wrap="square" lIns="0" rIns="0" tIns="0" bIns="0">
            <a:spAutoFit/>
          </a:bodyPr>
          <a:lstStyle/>
          <a:p>
            <a:pPr>
              <a:lnSpc>
                <a:spcPct val="112000"/>
              </a:lnSpc>
              <a:spcAft>
                <a:spcPts val="700"/>
              </a:spcAft>
              <a:defRPr sz="1900" b="1">
                <a:solidFill>
                  <a:srgbClr val="193F35"/>
                </a:solidFill>
                <a:latin typeface="Aptos"/>
              </a:defRPr>
            </a:pPr>
            <a:r>
              <a:t>Portal journeys verified</a:t>
            </a:r>
          </a:p>
        </p:txBody>
      </p:sp>
      <p:sp>
        <p:nvSpPr>
          <p:cNvPr id="15" name="TextBox 14"/>
          <p:cNvSpPr txBox="1"/>
          <p:nvPr/>
        </p:nvSpPr>
        <p:spPr>
          <a:xfrm>
            <a:off x="4535424" y="4361688"/>
            <a:ext cx="3127248" cy="731520"/>
          </a:xfrm>
          <a:prstGeom prst="rect">
            <a:avLst/>
          </a:prstGeom>
          <a:noFill/>
        </p:spPr>
        <p:txBody>
          <a:bodyPr wrap="square" lIns="0" rIns="0" tIns="0" bIns="0">
            <a:spAutoFit/>
          </a:bodyPr>
          <a:lstStyle/>
          <a:p>
            <a:pPr>
              <a:lnSpc>
                <a:spcPct val="112000"/>
              </a:lnSpc>
              <a:spcAft>
                <a:spcPts val="700"/>
              </a:spcAft>
              <a:defRPr sz="1400" b="0">
                <a:solidFill>
                  <a:srgbClr val="687E72"/>
                </a:solidFill>
                <a:latin typeface="Aptos"/>
              </a:defRPr>
            </a:pPr>
            <a:r>
              <a:t>Patient and doctor login, refresh restoration, wrong-portal rejection and logout.</a:t>
            </a:r>
          </a:p>
        </p:txBody>
      </p:sp>
      <p:sp>
        <p:nvSpPr>
          <p:cNvPr id="16" name="Rounded Rectangle 15"/>
          <p:cNvSpPr/>
          <p:nvPr/>
        </p:nvSpPr>
        <p:spPr>
          <a:xfrm>
            <a:off x="8074152" y="2542032"/>
            <a:ext cx="3529584" cy="286207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2761488"/>
            <a:ext cx="3127248" cy="731520"/>
          </a:xfrm>
          <a:prstGeom prst="rect">
            <a:avLst/>
          </a:prstGeom>
          <a:noFill/>
        </p:spPr>
        <p:txBody>
          <a:bodyPr wrap="square" lIns="0" rIns="0" tIns="0" bIns="0">
            <a:spAutoFit/>
          </a:bodyPr>
          <a:lstStyle/>
          <a:p>
            <a:pPr>
              <a:lnSpc>
                <a:spcPct val="112000"/>
              </a:lnSpc>
              <a:spcAft>
                <a:spcPts val="700"/>
              </a:spcAft>
              <a:defRPr sz="4900" b="1">
                <a:solidFill>
                  <a:srgbClr val="236A54"/>
                </a:solidFill>
                <a:latin typeface="Aptos"/>
              </a:defRPr>
            </a:pPr>
            <a:r>
              <a:t>PASS</a:t>
            </a:r>
          </a:p>
        </p:txBody>
      </p:sp>
      <p:sp>
        <p:nvSpPr>
          <p:cNvPr id="18" name="TextBox 17"/>
          <p:cNvSpPr txBox="1"/>
          <p:nvPr/>
        </p:nvSpPr>
        <p:spPr>
          <a:xfrm>
            <a:off x="8275320" y="3703320"/>
            <a:ext cx="3127248" cy="457200"/>
          </a:xfrm>
          <a:prstGeom prst="rect">
            <a:avLst/>
          </a:prstGeom>
          <a:noFill/>
        </p:spPr>
        <p:txBody>
          <a:bodyPr wrap="square" lIns="0" rIns="0" tIns="0" bIns="0">
            <a:spAutoFit/>
          </a:bodyPr>
          <a:lstStyle/>
          <a:p>
            <a:pPr>
              <a:lnSpc>
                <a:spcPct val="112000"/>
              </a:lnSpc>
              <a:spcAft>
                <a:spcPts val="700"/>
              </a:spcAft>
              <a:defRPr sz="1900" b="1">
                <a:solidFill>
                  <a:srgbClr val="193F35"/>
                </a:solidFill>
                <a:latin typeface="Aptos"/>
              </a:defRPr>
            </a:pPr>
            <a:r>
              <a:t>Production build</a:t>
            </a:r>
          </a:p>
        </p:txBody>
      </p:sp>
      <p:sp>
        <p:nvSpPr>
          <p:cNvPr id="19" name="TextBox 18"/>
          <p:cNvSpPr txBox="1"/>
          <p:nvPr/>
        </p:nvSpPr>
        <p:spPr>
          <a:xfrm>
            <a:off x="8275320" y="4361688"/>
            <a:ext cx="3127248" cy="731520"/>
          </a:xfrm>
          <a:prstGeom prst="rect">
            <a:avLst/>
          </a:prstGeom>
          <a:noFill/>
        </p:spPr>
        <p:txBody>
          <a:bodyPr wrap="square" lIns="0" rIns="0" tIns="0" bIns="0">
            <a:spAutoFit/>
          </a:bodyPr>
          <a:lstStyle/>
          <a:p>
            <a:pPr>
              <a:lnSpc>
                <a:spcPct val="112000"/>
              </a:lnSpc>
              <a:spcAft>
                <a:spcPts val="700"/>
              </a:spcAft>
              <a:defRPr sz="1400" b="0">
                <a:solidFill>
                  <a:srgbClr val="687E72"/>
                </a:solidFill>
                <a:latin typeface="Aptos"/>
              </a:defRPr>
            </a:pPr>
            <a:r>
              <a:t>Optimized frontend served with the API; packaged source installation also checked.</a:t>
            </a:r>
          </a:p>
        </p:txBody>
      </p:sp>
      <p:sp>
        <p:nvSpPr>
          <p:cNvPr id="20" name="TextBox 19"/>
          <p:cNvSpPr txBox="1"/>
          <p:nvPr/>
        </p:nvSpPr>
        <p:spPr>
          <a:xfrm>
            <a:off x="795528" y="5669280"/>
            <a:ext cx="10652760" cy="493776"/>
          </a:xfrm>
          <a:prstGeom prst="rect">
            <a:avLst/>
          </a:prstGeom>
          <a:noFill/>
        </p:spPr>
        <p:txBody>
          <a:bodyPr wrap="square" lIns="0" rIns="0" tIns="0" bIns="0">
            <a:spAutoFit/>
          </a:bodyPr>
          <a:lstStyle/>
          <a:p>
            <a:pPr>
              <a:lnSpc>
                <a:spcPct val="112000"/>
              </a:lnSpc>
              <a:spcAft>
                <a:spcPts val="700"/>
              </a:spcAft>
              <a:defRPr sz="1500" b="1">
                <a:solidFill>
                  <a:srgbClr val="236A54"/>
                </a:solidFill>
                <a:latin typeface="Aptos"/>
              </a:defRPr>
            </a:pPr>
            <a:r>
              <a:t>Browser flow: registration → patient selection → profile → record → prescription → reply → reminder → consent revocation.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STEP 10 / PACKAGING + DELIVERY</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Deliver a website the team can actually run.</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Source code, VS Code tasks and a verified setup—not just screenshots.</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14 / 16</a:t>
            </a:r>
          </a:p>
        </p:txBody>
      </p:sp>
      <p:sp>
        <p:nvSpPr>
          <p:cNvPr id="8" name="Rounded Rectangle 7"/>
          <p:cNvSpPr/>
          <p:nvPr/>
        </p:nvSpPr>
        <p:spPr>
          <a:xfrm>
            <a:off x="594360" y="2487168"/>
            <a:ext cx="5897880" cy="3547872"/>
          </a:xfrm>
          <a:prstGeom prst="roundRect">
            <a:avLst>
              <a:gd name="adj" fmla="val 12000"/>
            </a:avLst>
          </a:prstGeom>
          <a:solidFill>
            <a:srgbClr val="123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752344"/>
            <a:ext cx="5358384" cy="365760"/>
          </a:xfrm>
          <a:prstGeom prst="rect">
            <a:avLst/>
          </a:prstGeom>
          <a:noFill/>
        </p:spPr>
        <p:txBody>
          <a:bodyPr wrap="square" lIns="0" rIns="0" tIns="0" bIns="0">
            <a:spAutoFit/>
          </a:bodyPr>
          <a:lstStyle/>
          <a:p>
            <a:pPr>
              <a:lnSpc>
                <a:spcPct val="112000"/>
              </a:lnSpc>
              <a:spcAft>
                <a:spcPts val="700"/>
              </a:spcAft>
              <a:defRPr sz="1100" b="1">
                <a:solidFill>
                  <a:srgbClr val="D6B577"/>
                </a:solidFill>
                <a:latin typeface="Aptos"/>
              </a:defRPr>
            </a:pPr>
            <a:r>
              <a:t>OPEN THE PROJECT IN VS CODE</a:t>
            </a:r>
          </a:p>
        </p:txBody>
      </p:sp>
      <p:sp>
        <p:nvSpPr>
          <p:cNvPr id="10" name="TextBox 9"/>
          <p:cNvSpPr txBox="1"/>
          <p:nvPr/>
        </p:nvSpPr>
        <p:spPr>
          <a:xfrm>
            <a:off x="868680" y="3447288"/>
            <a:ext cx="5303520" cy="1371600"/>
          </a:xfrm>
          <a:prstGeom prst="rect">
            <a:avLst/>
          </a:prstGeom>
          <a:noFill/>
        </p:spPr>
        <p:txBody>
          <a:bodyPr wrap="square" lIns="0" rIns="0" tIns="0" bIns="0">
            <a:spAutoFit/>
          </a:bodyPr>
          <a:lstStyle/>
          <a:p>
            <a:pPr>
              <a:lnSpc>
                <a:spcPct val="112000"/>
              </a:lnSpc>
              <a:spcAft>
                <a:spcPts val="700"/>
              </a:spcAft>
              <a:defRPr sz="2600" b="1">
                <a:solidFill>
                  <a:srgbClr val="FFFFFF"/>
                </a:solidFill>
                <a:latin typeface="Consolas"/>
              </a:defRPr>
            </a:pPr>
            <a:r>
              <a:t>npm ci</a:t>
            </a:r>
          </a:p>
          <a:p>
            <a:pPr>
              <a:lnSpc>
                <a:spcPct val="112000"/>
              </a:lnSpc>
              <a:spcAft>
                <a:spcPts val="700"/>
              </a:spcAft>
              <a:defRPr sz="2600" b="1">
                <a:solidFill>
                  <a:srgbClr val="FFFFFF"/>
                </a:solidFill>
                <a:latin typeface="Consolas"/>
              </a:defRPr>
            </a:pPr>
            <a:r>
              <a:t>npm run dev</a:t>
            </a:r>
          </a:p>
        </p:txBody>
      </p:sp>
      <p:sp>
        <p:nvSpPr>
          <p:cNvPr id="11" name="TextBox 10"/>
          <p:cNvSpPr txBox="1"/>
          <p:nvPr/>
        </p:nvSpPr>
        <p:spPr>
          <a:xfrm>
            <a:off x="868680" y="5239512"/>
            <a:ext cx="5303520" cy="493776"/>
          </a:xfrm>
          <a:prstGeom prst="rect">
            <a:avLst/>
          </a:prstGeom>
          <a:noFill/>
        </p:spPr>
        <p:txBody>
          <a:bodyPr wrap="square" lIns="0" rIns="0" tIns="0" bIns="0">
            <a:spAutoFit/>
          </a:bodyPr>
          <a:lstStyle/>
          <a:p>
            <a:pPr>
              <a:lnSpc>
                <a:spcPct val="112000"/>
              </a:lnSpc>
              <a:spcAft>
                <a:spcPts val="700"/>
              </a:spcAft>
              <a:defRPr sz="1500" b="0">
                <a:solidFill>
                  <a:srgbClr val="B4CCB9"/>
                </a:solidFill>
                <a:latin typeface="Aptos"/>
              </a:defRPr>
            </a:pPr>
            <a:r>
              <a:t>Open http://localhost:5173</a:t>
            </a:r>
          </a:p>
          <a:p>
            <a:pPr>
              <a:lnSpc>
                <a:spcPct val="112000"/>
              </a:lnSpc>
              <a:spcAft>
                <a:spcPts val="700"/>
              </a:spcAft>
              <a:defRPr sz="1500" b="0">
                <a:solidFill>
                  <a:srgbClr val="B4CCB9"/>
                </a:solidFill>
                <a:latin typeface="Aptos"/>
              </a:defRPr>
            </a:pPr>
            <a:r>
              <a:t>Keep the terminal running.</a:t>
            </a:r>
          </a:p>
        </p:txBody>
      </p:sp>
      <p:sp>
        <p:nvSpPr>
          <p:cNvPr id="12" name="TextBox 11"/>
          <p:cNvSpPr txBox="1"/>
          <p:nvPr/>
        </p:nvSpPr>
        <p:spPr>
          <a:xfrm>
            <a:off x="6903720" y="2697480"/>
            <a:ext cx="448056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FRONTEND</a:t>
            </a:r>
          </a:p>
        </p:txBody>
      </p:sp>
      <p:sp>
        <p:nvSpPr>
          <p:cNvPr id="13" name="TextBox 12"/>
          <p:cNvSpPr txBox="1"/>
          <p:nvPr/>
        </p:nvSpPr>
        <p:spPr>
          <a:xfrm>
            <a:off x="6903720" y="2971800"/>
            <a:ext cx="4480560" cy="365760"/>
          </a:xfrm>
          <a:prstGeom prst="rect">
            <a:avLst/>
          </a:prstGeom>
          <a:noFill/>
        </p:spPr>
        <p:txBody>
          <a:bodyPr wrap="square" lIns="0" rIns="0" tIns="0" bIns="0">
            <a:spAutoFit/>
          </a:bodyPr>
          <a:lstStyle/>
          <a:p>
            <a:pPr>
              <a:lnSpc>
                <a:spcPct val="112000"/>
              </a:lnSpc>
              <a:spcAft>
                <a:spcPts val="700"/>
              </a:spcAft>
              <a:defRPr sz="1600" b="0">
                <a:solidFill>
                  <a:srgbClr val="687E72"/>
                </a:solidFill>
                <a:latin typeface="Aptos"/>
              </a:defRPr>
            </a:pPr>
            <a:r>
              <a:t>React source + responsive CSS</a:t>
            </a:r>
          </a:p>
        </p:txBody>
      </p:sp>
      <p:sp>
        <p:nvSpPr>
          <p:cNvPr id="14" name="TextBox 13"/>
          <p:cNvSpPr txBox="1"/>
          <p:nvPr/>
        </p:nvSpPr>
        <p:spPr>
          <a:xfrm>
            <a:off x="6903720" y="3465576"/>
            <a:ext cx="448056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BACKEND</a:t>
            </a:r>
          </a:p>
        </p:txBody>
      </p:sp>
      <p:sp>
        <p:nvSpPr>
          <p:cNvPr id="15" name="TextBox 14"/>
          <p:cNvSpPr txBox="1"/>
          <p:nvPr/>
        </p:nvSpPr>
        <p:spPr>
          <a:xfrm>
            <a:off x="6903720" y="3739896"/>
            <a:ext cx="4480560" cy="365760"/>
          </a:xfrm>
          <a:prstGeom prst="rect">
            <a:avLst/>
          </a:prstGeom>
          <a:noFill/>
        </p:spPr>
        <p:txBody>
          <a:bodyPr wrap="square" lIns="0" rIns="0" tIns="0" bIns="0">
            <a:spAutoFit/>
          </a:bodyPr>
          <a:lstStyle/>
          <a:p>
            <a:pPr>
              <a:lnSpc>
                <a:spcPct val="112000"/>
              </a:lnSpc>
              <a:spcAft>
                <a:spcPts val="700"/>
              </a:spcAft>
              <a:defRPr sz="1600" b="0">
                <a:solidFill>
                  <a:srgbClr val="687E72"/>
                </a:solidFill>
                <a:latin typeface="Aptos"/>
              </a:defRPr>
            </a:pPr>
            <a:r>
              <a:t>Python API + local database</a:t>
            </a:r>
          </a:p>
        </p:txBody>
      </p:sp>
      <p:sp>
        <p:nvSpPr>
          <p:cNvPr id="16" name="TextBox 15"/>
          <p:cNvSpPr txBox="1"/>
          <p:nvPr/>
        </p:nvSpPr>
        <p:spPr>
          <a:xfrm>
            <a:off x="6903720" y="4233672"/>
            <a:ext cx="448056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DEVELOPMENT</a:t>
            </a:r>
          </a:p>
        </p:txBody>
      </p:sp>
      <p:sp>
        <p:nvSpPr>
          <p:cNvPr id="17" name="TextBox 16"/>
          <p:cNvSpPr txBox="1"/>
          <p:nvPr/>
        </p:nvSpPr>
        <p:spPr>
          <a:xfrm>
            <a:off x="6903720" y="4507992"/>
            <a:ext cx="4480560" cy="365760"/>
          </a:xfrm>
          <a:prstGeom prst="rect">
            <a:avLst/>
          </a:prstGeom>
          <a:noFill/>
        </p:spPr>
        <p:txBody>
          <a:bodyPr wrap="square" lIns="0" rIns="0" tIns="0" bIns="0">
            <a:spAutoFit/>
          </a:bodyPr>
          <a:lstStyle/>
          <a:p>
            <a:pPr>
              <a:lnSpc>
                <a:spcPct val="112000"/>
              </a:lnSpc>
              <a:spcAft>
                <a:spcPts val="700"/>
              </a:spcAft>
              <a:defRPr sz="1600" b="0">
                <a:solidFill>
                  <a:srgbClr val="687E72"/>
                </a:solidFill>
                <a:latin typeface="Aptos"/>
              </a:defRPr>
            </a:pPr>
            <a:r>
              <a:t>Node.js 22+ and Python 3.12+</a:t>
            </a:r>
          </a:p>
        </p:txBody>
      </p:sp>
      <p:sp>
        <p:nvSpPr>
          <p:cNvPr id="18" name="TextBox 17"/>
          <p:cNvSpPr txBox="1"/>
          <p:nvPr/>
        </p:nvSpPr>
        <p:spPr>
          <a:xfrm>
            <a:off x="6903720" y="5001768"/>
            <a:ext cx="448056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HANDOFF</a:t>
            </a:r>
          </a:p>
        </p:txBody>
      </p:sp>
      <p:sp>
        <p:nvSpPr>
          <p:cNvPr id="19" name="TextBox 18"/>
          <p:cNvSpPr txBox="1"/>
          <p:nvPr/>
        </p:nvSpPr>
        <p:spPr>
          <a:xfrm>
            <a:off x="6903720" y="5276088"/>
            <a:ext cx="4480560" cy="365760"/>
          </a:xfrm>
          <a:prstGeom prst="rect">
            <a:avLst/>
          </a:prstGeom>
          <a:noFill/>
        </p:spPr>
        <p:txBody>
          <a:bodyPr wrap="square" lIns="0" rIns="0" tIns="0" bIns="0">
            <a:spAutoFit/>
          </a:bodyPr>
          <a:lstStyle/>
          <a:p>
            <a:pPr>
              <a:lnSpc>
                <a:spcPct val="112000"/>
              </a:lnSpc>
              <a:spcAft>
                <a:spcPts val="700"/>
              </a:spcAft>
              <a:defRPr sz="1600" b="0">
                <a:solidFill>
                  <a:srgbClr val="687E72"/>
                </a:solidFill>
                <a:latin typeface="Aptos"/>
              </a:defRPr>
            </a:pPr>
            <a:r>
              <a:t>README, VS Code tasks and GitHub main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236A54"/>
                </a:solidFill>
                <a:latin typeface="Aptos"/>
              </a:defRPr>
            </a:pPr>
            <a:r>
              <a:t>NEXT / PRODUCTION ROADMAP</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193F35"/>
                </a:solidFill>
                <a:latin typeface="Aptos"/>
              </a:defRPr>
            </a:pPr>
            <a:r>
              <a:t>Scale the workflow. Upgrade the safeguards.</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687E72"/>
                </a:solidFill>
                <a:latin typeface="Aptos"/>
              </a:defRPr>
            </a:pPr>
            <a:r>
              <a:t>Proposed production architecture. These integrations are not implemented yet.</a:t>
            </a:r>
          </a:p>
        </p:txBody>
      </p:sp>
      <p:sp>
        <p:nvSpPr>
          <p:cNvPr id="5" name="Rectangle 4"/>
          <p:cNvSpPr/>
          <p:nvPr/>
        </p:nvSpPr>
        <p:spPr>
          <a:xfrm>
            <a:off x="594360" y="6446520"/>
            <a:ext cx="11000232" cy="10972"/>
          </a:xfrm>
          <a:prstGeom prst="rect">
            <a:avLst/>
          </a:prstGeom>
          <a:solidFill>
            <a:srgbClr val="DC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687E72"/>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687E72"/>
                </a:solidFill>
                <a:latin typeface="Aptos"/>
              </a:defRPr>
            </a:pPr>
            <a:r>
              <a:t>15 / 16</a:t>
            </a:r>
          </a:p>
        </p:txBody>
      </p:sp>
      <p:sp>
        <p:nvSpPr>
          <p:cNvPr id="8" name="Rounded Rectangle 7"/>
          <p:cNvSpPr/>
          <p:nvPr/>
        </p:nvSpPr>
        <p:spPr>
          <a:xfrm>
            <a:off x="594360" y="2532888"/>
            <a:ext cx="3429000" cy="162763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734056"/>
            <a:ext cx="3081528" cy="585216"/>
          </a:xfrm>
          <a:prstGeom prst="rect">
            <a:avLst/>
          </a:prstGeom>
          <a:noFill/>
        </p:spPr>
        <p:txBody>
          <a:bodyPr wrap="square" lIns="0" rIns="0" tIns="0" bIns="0">
            <a:spAutoFit/>
          </a:bodyPr>
          <a:lstStyle/>
          <a:p>
            <a:pPr>
              <a:lnSpc>
                <a:spcPct val="112000"/>
              </a:lnSpc>
              <a:spcAft>
                <a:spcPts val="700"/>
              </a:spcAft>
              <a:defRPr sz="2000" b="1">
                <a:solidFill>
                  <a:srgbClr val="193F35"/>
                </a:solidFill>
                <a:latin typeface="Aptos"/>
              </a:defRPr>
            </a:pPr>
            <a:r>
              <a:t>React website / future app</a:t>
            </a:r>
          </a:p>
        </p:txBody>
      </p:sp>
      <p:sp>
        <p:nvSpPr>
          <p:cNvPr id="10" name="TextBox 9"/>
          <p:cNvSpPr txBox="1"/>
          <p:nvPr/>
        </p:nvSpPr>
        <p:spPr>
          <a:xfrm>
            <a:off x="768096" y="3465576"/>
            <a:ext cx="3081528" cy="512064"/>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Keep the same patient and doctor API contract.</a:t>
            </a:r>
          </a:p>
        </p:txBody>
      </p:sp>
      <p:sp>
        <p:nvSpPr>
          <p:cNvPr id="11" name="Rounded Rectangle 10"/>
          <p:cNvSpPr/>
          <p:nvPr/>
        </p:nvSpPr>
        <p:spPr>
          <a:xfrm>
            <a:off x="4370832" y="2532888"/>
            <a:ext cx="3429000" cy="162763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734056"/>
            <a:ext cx="3081528" cy="585216"/>
          </a:xfrm>
          <a:prstGeom prst="rect">
            <a:avLst/>
          </a:prstGeom>
          <a:noFill/>
        </p:spPr>
        <p:txBody>
          <a:bodyPr wrap="square" lIns="0" rIns="0" tIns="0" bIns="0">
            <a:spAutoFit/>
          </a:bodyPr>
          <a:lstStyle/>
          <a:p>
            <a:pPr>
              <a:lnSpc>
                <a:spcPct val="112000"/>
              </a:lnSpc>
              <a:spcAft>
                <a:spcPts val="700"/>
              </a:spcAft>
              <a:defRPr sz="2000" b="1">
                <a:solidFill>
                  <a:srgbClr val="193F35"/>
                </a:solidFill>
                <a:latin typeface="Aptos"/>
              </a:defRPr>
            </a:pPr>
            <a:r>
              <a:t>FastAPI modular backend</a:t>
            </a:r>
          </a:p>
        </p:txBody>
      </p:sp>
      <p:sp>
        <p:nvSpPr>
          <p:cNvPr id="13" name="TextBox 12"/>
          <p:cNvSpPr txBox="1"/>
          <p:nvPr/>
        </p:nvSpPr>
        <p:spPr>
          <a:xfrm>
            <a:off x="4544568" y="3465576"/>
            <a:ext cx="3081528" cy="512064"/>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Identity, permission checks and clinical modules.</a:t>
            </a:r>
          </a:p>
        </p:txBody>
      </p:sp>
      <p:sp>
        <p:nvSpPr>
          <p:cNvPr id="14" name="Rounded Rectangle 13"/>
          <p:cNvSpPr/>
          <p:nvPr/>
        </p:nvSpPr>
        <p:spPr>
          <a:xfrm>
            <a:off x="8147304" y="2532888"/>
            <a:ext cx="3429000" cy="1627632"/>
          </a:xfrm>
          <a:prstGeom prst="roundRect">
            <a:avLst>
              <a:gd name="adj" fmla="val 12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734056"/>
            <a:ext cx="3081528" cy="585216"/>
          </a:xfrm>
          <a:prstGeom prst="rect">
            <a:avLst/>
          </a:prstGeom>
          <a:noFill/>
        </p:spPr>
        <p:txBody>
          <a:bodyPr wrap="square" lIns="0" rIns="0" tIns="0" bIns="0">
            <a:spAutoFit/>
          </a:bodyPr>
          <a:lstStyle/>
          <a:p>
            <a:pPr>
              <a:lnSpc>
                <a:spcPct val="112000"/>
              </a:lnSpc>
              <a:spcAft>
                <a:spcPts val="700"/>
              </a:spcAft>
              <a:defRPr sz="2000" b="1">
                <a:solidFill>
                  <a:srgbClr val="193F35"/>
                </a:solidFill>
                <a:latin typeface="Aptos"/>
              </a:defRPr>
            </a:pPr>
            <a:r>
              <a:t>Private MySQL + storage</a:t>
            </a:r>
          </a:p>
        </p:txBody>
      </p:sp>
      <p:sp>
        <p:nvSpPr>
          <p:cNvPr id="16" name="TextBox 15"/>
          <p:cNvSpPr txBox="1"/>
          <p:nvPr/>
        </p:nvSpPr>
        <p:spPr>
          <a:xfrm>
            <a:off x="8321040" y="3465576"/>
            <a:ext cx="3081528" cy="512064"/>
          </a:xfrm>
          <a:prstGeom prst="rect">
            <a:avLst/>
          </a:prstGeom>
          <a:noFill/>
        </p:spPr>
        <p:txBody>
          <a:bodyPr wrap="square" lIns="0" rIns="0" tIns="0" bIns="0">
            <a:spAutoFit/>
          </a:bodyPr>
          <a:lstStyle/>
          <a:p>
            <a:pPr>
              <a:lnSpc>
                <a:spcPct val="112000"/>
              </a:lnSpc>
              <a:spcAft>
                <a:spcPts val="700"/>
              </a:spcAft>
              <a:defRPr sz="1300" b="0">
                <a:solidFill>
                  <a:srgbClr val="687E72"/>
                </a:solidFill>
                <a:latin typeface="Aptos"/>
              </a:defRPr>
            </a:pPr>
            <a:r>
              <a:t>Encrypted records, documents and backups.</a:t>
            </a:r>
          </a:p>
        </p:txBody>
      </p:sp>
      <p:sp>
        <p:nvSpPr>
          <p:cNvPr id="17" name="Chevron 16"/>
          <p:cNvSpPr/>
          <p:nvPr/>
        </p:nvSpPr>
        <p:spPr>
          <a:xfrm>
            <a:off x="4096512" y="3209544"/>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7872983" y="3209544"/>
            <a:ext cx="219456" cy="320040"/>
          </a:xfrm>
          <a:prstGeom prst="chevron">
            <a:avLst/>
          </a:prstGeom>
          <a:solidFill>
            <a:srgbClr val="236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462272"/>
            <a:ext cx="5385816" cy="640080"/>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590288"/>
            <a:ext cx="1645920" cy="365760"/>
          </a:xfrm>
          <a:prstGeom prst="rect">
            <a:avLst/>
          </a:prstGeom>
          <a:noFill/>
        </p:spPr>
        <p:txBody>
          <a:bodyPr wrap="square" lIns="0" rIns="0" tIns="0" bIns="0">
            <a:spAutoFit/>
          </a:bodyPr>
          <a:lstStyle/>
          <a:p>
            <a:pPr>
              <a:lnSpc>
                <a:spcPct val="112000"/>
              </a:lnSpc>
              <a:spcAft>
                <a:spcPts val="700"/>
              </a:spcAft>
              <a:defRPr sz="1200" b="1">
                <a:solidFill>
                  <a:srgbClr val="236A54"/>
                </a:solidFill>
                <a:latin typeface="Aptos"/>
              </a:defRPr>
            </a:pPr>
            <a:r>
              <a:t>Verified identity</a:t>
            </a:r>
          </a:p>
        </p:txBody>
      </p:sp>
      <p:sp>
        <p:nvSpPr>
          <p:cNvPr id="21" name="TextBox 20"/>
          <p:cNvSpPr txBox="1"/>
          <p:nvPr/>
        </p:nvSpPr>
        <p:spPr>
          <a:xfrm>
            <a:off x="2441448" y="4608576"/>
            <a:ext cx="3337560" cy="384048"/>
          </a:xfrm>
          <a:prstGeom prst="rect">
            <a:avLst/>
          </a:prstGeom>
          <a:noFill/>
        </p:spPr>
        <p:txBody>
          <a:bodyPr wrap="square" lIns="0" rIns="0" tIns="0" bIns="0">
            <a:spAutoFit/>
          </a:bodyPr>
          <a:lstStyle/>
          <a:p>
            <a:pPr>
              <a:lnSpc>
                <a:spcPct val="112000"/>
              </a:lnSpc>
              <a:spcAft>
                <a:spcPts val="700"/>
              </a:spcAft>
              <a:defRPr sz="1100" b="0">
                <a:solidFill>
                  <a:srgbClr val="236A54"/>
                </a:solidFill>
                <a:latin typeface="Aptos"/>
              </a:defRPr>
            </a:pPr>
            <a:r>
              <a:t>Doctor onboarding + MFA</a:t>
            </a:r>
          </a:p>
        </p:txBody>
      </p:sp>
      <p:sp>
        <p:nvSpPr>
          <p:cNvPr id="22" name="Rounded Rectangle 21"/>
          <p:cNvSpPr/>
          <p:nvPr/>
        </p:nvSpPr>
        <p:spPr>
          <a:xfrm>
            <a:off x="6208776" y="4462272"/>
            <a:ext cx="5385816" cy="640080"/>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4590288"/>
            <a:ext cx="1645920" cy="365760"/>
          </a:xfrm>
          <a:prstGeom prst="rect">
            <a:avLst/>
          </a:prstGeom>
          <a:noFill/>
        </p:spPr>
        <p:txBody>
          <a:bodyPr wrap="square" lIns="0" rIns="0" tIns="0" bIns="0">
            <a:spAutoFit/>
          </a:bodyPr>
          <a:lstStyle/>
          <a:p>
            <a:pPr>
              <a:lnSpc>
                <a:spcPct val="112000"/>
              </a:lnSpc>
              <a:spcAft>
                <a:spcPts val="700"/>
              </a:spcAft>
              <a:defRPr sz="1200" b="1">
                <a:solidFill>
                  <a:srgbClr val="236A54"/>
                </a:solidFill>
                <a:latin typeface="Aptos"/>
              </a:defRPr>
            </a:pPr>
            <a:r>
              <a:t>Durable reminders</a:t>
            </a:r>
          </a:p>
        </p:txBody>
      </p:sp>
      <p:sp>
        <p:nvSpPr>
          <p:cNvPr id="24" name="TextBox 23"/>
          <p:cNvSpPr txBox="1"/>
          <p:nvPr/>
        </p:nvSpPr>
        <p:spPr>
          <a:xfrm>
            <a:off x="8055864" y="4608576"/>
            <a:ext cx="3337560" cy="384048"/>
          </a:xfrm>
          <a:prstGeom prst="rect">
            <a:avLst/>
          </a:prstGeom>
          <a:noFill/>
        </p:spPr>
        <p:txBody>
          <a:bodyPr wrap="square" lIns="0" rIns="0" tIns="0" bIns="0">
            <a:spAutoFit/>
          </a:bodyPr>
          <a:lstStyle/>
          <a:p>
            <a:pPr>
              <a:lnSpc>
                <a:spcPct val="112000"/>
              </a:lnSpc>
              <a:spcAft>
                <a:spcPts val="700"/>
              </a:spcAft>
              <a:defRPr sz="1100" b="0">
                <a:solidFill>
                  <a:srgbClr val="236A54"/>
                </a:solidFill>
                <a:latin typeface="Aptos"/>
              </a:defRPr>
            </a:pPr>
            <a:r>
              <a:t>Redis + Celery; retries and delivery states</a:t>
            </a:r>
          </a:p>
        </p:txBody>
      </p:sp>
      <p:sp>
        <p:nvSpPr>
          <p:cNvPr id="25" name="Rounded Rectangle 24"/>
          <p:cNvSpPr/>
          <p:nvPr/>
        </p:nvSpPr>
        <p:spPr>
          <a:xfrm>
            <a:off x="594360" y="5266944"/>
            <a:ext cx="5385816" cy="640080"/>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394959"/>
            <a:ext cx="1645920" cy="365760"/>
          </a:xfrm>
          <a:prstGeom prst="rect">
            <a:avLst/>
          </a:prstGeom>
          <a:noFill/>
        </p:spPr>
        <p:txBody>
          <a:bodyPr wrap="square" lIns="0" rIns="0" tIns="0" bIns="0">
            <a:spAutoFit/>
          </a:bodyPr>
          <a:lstStyle/>
          <a:p>
            <a:pPr>
              <a:lnSpc>
                <a:spcPct val="112000"/>
              </a:lnSpc>
              <a:spcAft>
                <a:spcPts val="700"/>
              </a:spcAft>
              <a:defRPr sz="1200" b="1">
                <a:solidFill>
                  <a:srgbClr val="236A54"/>
                </a:solidFill>
                <a:latin typeface="Aptos"/>
              </a:defRPr>
            </a:pPr>
            <a:r>
              <a:t>Protected audit</a:t>
            </a:r>
          </a:p>
        </p:txBody>
      </p:sp>
      <p:sp>
        <p:nvSpPr>
          <p:cNvPr id="27" name="TextBox 26"/>
          <p:cNvSpPr txBox="1"/>
          <p:nvPr/>
        </p:nvSpPr>
        <p:spPr>
          <a:xfrm>
            <a:off x="2441448" y="5413248"/>
            <a:ext cx="3337560" cy="384048"/>
          </a:xfrm>
          <a:prstGeom prst="rect">
            <a:avLst/>
          </a:prstGeom>
          <a:noFill/>
        </p:spPr>
        <p:txBody>
          <a:bodyPr wrap="square" lIns="0" rIns="0" tIns="0" bIns="0">
            <a:spAutoFit/>
          </a:bodyPr>
          <a:lstStyle/>
          <a:p>
            <a:pPr>
              <a:lnSpc>
                <a:spcPct val="112000"/>
              </a:lnSpc>
              <a:spcAft>
                <a:spcPts val="700"/>
              </a:spcAft>
              <a:defRPr sz="1100" b="0">
                <a:solidFill>
                  <a:srgbClr val="236A54"/>
                </a:solidFill>
                <a:latin typeface="Aptos"/>
              </a:defRPr>
            </a:pPr>
            <a:r>
              <a:t>Separate append-only audit storage</a:t>
            </a:r>
          </a:p>
        </p:txBody>
      </p:sp>
      <p:sp>
        <p:nvSpPr>
          <p:cNvPr id="28" name="Rounded Rectangle 27"/>
          <p:cNvSpPr/>
          <p:nvPr/>
        </p:nvSpPr>
        <p:spPr>
          <a:xfrm>
            <a:off x="6208776" y="5266944"/>
            <a:ext cx="5385816" cy="640080"/>
          </a:xfrm>
          <a:prstGeom prst="roundRect">
            <a:avLst>
              <a:gd name="adj" fmla="val 12000"/>
            </a:avLst>
          </a:prstGeom>
          <a:solidFill>
            <a:srgbClr val="DA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5394959"/>
            <a:ext cx="1645920" cy="365760"/>
          </a:xfrm>
          <a:prstGeom prst="rect">
            <a:avLst/>
          </a:prstGeom>
          <a:noFill/>
        </p:spPr>
        <p:txBody>
          <a:bodyPr wrap="square" lIns="0" rIns="0" tIns="0" bIns="0">
            <a:spAutoFit/>
          </a:bodyPr>
          <a:lstStyle/>
          <a:p>
            <a:pPr>
              <a:lnSpc>
                <a:spcPct val="112000"/>
              </a:lnSpc>
              <a:spcAft>
                <a:spcPts val="700"/>
              </a:spcAft>
              <a:defRPr sz="1200" b="1">
                <a:solidFill>
                  <a:srgbClr val="236A54"/>
                </a:solidFill>
                <a:latin typeface="Aptos"/>
              </a:defRPr>
            </a:pPr>
            <a:r>
              <a:t>Reviewed AI</a:t>
            </a:r>
          </a:p>
        </p:txBody>
      </p:sp>
      <p:sp>
        <p:nvSpPr>
          <p:cNvPr id="30" name="TextBox 29"/>
          <p:cNvSpPr txBox="1"/>
          <p:nvPr/>
        </p:nvSpPr>
        <p:spPr>
          <a:xfrm>
            <a:off x="8055864" y="5413248"/>
            <a:ext cx="3337560" cy="384048"/>
          </a:xfrm>
          <a:prstGeom prst="rect">
            <a:avLst/>
          </a:prstGeom>
          <a:noFill/>
        </p:spPr>
        <p:txBody>
          <a:bodyPr wrap="square" lIns="0" rIns="0" tIns="0" bIns="0">
            <a:spAutoFit/>
          </a:bodyPr>
          <a:lstStyle/>
          <a:p>
            <a:pPr>
              <a:lnSpc>
                <a:spcPct val="112000"/>
              </a:lnSpc>
              <a:spcAft>
                <a:spcPts val="700"/>
              </a:spcAft>
              <a:defRPr sz="1100" b="0">
                <a:solidFill>
                  <a:srgbClr val="236A54"/>
                </a:solidFill>
                <a:latin typeface="Aptos"/>
              </a:defRPr>
            </a:pPr>
            <a:r>
              <a:t>Minimum approved context + clinician escalation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372E"/>
        </a:solidFill>
        <a:effectLst/>
      </p:bgPr>
    </p:bg>
    <p:spTree>
      <p:nvGrpSpPr>
        <p:cNvPr id="1" name=""/>
        <p:cNvGrpSpPr/>
        <p:nvPr/>
      </p:nvGrpSpPr>
      <p:grpSpPr/>
      <p:sp>
        <p:nvSpPr>
          <p:cNvPr id="2" name="TextBox 1"/>
          <p:cNvSpPr txBox="1"/>
          <p:nvPr/>
        </p:nvSpPr>
        <p:spPr>
          <a:xfrm>
            <a:off x="594360" y="292608"/>
            <a:ext cx="6400800" cy="274320"/>
          </a:xfrm>
          <a:prstGeom prst="rect">
            <a:avLst/>
          </a:prstGeom>
          <a:noFill/>
        </p:spPr>
        <p:txBody>
          <a:bodyPr wrap="square" lIns="0" rIns="0" tIns="0" bIns="0">
            <a:spAutoFit/>
          </a:bodyPr>
          <a:lstStyle/>
          <a:p>
            <a:pPr>
              <a:lnSpc>
                <a:spcPct val="112000"/>
              </a:lnSpc>
              <a:spcAft>
                <a:spcPts val="700"/>
              </a:spcAft>
              <a:defRPr sz="1000" b="1">
                <a:solidFill>
                  <a:srgbClr val="D6B577"/>
                </a:solidFill>
                <a:latin typeface="Aptos"/>
              </a:defRPr>
            </a:pPr>
            <a:r>
              <a:t>DIGITAL MEDICO  /  ROUND TWO</a:t>
            </a:r>
          </a:p>
        </p:txBody>
      </p:sp>
      <p:sp>
        <p:nvSpPr>
          <p:cNvPr id="3" name="TextBox 2"/>
          <p:cNvSpPr txBox="1"/>
          <p:nvPr/>
        </p:nvSpPr>
        <p:spPr>
          <a:xfrm>
            <a:off x="594360" y="804672"/>
            <a:ext cx="10972800" cy="914400"/>
          </a:xfrm>
          <a:prstGeom prst="rect">
            <a:avLst/>
          </a:prstGeom>
          <a:noFill/>
        </p:spPr>
        <p:txBody>
          <a:bodyPr wrap="square" lIns="0" rIns="0" tIns="0" bIns="0">
            <a:spAutoFit/>
          </a:bodyPr>
          <a:lstStyle/>
          <a:p>
            <a:pPr>
              <a:lnSpc>
                <a:spcPct val="112000"/>
              </a:lnSpc>
              <a:spcAft>
                <a:spcPts val="700"/>
              </a:spcAft>
              <a:defRPr sz="3200" b="1">
                <a:solidFill>
                  <a:srgbClr val="FFFFFF"/>
                </a:solidFill>
                <a:latin typeface="Aptos"/>
              </a:defRPr>
            </a:pPr>
            <a:r>
              <a:t>One demo. A complete care loop.</a:t>
            </a:r>
          </a:p>
        </p:txBody>
      </p:sp>
      <p:sp>
        <p:nvSpPr>
          <p:cNvPr id="4" name="TextBox 3"/>
          <p:cNvSpPr txBox="1"/>
          <p:nvPr/>
        </p:nvSpPr>
        <p:spPr>
          <a:xfrm>
            <a:off x="612648" y="1709928"/>
            <a:ext cx="10972800" cy="566928"/>
          </a:xfrm>
          <a:prstGeom prst="rect">
            <a:avLst/>
          </a:prstGeom>
          <a:noFill/>
        </p:spPr>
        <p:txBody>
          <a:bodyPr wrap="square" lIns="0" rIns="0" tIns="0" bIns="0">
            <a:spAutoFit/>
          </a:bodyPr>
          <a:lstStyle/>
          <a:p>
            <a:pPr>
              <a:lnSpc>
                <a:spcPct val="112000"/>
              </a:lnSpc>
              <a:spcAft>
                <a:spcPts val="700"/>
              </a:spcAft>
              <a:defRPr sz="1500" b="0">
                <a:solidFill>
                  <a:srgbClr val="B4CCB9"/>
                </a:solidFill>
                <a:latin typeface="Aptos"/>
              </a:defRPr>
            </a:pPr>
            <a:r>
              <a:t>Show the judges the patient’s control—not only the doctor’s dashboard.</a:t>
            </a:r>
          </a:p>
        </p:txBody>
      </p:sp>
      <p:sp>
        <p:nvSpPr>
          <p:cNvPr id="5" name="Rectangle 4"/>
          <p:cNvSpPr/>
          <p:nvPr/>
        </p:nvSpPr>
        <p:spPr>
          <a:xfrm>
            <a:off x="594360" y="6446520"/>
            <a:ext cx="11000232" cy="10972"/>
          </a:xfrm>
          <a:prstGeom prst="rect">
            <a:avLst/>
          </a:prstGeom>
          <a:solidFill>
            <a:srgbClr val="36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56248"/>
            <a:ext cx="7315200" cy="164592"/>
          </a:xfrm>
          <a:prstGeom prst="rect">
            <a:avLst/>
          </a:prstGeom>
          <a:noFill/>
        </p:spPr>
        <p:txBody>
          <a:bodyPr wrap="square" lIns="0" rIns="0" tIns="0" bIns="0">
            <a:spAutoFit/>
          </a:bodyPr>
          <a:lstStyle/>
          <a:p>
            <a:pPr>
              <a:lnSpc>
                <a:spcPct val="112000"/>
              </a:lnSpc>
              <a:spcAft>
                <a:spcPts val="700"/>
              </a:spcAft>
              <a:defRPr sz="800" b="1">
                <a:solidFill>
                  <a:srgbClr val="A6C0AB"/>
                </a:solidFill>
                <a:latin typeface="Aptos"/>
              </a:defRPr>
            </a:pPr>
            <a:r>
              <a:t>DIGITAL MEDICO   •   CARE, CONNECTED.</a:t>
            </a:r>
          </a:p>
        </p:txBody>
      </p:sp>
      <p:sp>
        <p:nvSpPr>
          <p:cNvPr id="7" name="TextBox 6"/>
          <p:cNvSpPr txBox="1"/>
          <p:nvPr/>
        </p:nvSpPr>
        <p:spPr>
          <a:xfrm>
            <a:off x="10881360" y="6510528"/>
            <a:ext cx="731520" cy="228600"/>
          </a:xfrm>
          <a:prstGeom prst="rect">
            <a:avLst/>
          </a:prstGeom>
          <a:noFill/>
        </p:spPr>
        <p:txBody>
          <a:bodyPr wrap="square" lIns="0" rIns="0" tIns="0" bIns="0">
            <a:spAutoFit/>
          </a:bodyPr>
          <a:lstStyle/>
          <a:p>
            <a:pPr algn="r">
              <a:lnSpc>
                <a:spcPct val="112000"/>
              </a:lnSpc>
              <a:spcAft>
                <a:spcPts val="700"/>
              </a:spcAft>
              <a:defRPr sz="900" b="0">
                <a:solidFill>
                  <a:srgbClr val="A6C0AB"/>
                </a:solidFill>
                <a:latin typeface="Aptos"/>
              </a:defRPr>
            </a:pPr>
            <a:r>
              <a:t>16 / 16</a:t>
            </a:r>
          </a:p>
        </p:txBody>
      </p:sp>
      <p:sp>
        <p:nvSpPr>
          <p:cNvPr id="8" name="TextBox 7"/>
          <p:cNvSpPr txBox="1"/>
          <p:nvPr/>
        </p:nvSpPr>
        <p:spPr>
          <a:xfrm>
            <a:off x="685800" y="2523744"/>
            <a:ext cx="530352" cy="33832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01</a:t>
            </a:r>
          </a:p>
        </p:txBody>
      </p:sp>
      <p:sp>
        <p:nvSpPr>
          <p:cNvPr id="9" name="TextBox 8"/>
          <p:cNvSpPr txBox="1"/>
          <p:nvPr/>
        </p:nvSpPr>
        <p:spPr>
          <a:xfrm>
            <a:off x="1417320" y="2523744"/>
            <a:ext cx="1828800" cy="320040"/>
          </a:xfrm>
          <a:prstGeom prst="rect">
            <a:avLst/>
          </a:prstGeom>
          <a:noFill/>
        </p:spPr>
        <p:txBody>
          <a:bodyPr wrap="square" lIns="0" rIns="0" tIns="0" bIns="0">
            <a:spAutoFit/>
          </a:bodyPr>
          <a:lstStyle/>
          <a:p>
            <a:pPr>
              <a:lnSpc>
                <a:spcPct val="112000"/>
              </a:lnSpc>
              <a:spcAft>
                <a:spcPts val="700"/>
              </a:spcAft>
              <a:defRPr sz="1400" b="1">
                <a:solidFill>
                  <a:srgbClr val="FFFFFF"/>
                </a:solidFill>
                <a:latin typeface="Aptos"/>
              </a:defRPr>
            </a:pPr>
            <a:r>
              <a:t>PATIENT</a:t>
            </a:r>
          </a:p>
        </p:txBody>
      </p:sp>
      <p:sp>
        <p:nvSpPr>
          <p:cNvPr id="10" name="TextBox 9"/>
          <p:cNvSpPr txBox="1"/>
          <p:nvPr/>
        </p:nvSpPr>
        <p:spPr>
          <a:xfrm>
            <a:off x="3383280" y="2523744"/>
            <a:ext cx="7406640" cy="457200"/>
          </a:xfrm>
          <a:prstGeom prst="rect">
            <a:avLst/>
          </a:prstGeom>
          <a:noFill/>
        </p:spPr>
        <p:txBody>
          <a:bodyPr wrap="square" lIns="0" rIns="0" tIns="0" bIns="0">
            <a:spAutoFit/>
          </a:bodyPr>
          <a:lstStyle/>
          <a:p>
            <a:pPr>
              <a:lnSpc>
                <a:spcPct val="112000"/>
              </a:lnSpc>
              <a:spcAft>
                <a:spcPts val="700"/>
              </a:spcAft>
              <a:defRPr sz="1700" b="0">
                <a:solidFill>
                  <a:srgbClr val="B4CCB9"/>
                </a:solidFill>
                <a:latin typeface="Aptos"/>
              </a:defRPr>
            </a:pPr>
            <a:r>
              <a:t>Read history, log a dose, send a question.</a:t>
            </a:r>
          </a:p>
        </p:txBody>
      </p:sp>
      <p:sp>
        <p:nvSpPr>
          <p:cNvPr id="11" name="TextBox 10"/>
          <p:cNvSpPr txBox="1"/>
          <p:nvPr/>
        </p:nvSpPr>
        <p:spPr>
          <a:xfrm>
            <a:off x="685800" y="3182111"/>
            <a:ext cx="530352" cy="33832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02</a:t>
            </a:r>
          </a:p>
        </p:txBody>
      </p:sp>
      <p:sp>
        <p:nvSpPr>
          <p:cNvPr id="12" name="TextBox 11"/>
          <p:cNvSpPr txBox="1"/>
          <p:nvPr/>
        </p:nvSpPr>
        <p:spPr>
          <a:xfrm>
            <a:off x="1417320" y="3182111"/>
            <a:ext cx="1828800" cy="320040"/>
          </a:xfrm>
          <a:prstGeom prst="rect">
            <a:avLst/>
          </a:prstGeom>
          <a:noFill/>
        </p:spPr>
        <p:txBody>
          <a:bodyPr wrap="square" lIns="0" rIns="0" tIns="0" bIns="0">
            <a:spAutoFit/>
          </a:bodyPr>
          <a:lstStyle/>
          <a:p>
            <a:pPr>
              <a:lnSpc>
                <a:spcPct val="112000"/>
              </a:lnSpc>
              <a:spcAft>
                <a:spcPts val="700"/>
              </a:spcAft>
              <a:defRPr sz="1400" b="1">
                <a:solidFill>
                  <a:srgbClr val="FFFFFF"/>
                </a:solidFill>
                <a:latin typeface="Aptos"/>
              </a:defRPr>
            </a:pPr>
            <a:r>
              <a:t>DOCTOR</a:t>
            </a:r>
          </a:p>
        </p:txBody>
      </p:sp>
      <p:sp>
        <p:nvSpPr>
          <p:cNvPr id="13" name="TextBox 12"/>
          <p:cNvSpPr txBox="1"/>
          <p:nvPr/>
        </p:nvSpPr>
        <p:spPr>
          <a:xfrm>
            <a:off x="3383280" y="3182111"/>
            <a:ext cx="7406640" cy="457200"/>
          </a:xfrm>
          <a:prstGeom prst="rect">
            <a:avLst/>
          </a:prstGeom>
          <a:noFill/>
        </p:spPr>
        <p:txBody>
          <a:bodyPr wrap="square" lIns="0" rIns="0" tIns="0" bIns="0">
            <a:spAutoFit/>
          </a:bodyPr>
          <a:lstStyle/>
          <a:p>
            <a:pPr>
              <a:lnSpc>
                <a:spcPct val="112000"/>
              </a:lnSpc>
              <a:spcAft>
                <a:spcPts val="700"/>
              </a:spcAft>
              <a:defRPr sz="1700" b="0">
                <a:solidFill>
                  <a:srgbClr val="B4CCB9"/>
                </a:solidFill>
                <a:latin typeface="Aptos"/>
              </a:defRPr>
            </a:pPr>
            <a:r>
              <a:t>Add care notes, prescribe, and reply.</a:t>
            </a:r>
          </a:p>
        </p:txBody>
      </p:sp>
      <p:sp>
        <p:nvSpPr>
          <p:cNvPr id="14" name="TextBox 13"/>
          <p:cNvSpPr txBox="1"/>
          <p:nvPr/>
        </p:nvSpPr>
        <p:spPr>
          <a:xfrm>
            <a:off x="685800" y="3840479"/>
            <a:ext cx="530352" cy="33832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03</a:t>
            </a:r>
          </a:p>
        </p:txBody>
      </p:sp>
      <p:sp>
        <p:nvSpPr>
          <p:cNvPr id="15" name="TextBox 14"/>
          <p:cNvSpPr txBox="1"/>
          <p:nvPr/>
        </p:nvSpPr>
        <p:spPr>
          <a:xfrm>
            <a:off x="1417320" y="3840479"/>
            <a:ext cx="1828800" cy="320040"/>
          </a:xfrm>
          <a:prstGeom prst="rect">
            <a:avLst/>
          </a:prstGeom>
          <a:noFill/>
        </p:spPr>
        <p:txBody>
          <a:bodyPr wrap="square" lIns="0" rIns="0" tIns="0" bIns="0">
            <a:spAutoFit/>
          </a:bodyPr>
          <a:lstStyle/>
          <a:p>
            <a:pPr>
              <a:lnSpc>
                <a:spcPct val="112000"/>
              </a:lnSpc>
              <a:spcAft>
                <a:spcPts val="700"/>
              </a:spcAft>
              <a:defRPr sz="1400" b="1">
                <a:solidFill>
                  <a:srgbClr val="FFFFFF"/>
                </a:solidFill>
                <a:latin typeface="Aptos"/>
              </a:defRPr>
            </a:pPr>
            <a:r>
              <a:t>PATIENT</a:t>
            </a:r>
          </a:p>
        </p:txBody>
      </p:sp>
      <p:sp>
        <p:nvSpPr>
          <p:cNvPr id="16" name="TextBox 15"/>
          <p:cNvSpPr txBox="1"/>
          <p:nvPr/>
        </p:nvSpPr>
        <p:spPr>
          <a:xfrm>
            <a:off x="3383280" y="3840479"/>
            <a:ext cx="7406640" cy="457200"/>
          </a:xfrm>
          <a:prstGeom prst="rect">
            <a:avLst/>
          </a:prstGeom>
          <a:noFill/>
        </p:spPr>
        <p:txBody>
          <a:bodyPr wrap="square" lIns="0" rIns="0" tIns="0" bIns="0">
            <a:spAutoFit/>
          </a:bodyPr>
          <a:lstStyle/>
          <a:p>
            <a:pPr>
              <a:lnSpc>
                <a:spcPct val="112000"/>
              </a:lnSpc>
              <a:spcAft>
                <a:spcPts val="700"/>
              </a:spcAft>
              <a:defRPr sz="1700" b="0">
                <a:solidFill>
                  <a:srgbClr val="B4CCB9"/>
                </a:solidFill>
                <a:latin typeface="Aptos"/>
              </a:defRPr>
            </a:pPr>
            <a:r>
              <a:t>See the update, then revoke access.</a:t>
            </a:r>
          </a:p>
        </p:txBody>
      </p:sp>
      <p:sp>
        <p:nvSpPr>
          <p:cNvPr id="17" name="TextBox 16"/>
          <p:cNvSpPr txBox="1"/>
          <p:nvPr/>
        </p:nvSpPr>
        <p:spPr>
          <a:xfrm>
            <a:off x="685800" y="4498848"/>
            <a:ext cx="530352" cy="338328"/>
          </a:xfrm>
          <a:prstGeom prst="rect">
            <a:avLst/>
          </a:prstGeom>
          <a:noFill/>
        </p:spPr>
        <p:txBody>
          <a:bodyPr wrap="square" lIns="0" rIns="0" tIns="0" bIns="0">
            <a:spAutoFit/>
          </a:bodyPr>
          <a:lstStyle/>
          <a:p>
            <a:pPr>
              <a:lnSpc>
                <a:spcPct val="112000"/>
              </a:lnSpc>
              <a:spcAft>
                <a:spcPts val="700"/>
              </a:spcAft>
              <a:defRPr sz="1900" b="1">
                <a:solidFill>
                  <a:srgbClr val="D6B577"/>
                </a:solidFill>
                <a:latin typeface="Aptos"/>
              </a:defRPr>
            </a:pPr>
            <a:r>
              <a:t>04</a:t>
            </a:r>
          </a:p>
        </p:txBody>
      </p:sp>
      <p:sp>
        <p:nvSpPr>
          <p:cNvPr id="18" name="TextBox 17"/>
          <p:cNvSpPr txBox="1"/>
          <p:nvPr/>
        </p:nvSpPr>
        <p:spPr>
          <a:xfrm>
            <a:off x="1417320" y="4498848"/>
            <a:ext cx="1828800" cy="320040"/>
          </a:xfrm>
          <a:prstGeom prst="rect">
            <a:avLst/>
          </a:prstGeom>
          <a:noFill/>
        </p:spPr>
        <p:txBody>
          <a:bodyPr wrap="square" lIns="0" rIns="0" tIns="0" bIns="0">
            <a:spAutoFit/>
          </a:bodyPr>
          <a:lstStyle/>
          <a:p>
            <a:pPr>
              <a:lnSpc>
                <a:spcPct val="112000"/>
              </a:lnSpc>
              <a:spcAft>
                <a:spcPts val="700"/>
              </a:spcAft>
              <a:defRPr sz="1400" b="1">
                <a:solidFill>
                  <a:srgbClr val="FFFFFF"/>
                </a:solidFill>
                <a:latin typeface="Aptos"/>
              </a:defRPr>
            </a:pPr>
            <a:r>
              <a:t>PROOF</a:t>
            </a:r>
          </a:p>
        </p:txBody>
      </p:sp>
      <p:sp>
        <p:nvSpPr>
          <p:cNvPr id="19" name="TextBox 18"/>
          <p:cNvSpPr txBox="1"/>
          <p:nvPr/>
        </p:nvSpPr>
        <p:spPr>
          <a:xfrm>
            <a:off x="3383280" y="4498848"/>
            <a:ext cx="7406640" cy="457200"/>
          </a:xfrm>
          <a:prstGeom prst="rect">
            <a:avLst/>
          </a:prstGeom>
          <a:noFill/>
        </p:spPr>
        <p:txBody>
          <a:bodyPr wrap="square" lIns="0" rIns="0" tIns="0" bIns="0">
            <a:spAutoFit/>
          </a:bodyPr>
          <a:lstStyle/>
          <a:p>
            <a:pPr>
              <a:lnSpc>
                <a:spcPct val="112000"/>
              </a:lnSpc>
              <a:spcAft>
                <a:spcPts val="700"/>
              </a:spcAft>
              <a:defRPr sz="1700" b="0">
                <a:solidFill>
                  <a:srgbClr val="B4CCB9"/>
                </a:solidFill>
                <a:latin typeface="Aptos"/>
              </a:defRPr>
            </a:pPr>
            <a:r>
              <a:t>Doctor access is denied; the audit explains why.</a:t>
            </a:r>
          </a:p>
        </p:txBody>
      </p:sp>
      <p:sp>
        <p:nvSpPr>
          <p:cNvPr id="20" name="Rounded Rectangle 19"/>
          <p:cNvSpPr/>
          <p:nvPr/>
        </p:nvSpPr>
        <p:spPr>
          <a:xfrm>
            <a:off x="594360" y="5486400"/>
            <a:ext cx="11000232" cy="640080"/>
          </a:xfrm>
          <a:prstGeom prst="roundRect">
            <a:avLst>
              <a:gd name="adj" fmla="val 12000"/>
            </a:avLst>
          </a:prstGeom>
          <a:solidFill>
            <a:srgbClr val="22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 y="5660136"/>
            <a:ext cx="10469880" cy="301752"/>
          </a:xfrm>
          <a:prstGeom prst="rect">
            <a:avLst/>
          </a:prstGeom>
          <a:noFill/>
        </p:spPr>
        <p:txBody>
          <a:bodyPr wrap="square" lIns="0" rIns="0" tIns="0" bIns="0">
            <a:spAutoFit/>
          </a:bodyPr>
          <a:lstStyle/>
          <a:p>
            <a:pPr algn="ctr">
              <a:lnSpc>
                <a:spcPct val="112000"/>
              </a:lnSpc>
              <a:spcAft>
                <a:spcPts val="700"/>
              </a:spcAft>
              <a:defRPr sz="2200" b="1">
                <a:solidFill>
                  <a:srgbClr val="FFFFFF"/>
                </a:solidFill>
                <a:latin typeface="Aptos"/>
              </a:defRPr>
            </a:pPr>
            <a:r>
              <a:t>Faster context. Consistent care. Patient-controlled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Medico | Round 2: How We Built the Website</dc:title>
  <dc:subject>Step-by-step implementation, architecture, privacy and verified workflows</dc:subject>
  <dc:creator>Digital Medico</dc:creator>
  <cp:keywords>Digital Medico, healthcare, hackathon, architecture, privacy, round two</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