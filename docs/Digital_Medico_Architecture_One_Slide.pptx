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standalone frontend architecture. All login, role, consent and verification checks run in browser JavaScript and are demonstrative, not security enforcement. localStorage stores fictional accounts with demo password hashes and medical data. sessionStorage holds the demo login and simulated approval. No Python, SQLite, external AI service or actual biometric scanner is included. Future production work must move authorization to a backend and use WebAuthn/device verification. The earlier uploaded deck describes a separate full-stack version; this slide intentionally documents the current frontend-only submission.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6F7F0"/>
        </a:solidFill>
        <a:effectLst/>
      </p:bgPr>
    </p:bg>
    <p:spTree>
      <p:nvGrpSpPr>
        <p:cNvPr id="1" name=""/>
        <p:cNvGrpSpPr/>
        <p:nvPr/>
      </p:nvGrpSpPr>
      <p:grpSpPr/>
      <p:sp>
        <p:nvSpPr>
          <p:cNvPr id="2" name="TextBox 1"/>
          <p:cNvSpPr txBox="1"/>
          <p:nvPr/>
        </p:nvSpPr>
        <p:spPr>
          <a:xfrm>
            <a:off x="594360" y="274320"/>
            <a:ext cx="10058400" cy="228600"/>
          </a:xfrm>
          <a:prstGeom prst="rect">
            <a:avLst/>
          </a:prstGeom>
          <a:noFill/>
        </p:spPr>
        <p:txBody>
          <a:bodyPr wrap="square" lIns="0" rIns="0" tIns="0" bIns="0">
            <a:spAutoFit/>
          </a:bodyPr>
          <a:lstStyle/>
          <a:p>
            <a:pPr>
              <a:lnSpc>
                <a:spcPct val="112000"/>
              </a:lnSpc>
              <a:spcAft>
                <a:spcPts val="300"/>
              </a:spcAft>
              <a:defRPr sz="1000" b="1">
                <a:solidFill>
                  <a:srgbClr val="236A54"/>
                </a:solidFill>
                <a:latin typeface="Aptos"/>
              </a:defRPr>
            </a:pPr>
            <a:r>
              <a:t>DIGITAL MEDICO  /  CURRENT FRONTEND ARCHITECTURE</a:t>
            </a:r>
          </a:p>
        </p:txBody>
      </p:sp>
      <p:sp>
        <p:nvSpPr>
          <p:cNvPr id="3" name="TextBox 2"/>
          <p:cNvSpPr txBox="1"/>
          <p:nvPr/>
        </p:nvSpPr>
        <p:spPr>
          <a:xfrm>
            <a:off x="594360" y="694944"/>
            <a:ext cx="10972800" cy="502920"/>
          </a:xfrm>
          <a:prstGeom prst="rect">
            <a:avLst/>
          </a:prstGeom>
          <a:noFill/>
        </p:spPr>
        <p:txBody>
          <a:bodyPr wrap="square" lIns="0" rIns="0" tIns="0" bIns="0">
            <a:spAutoFit/>
          </a:bodyPr>
          <a:lstStyle/>
          <a:p>
            <a:pPr>
              <a:lnSpc>
                <a:spcPct val="112000"/>
              </a:lnSpc>
              <a:spcAft>
                <a:spcPts val="300"/>
              </a:spcAft>
              <a:defRPr sz="3000" b="1">
                <a:solidFill>
                  <a:srgbClr val="193F35"/>
                </a:solidFill>
                <a:latin typeface="Aptos"/>
              </a:defRPr>
            </a:pPr>
            <a:r>
              <a:t>Two portals. One controlled care flow.</a:t>
            </a:r>
          </a:p>
        </p:txBody>
      </p:sp>
      <p:sp>
        <p:nvSpPr>
          <p:cNvPr id="4" name="TextBox 3"/>
          <p:cNvSpPr txBox="1"/>
          <p:nvPr/>
        </p:nvSpPr>
        <p:spPr>
          <a:xfrm>
            <a:off x="594360" y="1280160"/>
            <a:ext cx="10972800" cy="274320"/>
          </a:xfrm>
          <a:prstGeom prst="rect">
            <a:avLst/>
          </a:prstGeom>
          <a:noFill/>
        </p:spPr>
        <p:txBody>
          <a:bodyPr wrap="square" lIns="0" rIns="0" tIns="0" bIns="0">
            <a:spAutoFit/>
          </a:bodyPr>
          <a:lstStyle/>
          <a:p>
            <a:pPr>
              <a:lnSpc>
                <a:spcPct val="112000"/>
              </a:lnSpc>
              <a:spcAft>
                <a:spcPts val="300"/>
              </a:spcAft>
              <a:defRPr sz="1400" b="0">
                <a:solidFill>
                  <a:srgbClr val="687E72"/>
                </a:solidFill>
                <a:latin typeface="Aptos"/>
              </a:defRPr>
            </a:pPr>
            <a:r>
              <a:t>A working browser prototype of patient consent and doctor approval.</a:t>
            </a:r>
          </a:p>
        </p:txBody>
      </p:sp>
      <p:sp>
        <p:nvSpPr>
          <p:cNvPr id="5" name="Rounded Rectangle 4"/>
          <p:cNvSpPr/>
          <p:nvPr/>
        </p:nvSpPr>
        <p:spPr>
          <a:xfrm>
            <a:off x="502920" y="1810512"/>
            <a:ext cx="11173968" cy="2505456"/>
          </a:xfrm>
          <a:prstGeom prst="roundRect">
            <a:avLst>
              <a:gd name="adj" fmla="val 8000"/>
            </a:avLst>
          </a:prstGeom>
          <a:solidFill>
            <a:srgbClr val="EAF1E7"/>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920240"/>
            <a:ext cx="5486400" cy="201168"/>
          </a:xfrm>
          <a:prstGeom prst="rect">
            <a:avLst/>
          </a:prstGeom>
          <a:noFill/>
        </p:spPr>
        <p:txBody>
          <a:bodyPr wrap="square" lIns="0" rIns="0" tIns="0" bIns="0">
            <a:spAutoFit/>
          </a:bodyPr>
          <a:lstStyle/>
          <a:p>
            <a:pPr>
              <a:lnSpc>
                <a:spcPct val="112000"/>
              </a:lnSpc>
              <a:spcAft>
                <a:spcPts val="300"/>
              </a:spcAft>
              <a:defRPr sz="900" b="1">
                <a:solidFill>
                  <a:srgbClr val="236A54"/>
                </a:solidFill>
                <a:latin typeface="Aptos"/>
              </a:defRPr>
            </a:pPr>
            <a:r>
              <a:t>EVERYTHING BELOW RUNS IN THE USER’S BROWSER</a:t>
            </a:r>
          </a:p>
        </p:txBody>
      </p:sp>
      <p:sp>
        <p:nvSpPr>
          <p:cNvPr id="7" name="Rounded Rectangle 6"/>
          <p:cNvSpPr/>
          <p:nvPr/>
        </p:nvSpPr>
        <p:spPr>
          <a:xfrm>
            <a:off x="731520" y="2304288"/>
            <a:ext cx="2999232" cy="1783080"/>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50592"/>
            <a:ext cx="2633472" cy="274320"/>
          </a:xfrm>
          <a:prstGeom prst="rect">
            <a:avLst/>
          </a:prstGeom>
          <a:noFill/>
        </p:spPr>
        <p:txBody>
          <a:bodyPr wrap="square" lIns="0" rIns="0" tIns="0" bIns="0">
            <a:spAutoFit/>
          </a:bodyPr>
          <a:lstStyle/>
          <a:p>
            <a:pPr>
              <a:lnSpc>
                <a:spcPct val="112000"/>
              </a:lnSpc>
              <a:spcAft>
                <a:spcPts val="300"/>
              </a:spcAft>
              <a:defRPr sz="1900" b="1">
                <a:solidFill>
                  <a:srgbClr val="193F35"/>
                </a:solidFill>
                <a:latin typeface="Aptos"/>
              </a:defRPr>
            </a:pPr>
            <a:r>
              <a:t>React website</a:t>
            </a:r>
          </a:p>
        </p:txBody>
      </p:sp>
      <p:sp>
        <p:nvSpPr>
          <p:cNvPr id="9" name="Rounded Rectangle 8"/>
          <p:cNvSpPr/>
          <p:nvPr/>
        </p:nvSpPr>
        <p:spPr>
          <a:xfrm>
            <a:off x="914400" y="2880360"/>
            <a:ext cx="1234440" cy="384048"/>
          </a:xfrm>
          <a:prstGeom prst="roundRect">
            <a:avLst>
              <a:gd name="adj" fmla="val 8000"/>
            </a:avLst>
          </a:prstGeom>
          <a:solidFill>
            <a:srgbClr val="EAF1E7"/>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962656"/>
            <a:ext cx="1097280" cy="201168"/>
          </a:xfrm>
          <a:prstGeom prst="rect">
            <a:avLst/>
          </a:prstGeom>
          <a:noFill/>
        </p:spPr>
        <p:txBody>
          <a:bodyPr wrap="square" lIns="0" rIns="0" tIns="0" bIns="0">
            <a:spAutoFit/>
          </a:bodyPr>
          <a:lstStyle/>
          <a:p>
            <a:pPr>
              <a:lnSpc>
                <a:spcPct val="112000"/>
              </a:lnSpc>
              <a:spcAft>
                <a:spcPts val="300"/>
              </a:spcAft>
              <a:defRPr sz="1000" b="1">
                <a:solidFill>
                  <a:srgbClr val="236A54"/>
                </a:solidFill>
                <a:latin typeface="Aptos"/>
              </a:defRPr>
            </a:pPr>
            <a:r>
              <a:t>PATIENT</a:t>
            </a:r>
          </a:p>
        </p:txBody>
      </p:sp>
      <p:sp>
        <p:nvSpPr>
          <p:cNvPr id="11" name="Rounded Rectangle 10"/>
          <p:cNvSpPr/>
          <p:nvPr/>
        </p:nvSpPr>
        <p:spPr>
          <a:xfrm>
            <a:off x="2286000" y="2880360"/>
            <a:ext cx="1234440" cy="384048"/>
          </a:xfrm>
          <a:prstGeom prst="roundRect">
            <a:avLst>
              <a:gd name="adj" fmla="val 8000"/>
            </a:avLst>
          </a:prstGeom>
          <a:solidFill>
            <a:srgbClr val="EAF1E7"/>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23160" y="2962656"/>
            <a:ext cx="1005840" cy="201168"/>
          </a:xfrm>
          <a:prstGeom prst="rect">
            <a:avLst/>
          </a:prstGeom>
          <a:noFill/>
        </p:spPr>
        <p:txBody>
          <a:bodyPr wrap="square" lIns="0" rIns="0" tIns="0" bIns="0">
            <a:spAutoFit/>
          </a:bodyPr>
          <a:lstStyle/>
          <a:p>
            <a:pPr>
              <a:lnSpc>
                <a:spcPct val="112000"/>
              </a:lnSpc>
              <a:spcAft>
                <a:spcPts val="300"/>
              </a:spcAft>
              <a:defRPr sz="1000" b="1">
                <a:solidFill>
                  <a:srgbClr val="236A54"/>
                </a:solidFill>
                <a:latin typeface="Aptos"/>
              </a:defRPr>
            </a:pPr>
            <a:r>
              <a:t>DOCTOR</a:t>
            </a:r>
          </a:p>
        </p:txBody>
      </p:sp>
      <p:sp>
        <p:nvSpPr>
          <p:cNvPr id="13" name="TextBox 12"/>
          <p:cNvSpPr txBox="1"/>
          <p:nvPr/>
        </p:nvSpPr>
        <p:spPr>
          <a:xfrm>
            <a:off x="914400" y="3474720"/>
            <a:ext cx="2651760" cy="502920"/>
          </a:xfrm>
          <a:prstGeom prst="rect">
            <a:avLst/>
          </a:prstGeom>
          <a:noFill/>
        </p:spPr>
        <p:txBody>
          <a:bodyPr wrap="square" lIns="0" rIns="0" tIns="0" bIns="0">
            <a:spAutoFit/>
          </a:bodyPr>
          <a:lstStyle/>
          <a:p>
            <a:pPr>
              <a:lnSpc>
                <a:spcPct val="112000"/>
              </a:lnSpc>
              <a:spcAft>
                <a:spcPts val="300"/>
              </a:spcAft>
              <a:defRPr sz="1200" b="0">
                <a:solidFill>
                  <a:srgbClr val="687E72"/>
                </a:solidFill>
                <a:latin typeface="Aptos"/>
              </a:defRPr>
            </a:pPr>
            <a:r>
              <a:t>History • prescriptions • chat</a:t>
            </a:r>
          </a:p>
          <a:p>
            <a:pPr>
              <a:lnSpc>
                <a:spcPct val="112000"/>
              </a:lnSpc>
              <a:spcAft>
                <a:spcPts val="300"/>
              </a:spcAft>
              <a:defRPr sz="1200" b="0">
                <a:solidFill>
                  <a:srgbClr val="687E72"/>
                </a:solidFill>
                <a:latin typeface="Aptos"/>
              </a:defRPr>
            </a:pPr>
            <a:r>
              <a:t>React + JavaScript + CSS</a:t>
            </a:r>
          </a:p>
        </p:txBody>
      </p:sp>
      <p:sp>
        <p:nvSpPr>
          <p:cNvPr id="14" name="Rounded Rectangle 13"/>
          <p:cNvSpPr/>
          <p:nvPr/>
        </p:nvSpPr>
        <p:spPr>
          <a:xfrm>
            <a:off x="4334256" y="2304288"/>
            <a:ext cx="3063240" cy="1783080"/>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2450592"/>
            <a:ext cx="2697480" cy="274320"/>
          </a:xfrm>
          <a:prstGeom prst="rect">
            <a:avLst/>
          </a:prstGeom>
          <a:noFill/>
        </p:spPr>
        <p:txBody>
          <a:bodyPr wrap="square" lIns="0" rIns="0" tIns="0" bIns="0">
            <a:spAutoFit/>
          </a:bodyPr>
          <a:lstStyle/>
          <a:p>
            <a:pPr>
              <a:lnSpc>
                <a:spcPct val="112000"/>
              </a:lnSpc>
              <a:spcAft>
                <a:spcPts val="300"/>
              </a:spcAft>
              <a:defRPr sz="1800" b="1">
                <a:solidFill>
                  <a:srgbClr val="193F35"/>
                </a:solidFill>
                <a:latin typeface="Aptos"/>
              </a:defRPr>
            </a:pPr>
            <a:r>
              <a:t>Browser demo service</a:t>
            </a:r>
          </a:p>
        </p:txBody>
      </p:sp>
      <p:sp>
        <p:nvSpPr>
          <p:cNvPr id="16" name="TextBox 15"/>
          <p:cNvSpPr txBox="1"/>
          <p:nvPr/>
        </p:nvSpPr>
        <p:spPr>
          <a:xfrm>
            <a:off x="4526280" y="2953512"/>
            <a:ext cx="2697480" cy="1005840"/>
          </a:xfrm>
          <a:prstGeom prst="rect">
            <a:avLst/>
          </a:prstGeom>
          <a:noFill/>
        </p:spPr>
        <p:txBody>
          <a:bodyPr wrap="square" lIns="0" rIns="0" tIns="0" bIns="0">
            <a:spAutoFit/>
          </a:bodyPr>
          <a:lstStyle/>
          <a:p>
            <a:pPr>
              <a:lnSpc>
                <a:spcPct val="112000"/>
              </a:lnSpc>
              <a:spcAft>
                <a:spcPts val="300"/>
              </a:spcAft>
              <a:defRPr sz="1200" b="0">
                <a:solidFill>
                  <a:srgbClr val="687E72"/>
                </a:solidFill>
                <a:latin typeface="Aptos"/>
              </a:defRPr>
            </a:pPr>
            <a:r>
              <a:t>Demo login + role checks</a:t>
            </a:r>
          </a:p>
          <a:p>
            <a:pPr>
              <a:lnSpc>
                <a:spcPct val="112000"/>
              </a:lnSpc>
              <a:spcAft>
                <a:spcPts val="300"/>
              </a:spcAft>
              <a:defRPr sz="1200" b="0">
                <a:solidFill>
                  <a:srgbClr val="687E72"/>
                </a:solidFill>
                <a:latin typeface="Aptos"/>
              </a:defRPr>
            </a:pPr>
            <a:r>
              <a:t>Consent + approval simulation</a:t>
            </a:r>
          </a:p>
          <a:p>
            <a:pPr>
              <a:lnSpc>
                <a:spcPct val="112000"/>
              </a:lnSpc>
              <a:spcAft>
                <a:spcPts val="300"/>
              </a:spcAft>
              <a:defRPr sz="1200" b="0">
                <a:solidFill>
                  <a:srgbClr val="687E72"/>
                </a:solidFill>
                <a:latin typeface="Aptos"/>
              </a:defRPr>
            </a:pPr>
            <a:r>
              <a:t>Records, replies + dose updates</a:t>
            </a:r>
          </a:p>
        </p:txBody>
      </p:sp>
      <p:sp>
        <p:nvSpPr>
          <p:cNvPr id="17" name="Rounded Rectangle 16"/>
          <p:cNvSpPr/>
          <p:nvPr/>
        </p:nvSpPr>
        <p:spPr>
          <a:xfrm>
            <a:off x="8028431" y="2304288"/>
            <a:ext cx="3419856" cy="1783080"/>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1312" y="2450592"/>
            <a:ext cx="3017520" cy="274320"/>
          </a:xfrm>
          <a:prstGeom prst="rect">
            <a:avLst/>
          </a:prstGeom>
          <a:noFill/>
        </p:spPr>
        <p:txBody>
          <a:bodyPr wrap="square" lIns="0" rIns="0" tIns="0" bIns="0">
            <a:spAutoFit/>
          </a:bodyPr>
          <a:lstStyle/>
          <a:p>
            <a:pPr>
              <a:lnSpc>
                <a:spcPct val="112000"/>
              </a:lnSpc>
              <a:spcAft>
                <a:spcPts val="300"/>
              </a:spcAft>
              <a:defRPr sz="1900" b="1">
                <a:solidFill>
                  <a:srgbClr val="193F35"/>
                </a:solidFill>
                <a:latin typeface="Aptos"/>
              </a:defRPr>
            </a:pPr>
            <a:r>
              <a:t>Browser storage</a:t>
            </a:r>
          </a:p>
        </p:txBody>
      </p:sp>
      <p:sp>
        <p:nvSpPr>
          <p:cNvPr id="19" name="TextBox 18"/>
          <p:cNvSpPr txBox="1"/>
          <p:nvPr/>
        </p:nvSpPr>
        <p:spPr>
          <a:xfrm>
            <a:off x="8211312" y="2944368"/>
            <a:ext cx="3017520" cy="210312"/>
          </a:xfrm>
          <a:prstGeom prst="rect">
            <a:avLst/>
          </a:prstGeom>
          <a:noFill/>
        </p:spPr>
        <p:txBody>
          <a:bodyPr wrap="square" lIns="0" rIns="0" tIns="0" bIns="0">
            <a:spAutoFit/>
          </a:bodyPr>
          <a:lstStyle/>
          <a:p>
            <a:pPr>
              <a:lnSpc>
                <a:spcPct val="112000"/>
              </a:lnSpc>
              <a:spcAft>
                <a:spcPts val="300"/>
              </a:spcAft>
              <a:defRPr sz="1300" b="1">
                <a:solidFill>
                  <a:srgbClr val="236A54"/>
                </a:solidFill>
                <a:latin typeface="Aptos"/>
              </a:defRPr>
            </a:pPr>
            <a:r>
              <a:t>localStorage</a:t>
            </a:r>
          </a:p>
        </p:txBody>
      </p:sp>
      <p:sp>
        <p:nvSpPr>
          <p:cNvPr id="20" name="TextBox 19"/>
          <p:cNvSpPr txBox="1"/>
          <p:nvPr/>
        </p:nvSpPr>
        <p:spPr>
          <a:xfrm>
            <a:off x="8211312" y="3218688"/>
            <a:ext cx="3017520" cy="201168"/>
          </a:xfrm>
          <a:prstGeom prst="rect">
            <a:avLst/>
          </a:prstGeom>
          <a:noFill/>
        </p:spPr>
        <p:txBody>
          <a:bodyPr wrap="square" lIns="0" rIns="0" tIns="0" bIns="0">
            <a:spAutoFit/>
          </a:bodyPr>
          <a:lstStyle/>
          <a:p>
            <a:pPr>
              <a:lnSpc>
                <a:spcPct val="112000"/>
              </a:lnSpc>
              <a:spcAft>
                <a:spcPts val="300"/>
              </a:spcAft>
              <a:defRPr sz="1100" b="0">
                <a:solidFill>
                  <a:srgbClr val="687E72"/>
                </a:solidFill>
                <a:latin typeface="Aptos"/>
              </a:defRPr>
            </a:pPr>
            <a:r>
              <a:t>Accounts, records, messages, consent</a:t>
            </a:r>
          </a:p>
        </p:txBody>
      </p:sp>
      <p:sp>
        <p:nvSpPr>
          <p:cNvPr id="21" name="TextBox 20"/>
          <p:cNvSpPr txBox="1"/>
          <p:nvPr/>
        </p:nvSpPr>
        <p:spPr>
          <a:xfrm>
            <a:off x="8211312" y="3520440"/>
            <a:ext cx="3017520" cy="210312"/>
          </a:xfrm>
          <a:prstGeom prst="rect">
            <a:avLst/>
          </a:prstGeom>
          <a:noFill/>
        </p:spPr>
        <p:txBody>
          <a:bodyPr wrap="square" lIns="0" rIns="0" tIns="0" bIns="0">
            <a:spAutoFit/>
          </a:bodyPr>
          <a:lstStyle/>
          <a:p>
            <a:pPr>
              <a:lnSpc>
                <a:spcPct val="112000"/>
              </a:lnSpc>
              <a:spcAft>
                <a:spcPts val="300"/>
              </a:spcAft>
              <a:defRPr sz="1300" b="1">
                <a:solidFill>
                  <a:srgbClr val="236A54"/>
                </a:solidFill>
                <a:latin typeface="Aptos"/>
              </a:defRPr>
            </a:pPr>
            <a:r>
              <a:t>sessionStorage</a:t>
            </a:r>
          </a:p>
        </p:txBody>
      </p:sp>
      <p:sp>
        <p:nvSpPr>
          <p:cNvPr id="22" name="TextBox 21"/>
          <p:cNvSpPr txBox="1"/>
          <p:nvPr/>
        </p:nvSpPr>
        <p:spPr>
          <a:xfrm>
            <a:off x="8211312" y="3794760"/>
            <a:ext cx="3017520" cy="201168"/>
          </a:xfrm>
          <a:prstGeom prst="rect">
            <a:avLst/>
          </a:prstGeom>
          <a:noFill/>
        </p:spPr>
        <p:txBody>
          <a:bodyPr wrap="square" lIns="0" rIns="0" tIns="0" bIns="0">
            <a:spAutoFit/>
          </a:bodyPr>
          <a:lstStyle/>
          <a:p>
            <a:pPr>
              <a:lnSpc>
                <a:spcPct val="112000"/>
              </a:lnSpc>
              <a:spcAft>
                <a:spcPts val="300"/>
              </a:spcAft>
              <a:defRPr sz="1100" b="0">
                <a:solidFill>
                  <a:srgbClr val="687E72"/>
                </a:solidFill>
                <a:latin typeface="Aptos"/>
              </a:defRPr>
            </a:pPr>
            <a:r>
              <a:t>Current login + simulated approval</a:t>
            </a:r>
          </a:p>
        </p:txBody>
      </p:sp>
      <p:cxnSp>
        <p:nvCxnSpPr>
          <p:cNvPr id="23" name="Connector 22"/>
          <p:cNvCxnSpPr/>
          <p:nvPr/>
        </p:nvCxnSpPr>
        <p:spPr>
          <a:xfrm>
            <a:off x="3767328" y="2971800"/>
            <a:ext cx="512064"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3767328" y="3364992"/>
            <a:ext cx="512064"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434072" y="2971800"/>
            <a:ext cx="539496"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434072" y="3364992"/>
            <a:ext cx="539496"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94360" y="4562856"/>
            <a:ext cx="10972800" cy="228600"/>
          </a:xfrm>
          <a:prstGeom prst="rect">
            <a:avLst/>
          </a:prstGeom>
          <a:noFill/>
        </p:spPr>
        <p:txBody>
          <a:bodyPr wrap="square" lIns="0" rIns="0" tIns="0" bIns="0">
            <a:spAutoFit/>
          </a:bodyPr>
          <a:lstStyle/>
          <a:p>
            <a:pPr>
              <a:lnSpc>
                <a:spcPct val="112000"/>
              </a:lnSpc>
              <a:spcAft>
                <a:spcPts val="300"/>
              </a:spcAft>
              <a:defRPr sz="1000" b="1">
                <a:solidFill>
                  <a:srgbClr val="236A54"/>
                </a:solidFill>
                <a:latin typeface="Aptos"/>
              </a:defRPr>
            </a:pPr>
            <a:r>
              <a:t>DOCTOR RECORD ACCESS  /  DEMONSTRATED FLOW</a:t>
            </a:r>
          </a:p>
        </p:txBody>
      </p:sp>
      <p:sp>
        <p:nvSpPr>
          <p:cNvPr id="28" name="Rounded Rectangle 27"/>
          <p:cNvSpPr/>
          <p:nvPr/>
        </p:nvSpPr>
        <p:spPr>
          <a:xfrm>
            <a:off x="594360" y="4965192"/>
            <a:ext cx="1856231" cy="749808"/>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2" y="5148072"/>
            <a:ext cx="1554480" cy="365760"/>
          </a:xfrm>
          <a:prstGeom prst="rect">
            <a:avLst/>
          </a:prstGeom>
          <a:noFill/>
        </p:spPr>
        <p:txBody>
          <a:bodyPr wrap="square" lIns="0" rIns="0" tIns="0" bIns="0">
            <a:spAutoFit/>
          </a:bodyPr>
          <a:lstStyle/>
          <a:p>
            <a:pPr>
              <a:lnSpc>
                <a:spcPct val="112000"/>
              </a:lnSpc>
              <a:spcAft>
                <a:spcPts val="300"/>
              </a:spcAft>
              <a:defRPr sz="1200" b="1">
                <a:solidFill>
                  <a:srgbClr val="193F35"/>
                </a:solidFill>
                <a:latin typeface="Aptos"/>
              </a:defRPr>
            </a:pPr>
            <a:r>
              <a:t>Doctor demo login</a:t>
            </a:r>
          </a:p>
          <a:p>
            <a:pPr>
              <a:lnSpc>
                <a:spcPct val="112000"/>
              </a:lnSpc>
              <a:spcAft>
                <a:spcPts val="300"/>
              </a:spcAft>
              <a:defRPr sz="1200" b="1">
                <a:solidFill>
                  <a:srgbClr val="193F35"/>
                </a:solidFill>
                <a:latin typeface="Aptos"/>
              </a:defRPr>
            </a:pPr>
            <a:r>
              <a:t>Role = doctor</a:t>
            </a:r>
          </a:p>
        </p:txBody>
      </p:sp>
      <p:sp>
        <p:nvSpPr>
          <p:cNvPr id="30" name="Diamond 29"/>
          <p:cNvSpPr/>
          <p:nvPr/>
        </p:nvSpPr>
        <p:spPr>
          <a:xfrm>
            <a:off x="3035808" y="4837176"/>
            <a:ext cx="1600200" cy="1005840"/>
          </a:xfrm>
          <a:prstGeom prst="diamond">
            <a:avLst/>
          </a:prstGeom>
          <a:solidFill>
            <a:srgbClr val="EAF1E7"/>
          </a:solidFill>
          <a:ln w="12700">
            <a:solidFill>
              <a:srgbClr val="236A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92424" y="5102352"/>
            <a:ext cx="914400" cy="502920"/>
          </a:xfrm>
          <a:prstGeom prst="rect">
            <a:avLst/>
          </a:prstGeom>
          <a:noFill/>
        </p:spPr>
        <p:txBody>
          <a:bodyPr wrap="square" lIns="0" rIns="0" tIns="0" bIns="0">
            <a:spAutoFit/>
          </a:bodyPr>
          <a:lstStyle/>
          <a:p>
            <a:pPr>
              <a:lnSpc>
                <a:spcPct val="112000"/>
              </a:lnSpc>
              <a:spcAft>
                <a:spcPts val="300"/>
              </a:spcAft>
              <a:defRPr sz="1100" b="1">
                <a:solidFill>
                  <a:srgbClr val="193F35"/>
                </a:solidFill>
                <a:latin typeface="Aptos"/>
              </a:defRPr>
            </a:pPr>
            <a:r>
              <a:t>Patient</a:t>
            </a:r>
          </a:p>
          <a:p>
            <a:pPr>
              <a:lnSpc>
                <a:spcPct val="112000"/>
              </a:lnSpc>
              <a:spcAft>
                <a:spcPts val="300"/>
              </a:spcAft>
              <a:defRPr sz="1100" b="1">
                <a:solidFill>
                  <a:srgbClr val="193F35"/>
                </a:solidFill>
                <a:latin typeface="Aptos"/>
              </a:defRPr>
            </a:pPr>
            <a:r>
              <a:t>consent?</a:t>
            </a:r>
          </a:p>
        </p:txBody>
      </p:sp>
      <p:sp>
        <p:nvSpPr>
          <p:cNvPr id="32" name="Rounded Rectangle 31"/>
          <p:cNvSpPr/>
          <p:nvPr/>
        </p:nvSpPr>
        <p:spPr>
          <a:xfrm>
            <a:off x="5330952" y="4965192"/>
            <a:ext cx="2679192" cy="749808"/>
          </a:xfrm>
          <a:prstGeom prst="roundRect">
            <a:avLst>
              <a:gd name="adj" fmla="val 8000"/>
            </a:avLst>
          </a:prstGeom>
          <a:solidFill>
            <a:srgbClr val="F5E8CC"/>
          </a:solidFill>
          <a:ln w="12700">
            <a:solidFill>
              <a:srgbClr val="E2D3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50408" y="5148072"/>
            <a:ext cx="2286000" cy="411480"/>
          </a:xfrm>
          <a:prstGeom prst="rect">
            <a:avLst/>
          </a:prstGeom>
          <a:noFill/>
        </p:spPr>
        <p:txBody>
          <a:bodyPr wrap="square" lIns="0" rIns="0" tIns="0" bIns="0">
            <a:spAutoFit/>
          </a:bodyPr>
          <a:lstStyle/>
          <a:p>
            <a:pPr>
              <a:lnSpc>
                <a:spcPct val="112000"/>
              </a:lnSpc>
              <a:spcAft>
                <a:spcPts val="300"/>
              </a:spcAft>
              <a:defRPr sz="1100" b="1">
                <a:solidFill>
                  <a:srgbClr val="193F35"/>
                </a:solidFill>
                <a:latin typeface="Aptos"/>
              </a:defRPr>
            </a:pPr>
            <a:r>
              <a:t>Simulate biometric approval</a:t>
            </a:r>
          </a:p>
          <a:p>
            <a:pPr>
              <a:lnSpc>
                <a:spcPct val="112000"/>
              </a:lnSpc>
              <a:spcAft>
                <a:spcPts val="300"/>
              </a:spcAft>
              <a:defRPr sz="1100" b="1">
                <a:solidFill>
                  <a:srgbClr val="193F35"/>
                </a:solidFill>
                <a:latin typeface="Aptos"/>
              </a:defRPr>
            </a:pPr>
            <a:r>
              <a:t>Button only • no fingerprint scan</a:t>
            </a:r>
          </a:p>
        </p:txBody>
      </p:sp>
      <p:sp>
        <p:nvSpPr>
          <p:cNvPr id="34" name="Rounded Rectangle 33"/>
          <p:cNvSpPr/>
          <p:nvPr/>
        </p:nvSpPr>
        <p:spPr>
          <a:xfrm>
            <a:off x="8668512" y="4965192"/>
            <a:ext cx="2916936" cy="749808"/>
          </a:xfrm>
          <a:prstGeom prst="roundRect">
            <a:avLst>
              <a:gd name="adj" fmla="val 8000"/>
            </a:avLst>
          </a:prstGeom>
          <a:solidFill>
            <a:srgbClr val="FFFFFF"/>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06256" y="5148072"/>
            <a:ext cx="2514600" cy="411480"/>
          </a:xfrm>
          <a:prstGeom prst="rect">
            <a:avLst/>
          </a:prstGeom>
          <a:noFill/>
        </p:spPr>
        <p:txBody>
          <a:bodyPr wrap="square" lIns="0" rIns="0" tIns="0" bIns="0">
            <a:spAutoFit/>
          </a:bodyPr>
          <a:lstStyle/>
          <a:p>
            <a:pPr>
              <a:lnSpc>
                <a:spcPct val="112000"/>
              </a:lnSpc>
              <a:spcAft>
                <a:spcPts val="300"/>
              </a:spcAft>
              <a:defRPr sz="1100" b="1">
                <a:solidFill>
                  <a:srgbClr val="193F35"/>
                </a:solidFill>
                <a:latin typeface="Aptos"/>
              </a:defRPr>
            </a:pPr>
            <a:r>
              <a:t>View / update patient records</a:t>
            </a:r>
          </a:p>
          <a:p>
            <a:pPr>
              <a:lnSpc>
                <a:spcPct val="112000"/>
              </a:lnSpc>
              <a:spcAft>
                <a:spcPts val="300"/>
              </a:spcAft>
              <a:defRPr sz="1100" b="1">
                <a:solidFill>
                  <a:srgbClr val="193F35"/>
                </a:solidFill>
                <a:latin typeface="Aptos"/>
              </a:defRPr>
            </a:pPr>
            <a:r>
              <a:t>History • prescriptions • replies</a:t>
            </a:r>
          </a:p>
        </p:txBody>
      </p:sp>
      <p:cxnSp>
        <p:nvCxnSpPr>
          <p:cNvPr id="36" name="Connector 35"/>
          <p:cNvCxnSpPr/>
          <p:nvPr/>
        </p:nvCxnSpPr>
        <p:spPr>
          <a:xfrm>
            <a:off x="2496312" y="5340096"/>
            <a:ext cx="475488"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00016" y="5340096"/>
            <a:ext cx="566928"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4800600" y="5020056"/>
            <a:ext cx="411480" cy="182880"/>
          </a:xfrm>
          <a:prstGeom prst="rect">
            <a:avLst/>
          </a:prstGeom>
          <a:noFill/>
        </p:spPr>
        <p:txBody>
          <a:bodyPr wrap="square" lIns="0" rIns="0" tIns="0" bIns="0">
            <a:spAutoFit/>
          </a:bodyPr>
          <a:lstStyle/>
          <a:p>
            <a:pPr>
              <a:lnSpc>
                <a:spcPct val="112000"/>
              </a:lnSpc>
              <a:spcAft>
                <a:spcPts val="300"/>
              </a:spcAft>
              <a:defRPr sz="900" b="1">
                <a:solidFill>
                  <a:srgbClr val="236A54"/>
                </a:solidFill>
                <a:latin typeface="Aptos"/>
              </a:defRPr>
            </a:pPr>
            <a:r>
              <a:t>YES</a:t>
            </a:r>
          </a:p>
        </p:txBody>
      </p:sp>
      <p:cxnSp>
        <p:nvCxnSpPr>
          <p:cNvPr id="39" name="Connector 38"/>
          <p:cNvCxnSpPr/>
          <p:nvPr/>
        </p:nvCxnSpPr>
        <p:spPr>
          <a:xfrm>
            <a:off x="8074152" y="5340096"/>
            <a:ext cx="530352" cy="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835908" y="5870448"/>
            <a:ext cx="0" cy="274320"/>
          </a:xfrm>
          <a:prstGeom prst="line">
            <a:avLst/>
          </a:prstGeom>
          <a:ln w="21590">
            <a:solidFill>
              <a:srgbClr val="236A5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3977639" y="5925312"/>
            <a:ext cx="457200" cy="182880"/>
          </a:xfrm>
          <a:prstGeom prst="rect">
            <a:avLst/>
          </a:prstGeom>
          <a:noFill/>
        </p:spPr>
        <p:txBody>
          <a:bodyPr wrap="square" lIns="0" rIns="0" tIns="0" bIns="0">
            <a:spAutoFit/>
          </a:bodyPr>
          <a:lstStyle/>
          <a:p>
            <a:pPr>
              <a:lnSpc>
                <a:spcPct val="112000"/>
              </a:lnSpc>
              <a:spcAft>
                <a:spcPts val="300"/>
              </a:spcAft>
              <a:defRPr sz="900" b="1">
                <a:solidFill>
                  <a:srgbClr val="236A54"/>
                </a:solidFill>
                <a:latin typeface="Aptos"/>
              </a:defRPr>
            </a:pPr>
            <a:r>
              <a:t>NO</a:t>
            </a:r>
          </a:p>
        </p:txBody>
      </p:sp>
      <p:sp>
        <p:nvSpPr>
          <p:cNvPr id="42" name="Rounded Rectangle 41"/>
          <p:cNvSpPr/>
          <p:nvPr/>
        </p:nvSpPr>
        <p:spPr>
          <a:xfrm>
            <a:off x="3035808" y="6190488"/>
            <a:ext cx="1600200" cy="265176"/>
          </a:xfrm>
          <a:prstGeom prst="roundRect">
            <a:avLst>
              <a:gd name="adj" fmla="val 8000"/>
            </a:avLst>
          </a:prstGeom>
          <a:solidFill>
            <a:srgbClr val="F5E5DF"/>
          </a:solidFill>
          <a:ln w="12700">
            <a:solidFill>
              <a:srgbClr val="E2C8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00984" y="6236208"/>
            <a:ext cx="1280160" cy="182880"/>
          </a:xfrm>
          <a:prstGeom prst="rect">
            <a:avLst/>
          </a:prstGeom>
          <a:noFill/>
        </p:spPr>
        <p:txBody>
          <a:bodyPr wrap="square" lIns="0" rIns="0" tIns="0" bIns="0">
            <a:spAutoFit/>
          </a:bodyPr>
          <a:lstStyle/>
          <a:p>
            <a:pPr>
              <a:lnSpc>
                <a:spcPct val="112000"/>
              </a:lnSpc>
              <a:spcAft>
                <a:spcPts val="300"/>
              </a:spcAft>
              <a:defRPr sz="1000" b="1">
                <a:solidFill>
                  <a:srgbClr val="8B5545"/>
                </a:solidFill>
                <a:latin typeface="Aptos"/>
              </a:defRPr>
            </a:pPr>
            <a:r>
              <a:t>Access blocked</a:t>
            </a:r>
          </a:p>
        </p:txBody>
      </p:sp>
      <p:sp>
        <p:nvSpPr>
          <p:cNvPr id="44" name="TextBox 43"/>
          <p:cNvSpPr txBox="1"/>
          <p:nvPr/>
        </p:nvSpPr>
        <p:spPr>
          <a:xfrm>
            <a:off x="594360" y="5961888"/>
            <a:ext cx="2194560" cy="411480"/>
          </a:xfrm>
          <a:prstGeom prst="rect">
            <a:avLst/>
          </a:prstGeom>
          <a:noFill/>
        </p:spPr>
        <p:txBody>
          <a:bodyPr wrap="square" lIns="0" rIns="0" tIns="0" bIns="0">
            <a:spAutoFit/>
          </a:bodyPr>
          <a:lstStyle/>
          <a:p>
            <a:pPr>
              <a:lnSpc>
                <a:spcPct val="112000"/>
              </a:lnSpc>
              <a:spcAft>
                <a:spcPts val="300"/>
              </a:spcAft>
              <a:defRPr sz="1000" b="0">
                <a:solidFill>
                  <a:srgbClr val="687E72"/>
                </a:solidFill>
                <a:latin typeface="Aptos"/>
              </a:defRPr>
            </a:pPr>
            <a:r>
              <a:t>Vite serves &amp; builds the UI.</a:t>
            </a:r>
          </a:p>
          <a:p>
            <a:pPr>
              <a:lnSpc>
                <a:spcPct val="112000"/>
              </a:lnSpc>
              <a:spcAft>
                <a:spcPts val="300"/>
              </a:spcAft>
              <a:defRPr sz="1000" b="0">
                <a:solidFill>
                  <a:srgbClr val="687E72"/>
                </a:solidFill>
                <a:latin typeface="Aptos"/>
              </a:defRPr>
            </a:pPr>
            <a:r>
              <a:t>No backend / API in this version.</a:t>
            </a:r>
          </a:p>
        </p:txBody>
      </p:sp>
      <p:sp>
        <p:nvSpPr>
          <p:cNvPr id="45" name="TextBox 44"/>
          <p:cNvSpPr txBox="1"/>
          <p:nvPr/>
        </p:nvSpPr>
        <p:spPr>
          <a:xfrm>
            <a:off x="5486400" y="5952744"/>
            <a:ext cx="6080760" cy="411480"/>
          </a:xfrm>
          <a:prstGeom prst="rect">
            <a:avLst/>
          </a:prstGeom>
          <a:noFill/>
        </p:spPr>
        <p:txBody>
          <a:bodyPr wrap="square" lIns="0" rIns="0" tIns="0" bIns="0">
            <a:spAutoFit/>
          </a:bodyPr>
          <a:lstStyle/>
          <a:p>
            <a:pPr>
              <a:lnSpc>
                <a:spcPct val="112000"/>
              </a:lnSpc>
              <a:spcAft>
                <a:spcPts val="300"/>
              </a:spcAft>
              <a:defRPr sz="1000" b="0">
                <a:solidFill>
                  <a:srgbClr val="687E72"/>
                </a:solidFill>
                <a:latin typeface="Aptos"/>
              </a:defRPr>
            </a:pPr>
            <a:r>
              <a:t>Browser checks can be bypassed. Fictional data only.</a:t>
            </a:r>
          </a:p>
          <a:p>
            <a:pPr>
              <a:lnSpc>
                <a:spcPct val="112000"/>
              </a:lnSpc>
              <a:spcAft>
                <a:spcPts val="300"/>
              </a:spcAft>
              <a:defRPr sz="1000" b="0">
                <a:solidFill>
                  <a:srgbClr val="687E72"/>
                </a:solidFill>
                <a:latin typeface="Aptos"/>
              </a:defRPr>
            </a:pPr>
            <a:r>
              <a:t>Real authentication and WebAuthn are future work.</a:t>
            </a:r>
          </a:p>
        </p:txBody>
      </p:sp>
      <p:sp>
        <p:nvSpPr>
          <p:cNvPr id="46" name="Rectangle 45"/>
          <p:cNvSpPr/>
          <p:nvPr/>
        </p:nvSpPr>
        <p:spPr>
          <a:xfrm>
            <a:off x="594360" y="6537960"/>
            <a:ext cx="10972800" cy="11887"/>
          </a:xfrm>
          <a:prstGeom prst="rect">
            <a:avLst/>
          </a:prstGeom>
          <a:solidFill>
            <a:srgbClr val="DCE5DA"/>
          </a:solidFill>
          <a:ln w="12700">
            <a:solidFill>
              <a:srgbClr val="DCE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6647688"/>
            <a:ext cx="8229600" cy="146304"/>
          </a:xfrm>
          <a:prstGeom prst="rect">
            <a:avLst/>
          </a:prstGeom>
          <a:noFill/>
        </p:spPr>
        <p:txBody>
          <a:bodyPr wrap="square" lIns="0" rIns="0" tIns="0" bIns="0">
            <a:spAutoFit/>
          </a:bodyPr>
          <a:lstStyle/>
          <a:p>
            <a:pPr>
              <a:lnSpc>
                <a:spcPct val="112000"/>
              </a:lnSpc>
              <a:spcAft>
                <a:spcPts val="300"/>
              </a:spcAft>
              <a:defRPr sz="800" b="1">
                <a:solidFill>
                  <a:srgbClr val="687E72"/>
                </a:solidFill>
                <a:latin typeface="Aptos"/>
              </a:defRPr>
            </a:pPr>
            <a:r>
              <a:t>DIGITAL MEDICO   •   CARE, CONNECTED.</a:t>
            </a:r>
          </a:p>
        </p:txBody>
      </p:sp>
      <p:sp>
        <p:nvSpPr>
          <p:cNvPr id="48" name="TextBox 47"/>
          <p:cNvSpPr txBox="1"/>
          <p:nvPr/>
        </p:nvSpPr>
        <p:spPr>
          <a:xfrm>
            <a:off x="10195560" y="6647688"/>
            <a:ext cx="1463040" cy="146304"/>
          </a:xfrm>
          <a:prstGeom prst="rect">
            <a:avLst/>
          </a:prstGeom>
          <a:noFill/>
        </p:spPr>
        <p:txBody>
          <a:bodyPr wrap="square" lIns="0" rIns="0" tIns="0" bIns="0">
            <a:spAutoFit/>
          </a:bodyPr>
          <a:lstStyle/>
          <a:p>
            <a:pPr>
              <a:lnSpc>
                <a:spcPct val="112000"/>
              </a:lnSpc>
              <a:spcAft>
                <a:spcPts val="300"/>
              </a:spcAft>
              <a:defRPr sz="700" b="1">
                <a:solidFill>
                  <a:srgbClr val="687E72"/>
                </a:solidFill>
                <a:latin typeface="Aptos"/>
              </a:defRPr>
            </a:pPr>
            <a:r>
              <a:t>ONE-SLIDE ARCHITECTURE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